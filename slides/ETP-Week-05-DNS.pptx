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76" r:id="rId2"/>
    <p:sldId id="277" r:id="rId3"/>
    <p:sldId id="278" r:id="rId4"/>
    <p:sldId id="279" r:id="rId5"/>
    <p:sldId id="280" r:id="rId6"/>
    <p:sldId id="281" r:id="rId7"/>
    <p:sldId id="282" r:id="rId8"/>
    <p:sldId id="283" r:id="rId9"/>
    <p:sldId id="284" r:id="rId10"/>
    <p:sldId id="285" r:id="rId11"/>
    <p:sldId id="286" r:id="rId12"/>
    <p:sldId id="287" r:id="rId13"/>
    <p:sldId id="288" r:id="rId14"/>
    <p:sldId id="289" r:id="rId15"/>
    <p:sldId id="290" r:id="rId16"/>
    <p:sldId id="291" r:id="rId17"/>
    <p:sldId id="292" r:id="rId18"/>
    <p:sldId id="293" r:id="rId19"/>
    <p:sldId id="294" r:id="rId20"/>
    <p:sldId id="295" r:id="rId21"/>
    <p:sldId id="296" r:id="rId22"/>
    <p:sldId id="297" r:id="rId23"/>
    <p:sldId id="298" r:id="rId24"/>
    <p:sldId id="299" r:id="rId25"/>
    <p:sldId id="300" r:id="rId26"/>
    <p:sldId id="301" r:id="rId27"/>
    <p:sldId id="305" r:id="rId28"/>
    <p:sldId id="303" r:id="rId29"/>
    <p:sldId id="304" r:id="rId30"/>
    <p:sldId id="306" r:id="rId31"/>
    <p:sldId id="307" r:id="rId32"/>
    <p:sldId id="308" r:id="rId33"/>
    <p:sldId id="309" r:id="rId34"/>
    <p:sldId id="310" r:id="rId35"/>
    <p:sldId id="311" r:id="rId36"/>
    <p:sldId id="312" r:id="rId37"/>
    <p:sldId id="313" r:id="rId38"/>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34"/>
    <p:restoredTop sz="94610"/>
  </p:normalViewPr>
  <p:slideViewPr>
    <p:cSldViewPr snapToGrid="0" snapToObjects="1">
      <p:cViewPr varScale="1">
        <p:scale>
          <a:sx n="98" d="100"/>
          <a:sy n="98" d="100"/>
        </p:scale>
        <p:origin x="648"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835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Welcome to Week 5, building block 5 of 10: DNS. Two threads this week. First, the DNS ecosystem at scale — who actually answers for the world's domains, how resilient that is, and whether it is secured. Second, and new this year, how the DNS breaks: the failure modes from a simple typo up to a nation-state delegation hijack. The plenary today covers the concepts and the failure landscape; Thursday's infrastructure hour is the dataset and the tooling — </a:t>
            </a:r>
            <a:r>
              <a:rPr dirty="0" err="1"/>
              <a:t>OpenINTEL</a:t>
            </a:r>
            <a:r>
              <a:rPr dirty="0"/>
              <a:t> and </a:t>
            </a:r>
            <a:r>
              <a:rPr dirty="0" err="1"/>
              <a:t>PySpark</a:t>
            </a:r>
            <a:r>
              <a:rPr dirty="0"/>
              <a:t> on NRP. No recordings, so both decks stand on their own.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You are here: block 5. Blocks 1–4 gave you Internet structure and ASNs, BGP, the registries, and traceroute plus the ITDK router graph. This week adds the naming layer. It feeds directly into block 9, degradation forensics — a hijacked or dependent namespace is one way a country's connectivity degrades.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Quick orientation, not a re-teach. Last week was topology: the physical-</a:t>
            </a:r>
            <a:r>
              <a:rPr dirty="0" err="1"/>
              <a:t>ish</a:t>
            </a:r>
            <a:r>
              <a:rPr dirty="0"/>
              <a:t> graph of routers and links. This week is a different layer entirely — the naming system that sits on top. Same measurement mindset, new object of study.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Part one: the ecosystem. Before we can talk about failure we need to know who is actually in the picture — and it turns out a handful of providers answer for a large share of the Internet.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Set the hook. When you register </a:t>
            </a:r>
            <a:r>
              <a:rPr dirty="0" err="1"/>
              <a:t>example.com</a:t>
            </a:r>
            <a:r>
              <a:rPr dirty="0"/>
              <a:t> you delegate the answering to a set of nameservers — usually your provider's. That is a dependency, and dependencies fail. Hold Dyn in mind; we come back to it in a few slides.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Fast recap — the cohort is split on DNS, so one slide of mechanics and move on. The one thing to anchor: the TLD zone file. It is the registry's authoritative list of delegations, and it is exactly what </a:t>
            </a:r>
            <a:r>
              <a:rPr dirty="0" err="1"/>
              <a:t>OpenINTEL</a:t>
            </a:r>
            <a:r>
              <a:rPr dirty="0"/>
              <a:t> uses as its seed list and what CZDS distributes. That is the bridge from concept to data.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subtle-but-crucial measurement step. Naive string manipulation gets provider counts wrong. </a:t>
            </a:r>
            <a:r>
              <a:rPr dirty="0" err="1"/>
              <a:t>tldextract</a:t>
            </a:r>
            <a:r>
              <a:rPr dirty="0"/>
              <a:t> knows the public suffix list, so it stops at the registrable boundary. The </a:t>
            </a:r>
            <a:r>
              <a:rPr dirty="0" err="1"/>
              <a:t>awsdns</a:t>
            </a:r>
            <a:r>
              <a:rPr dirty="0"/>
              <a:t> example is the classic gotcha: awsdns-01.org, awsdns-02.co.uk and so on are deliberately spread across TLDs but all belong to AWS — count them as one provider or your concentration numbers are garbage.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cohort asked for stats refreshers, so define HHI from scratch. It comes from antitrust economics but here it is a resilience metric: a highly concentrated namespace means a single provider outage has enormous blast radius. Do not put a fabricated market number on the slide — the figure is a band scale, not real data. The real numbers come out of their own analysis Thursday.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canonical single-provider-dependency outage. The teaching point is the last beat: many affected domains had four, six, eight NS records and still went fully dark, because every one of those nameservers was Dyn. Redundancy that shares a fate is not redundancy. kc is supplying a real outage figure — placeholder holds until then. Do not fabricate a plot.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Make the two axes explicit because they are easy to conflate. The 2x2 makes the point: the dangerous quadrant is many servers, one provider — it looks redundant and isn't. Task 2 of the assignment measures both axes.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SOA timing is where a resilience problem becomes a duration problem. expire is the one to watch: it is how long a secondary keeps serving after it loses contact with the primary. Set it short and a long primary outage means the secondaries stop answering too. minimum governs negative caching — set it long and even after you fix a record, resolvers keep serving the old NXDOMAIN. Task 2 reads these fields.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Anycast is the main way big DNS operators scale and survive DDoS. The key measurement point: you cannot tell a domain uses anycast from its NS or A records — the address looks singular. You detect it by probing from many vantage points, which is what the </a:t>
            </a:r>
            <a:r>
              <a:rPr dirty="0" err="1"/>
              <a:t>LACeS</a:t>
            </a:r>
            <a:r>
              <a:rPr dirty="0"/>
              <a:t> census does and what Task 2's anycast piece uses. Deeper detail is in the appendix.</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Part two: security best practices, and how you measure their adoption at scale. Three mechanisms — DNSSEC, SPF, CAA — each solving a different threat, each adopted at a different rate.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DNSSEC is the authentication layer retrofitted onto DNS. The chain of trust is the concept to land: the root signs a pointer to the TLD's key, the TLD signs a pointer (the DS record) to your key, your key signs your records. A resolver can walk that chain from a root key it already trusts. Break any link and validation fails closed.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measurement subtlety for Task 3. Plenty of zones publish a DNSKEY but never get the DS record installed at the parent — a common misconfiguration. That key is orphaned: it exists but no validating resolver will use it, so the zone is effectively unsecured. You have to join child and parent data to tell real deployment from cargo-cult deployment. KSK vs ZSK is the one-line detail: the DS points at the key-signing key.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Algorithm choice is itself a measurable adoption signal. The trend is away from RSA toward elliptic-curve — ECDSA P-256 and Ed25519 give much smaller signatures, which matters for DNS packet sizes. SHA-1 is deprecated. Task 3.5 looks at this shift longitudinally. Algorithm numbers are in mono because they are protocol identifiers.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SPF is email anti-spoofing published in DNS. The whole security value is in the final qualifier. -all means reject anything not listed. +all — which people do publish by mistake — means accept everything, i.e. the record does nothing. The alert coloring is reserved for that failure case. Task 3 measures the distribution of qualifiers.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CAA closes a gap DNSSEC does not touch: a CA issuing a certificate for your domain when it shouldn't. You publish which CAs are allowed; compliant CAs check CAA before issuing. This sets up the trust-dependence slide in Part 3 — because if an attacker controls your DNS, they control your CAA too. Task 3 measures CAA adoption.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Part three, new this year. Everything so far was the healthy ecosystem. Now: how it breaks. The throughline is that most failures look identical from the outside — a name that does not resolve — but the causes span accident to attack, and telling them apart is a measurement problem.</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Run this live — it is the discussion prompt from the CSE 291 lecture and it works well as a cold open for the taxonomy. Let them call out causes: a typo in the zone, an expired registration, nameservers that stopped answering, a DDoS, someone hijacking the delegation. Collect them, then reveal the taxonomy on the next slide as the organized version of what they just brainstormed. Second and last big-question of the deck.</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organizing frame for the whole part. Lay it out as a spectrum because the response differs by cause. Define lame delegation explicitly since it is the least familiar and the </a:t>
            </a:r>
            <a:r>
              <a:rPr dirty="0" err="1"/>
              <a:t>Akiwate</a:t>
            </a:r>
            <a:r>
              <a:rPr dirty="0"/>
              <a:t> paper is a reading option: the parent zone delegates to a nameserver that does not actually serve the zone authoritatively — so resolution is fragile or fails, with no attacker involved. The measurement challenge is that the external symptom is often the same across the whole spectrum.</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ecosystem threat model from the CSE 291 lecture. The point is that the DNS is administered through a chain — you talk to a registrar, the registrar talks to the registry via EPP — and a compromise at each tier has a wildly different blast radius. One phished registrant loses their domains; a compromised registrar can lose all its customers' domains at once; a compromised registry endangers the whole TLD. Keep it qualitative.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sharp end. Unlike a cache-poisoning trick, a delegation hijack changes the authoritative truth at the registrar — so it is globally consistent and DNSSEC on the victim's own zone does not help if the attacker replaces the delegation wholesale. The keep-it-brief tradecraft is why these are hard to catch without continuous measurement. Country-code government domains as victims is exactly the national-degradation scenario the capstone asks about. Details stay qualitative per kc — no hard numbers on the slide.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week's sharpest lesson in hidden dependencies, and it ties Part 2 (CAA) to Part 3 (hijack). Students trust the padlock; the padlock ultimately rests on DNS control. If an attacker owns your DNS even briefly they can pass a domain-validation challenge and mint a legitimate certificate — the browser shows no warning. CT logs are the saving grace: every issued cert is logged publicly, so you can detect the mis-issuance afterward. This is why CAA and DNSSEC matter beyond compliance checkboxes.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a:t>
            </a:r>
            <a:r>
              <a:rPr dirty="0" err="1"/>
              <a:t>Akiwate</a:t>
            </a:r>
            <a:r>
              <a:rPr dirty="0"/>
              <a:t> Risky </a:t>
            </a:r>
            <a:r>
              <a:rPr dirty="0" err="1"/>
              <a:t>BIZness</a:t>
            </a:r>
            <a:r>
              <a:rPr dirty="0"/>
              <a:t> result, and the subtlest failure here — no attacker, just a standards artifact. When a nameserver host object becomes problematic, EPP rules lead registrars to rename it into a TLD they don't control, often .biz, with a </a:t>
            </a:r>
            <a:r>
              <a:rPr dirty="0" err="1"/>
              <a:t>dropthishost</a:t>
            </a:r>
            <a:r>
              <a:rPr dirty="0"/>
              <a:t>- style label. But live domains still delegate to that name. Anyone who registers the renamed name inherits authoritative control of those domains. It is measurable directly in CZDS zone files, which is why it belongs to this week. The lesson: well-meaning standards can silently degrade the namespace.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scales up the idea behind the CSE 291 PA3 assignment — but as global-dataset mining, not the </a:t>
            </a:r>
            <a:r>
              <a:rPr dirty="0" err="1"/>
              <a:t>zdns</a:t>
            </a:r>
            <a:r>
              <a:rPr dirty="0"/>
              <a:t> exercise. The pipeline reuses building blocks they already have: </a:t>
            </a:r>
            <a:r>
              <a:rPr dirty="0" err="1"/>
              <a:t>RouteViews</a:t>
            </a:r>
            <a:r>
              <a:rPr dirty="0"/>
              <a:t> prefix2as for IP-to-AS, AS Rank for AS relationships and cones, AS2Org for the organization and country behind an AS. Chaining them answers a resilience question with national-security weight: how much of a government's DNS sits on foreign or single-operator infrastructure. This is a scaled-down rehearsal of the block-9 capstone. The datasets are named per project canon.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the assignment itself. It walks the same arc as the lecture — hosting, resilience, security — and each task answers one of the failure modes from Part 3.</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Two complementary views. </a:t>
            </a:r>
            <a:r>
              <a:rPr dirty="0" err="1"/>
              <a:t>OpenINTEL</a:t>
            </a:r>
            <a:r>
              <a:rPr dirty="0"/>
              <a:t> is the answers side — what the nameservers say when you ask them, captured daily. CZDS is the registration side — the delegations as the registry records them. Part 3's failures (lame delegation, Risky </a:t>
            </a:r>
            <a:r>
              <a:rPr dirty="0" err="1"/>
              <a:t>BIZness</a:t>
            </a:r>
            <a:r>
              <a:rPr dirty="0"/>
              <a:t> renames) live in the gap between what the registry delegates and what actually answers. We give you a CAIDA-staged copy of the CZDS data so you don't need your own ICANN account. Full </a:t>
            </a:r>
            <a:r>
              <a:rPr dirty="0" err="1"/>
              <a:t>OpenINTEL</a:t>
            </a:r>
            <a:r>
              <a:rPr dirty="0"/>
              <a:t> mechanics are Thursday.</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supporting cast. </a:t>
            </a:r>
            <a:r>
              <a:rPr dirty="0" err="1"/>
              <a:t>LACeS</a:t>
            </a:r>
            <a:r>
              <a:rPr dirty="0"/>
              <a:t> is how Task 2 knows whether a nameserver IP is anycast — you cannot see it in the records, so you join against a census. </a:t>
            </a:r>
            <a:r>
              <a:rPr dirty="0" err="1"/>
              <a:t>dnspython</a:t>
            </a:r>
            <a:r>
              <a:rPr dirty="0"/>
              <a:t> resolves NS hostnames to IPs (zone data gives you names, not addresses). </a:t>
            </a:r>
            <a:r>
              <a:rPr dirty="0" err="1"/>
              <a:t>tldextract</a:t>
            </a:r>
            <a:r>
              <a:rPr dirty="0"/>
              <a:t> is the public-suffix-aware provider attribution from Part 1. All identifiers in mono.</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map of the assignment. Notice the tasks mirror the lecture's three ecosystem questions, and each one is the measurement counterpart to a way the DNS breaks: hosting concentration is the Dyn failure mode, resilience is the redundancy question, security adoption is the hijack-and-mis-issuance defense. The arc is deliberate.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One assignment per week. The .gov-then-.se pattern matters: .gov is about 25k domains so a task runs in seconds and you can debug logic; .se is about a million, statistically meaningful, and where the real answers come from. Do not scale to .se until the .gov prototype is clean. The milestone sidebar states the common assignment structure — Intro, optional Background, Datasets, Tasks, Notebook — which is also the shape their own module should take. Due beginning of Week 6.</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standard close. The single most important item is attending Thursday — the assignment needs the </a:t>
            </a:r>
            <a:r>
              <a:rPr dirty="0" err="1"/>
              <a:t>PySpark</a:t>
            </a:r>
            <a:r>
              <a:rPr dirty="0"/>
              <a:t> tooling and the </a:t>
            </a:r>
            <a:r>
              <a:rPr dirty="0" err="1"/>
              <a:t>OpenINTEL</a:t>
            </a:r>
            <a:r>
              <a:rPr dirty="0"/>
              <a:t> access walk-through. Reading is recommended, not required (kc's call): the </a:t>
            </a:r>
            <a:r>
              <a:rPr dirty="0" err="1"/>
              <a:t>OpenINTEL</a:t>
            </a:r>
            <a:r>
              <a:rPr dirty="0"/>
              <a:t> JSAC paper if you read one, or the Risky </a:t>
            </a:r>
            <a:r>
              <a:rPr dirty="0" err="1"/>
              <a:t>BIZness</a:t>
            </a:r>
            <a:r>
              <a:rPr dirty="0"/>
              <a:t> paper if Part 3 grabbed you. Questions line is the usual.</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Everything past here is self-study, since sessions are not recorded and attendance is partial. Three reference slides and a glossary.</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 detail for Task 3.5's algorithm analysis. The why-DS-references-KSK point: the key-signing key is the stable anchor the parent commits to via the DS record, so it can rotate the zone-signing key freely without touching the parent.</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CSE 291 lecture-08 material on the resolution path as an attack and surveillance surface. Optional here because the assignment does not measure it, but it rounds out the failure picture: interception and censorship are the on-path malicious end of Part 3's spectrum. The encrypted-DNS point worth making is that DoH/DoT move trust rather than removing it — you are now trusting the DoH provider, and ECS can still leak your subnet.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Backs the anycast piece of Task 2. Two independent detection methods, and the confidence filter is a tunable — high-confidence for precision, comprehensive for recall. The /24 granularity is the caveat to flag when they report per-address results.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Advanced and program-specific terms only — DNS, TXT, TLD are assumed. Definitions are one line each so the two-column reflow stays clean. These are the terms a master's-level reader might not already have.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cseweb.ucsd.edu/classes/wi23/cse291-e/slides/cse291e-lecture-09.pdf"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hyperlink" Target="mailto:training-program-info@caida.org"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1238250" y="1428750"/>
            <a:ext cx="8801100" cy="317500"/>
          </a:xfrm>
          <a:prstGeom prst="rect">
            <a:avLst/>
          </a:prstGeom>
          <a:noFill/>
          <a:ln/>
        </p:spPr>
        <p:txBody>
          <a:bodyPr wrap="square" lIns="25400" tIns="25400" rIns="25400" bIns="25400" rtlCol="0" anchor="t">
            <a:spAutoFit/>
          </a:bodyPr>
          <a:lstStyle/>
          <a:p>
            <a:pPr marL="0" indent="0" algn="l">
              <a:buNone/>
            </a:pPr>
            <a:r>
              <a:rPr lang="en-US" sz="1950" b="1" kern="0" spc="312" dirty="0">
                <a:solidFill>
                  <a:srgbClr val="A9C2E4"/>
                </a:solidFill>
                <a:latin typeface="Arial" pitchFamily="34" charset="0"/>
                <a:ea typeface="Arial" pitchFamily="34" charset="-122"/>
                <a:cs typeface="Arial" pitchFamily="34" charset="-120"/>
              </a:rPr>
              <a:t>ESCALATE TRAINING PROGRAM · SUMMER 2026</a:t>
            </a:r>
            <a:endParaRPr lang="en-US" sz="1950" dirty="0"/>
          </a:p>
        </p:txBody>
      </p:sp>
      <p:sp>
        <p:nvSpPr>
          <p:cNvPr id="6" name="Text 4"/>
          <p:cNvSpPr/>
          <p:nvPr/>
        </p:nvSpPr>
        <p:spPr>
          <a:xfrm>
            <a:off x="1238250" y="1955800"/>
            <a:ext cx="8241030" cy="1553567"/>
          </a:xfrm>
          <a:prstGeom prst="rect">
            <a:avLst/>
          </a:prstGeom>
          <a:noFill/>
          <a:ln/>
        </p:spPr>
        <p:txBody>
          <a:bodyPr wrap="square" lIns="25400" tIns="25400" rIns="25400" bIns="25400" rtlCol="0" anchor="t">
            <a:spAutoFit/>
          </a:bodyPr>
          <a:lstStyle/>
          <a:p>
            <a:pPr marL="0" indent="0" algn="l">
              <a:lnSpc>
                <a:spcPct val="102000"/>
              </a:lnSpc>
              <a:buNone/>
            </a:pPr>
            <a:r>
              <a:rPr lang="en-US" sz="5850" kern="0" spc="-88" dirty="0">
                <a:solidFill>
                  <a:srgbClr val="212529"/>
                </a:solidFill>
                <a:latin typeface="Arial" pitchFamily="34" charset="0"/>
                <a:ea typeface="Arial" pitchFamily="34" charset="-122"/>
                <a:cs typeface="Arial" pitchFamily="34" charset="-120"/>
              </a:rPr>
              <a:t>The DNS Ecosystem — and How It Breaks</a:t>
            </a:r>
            <a:endParaRPr lang="en-US" sz="5850" dirty="0"/>
          </a:p>
        </p:txBody>
      </p:sp>
      <p:sp>
        <p:nvSpPr>
          <p:cNvPr id="7" name="Text 5"/>
          <p:cNvSpPr/>
          <p:nvPr/>
        </p:nvSpPr>
        <p:spPr>
          <a:xfrm>
            <a:off x="1238250" y="3757017"/>
            <a:ext cx="8241030" cy="912416"/>
          </a:xfrm>
          <a:prstGeom prst="rect">
            <a:avLst/>
          </a:prstGeom>
          <a:noFill/>
          <a:ln/>
        </p:spPr>
        <p:txBody>
          <a:bodyPr wrap="square" lIns="25400" tIns="25400" rIns="25400" bIns="25400" rtlCol="0" anchor="t">
            <a:spAutoFit/>
          </a:bodyPr>
          <a:lstStyle/>
          <a:p>
            <a:pPr marL="0" indent="0" algn="l">
              <a:lnSpc>
                <a:spcPct val="135000"/>
              </a:lnSpc>
              <a:buNone/>
            </a:pPr>
            <a:r>
              <a:rPr lang="en-US" sz="2550" dirty="0">
                <a:solidFill>
                  <a:srgbClr val="343A40"/>
                </a:solidFill>
                <a:latin typeface="Arial" pitchFamily="34" charset="0"/>
                <a:ea typeface="Arial" pitchFamily="34" charset="-122"/>
                <a:cs typeface="Arial" pitchFamily="34" charset="-120"/>
              </a:rPr>
              <a:t>Every registered domain answers a fixed set of DNS questions every day — and every answer is a place where things can quietly go wrong.</a:t>
            </a:r>
            <a:endParaRPr lang="en-US" sz="2550" dirty="0"/>
          </a:p>
        </p:txBody>
      </p:sp>
      <p:sp>
        <p:nvSpPr>
          <p:cNvPr id="8" name="Text 6"/>
          <p:cNvSpPr/>
          <p:nvPr/>
        </p:nvSpPr>
        <p:spPr>
          <a:xfrm>
            <a:off x="1238250" y="7626350"/>
            <a:ext cx="2788920" cy="304800"/>
          </a:xfrm>
          <a:prstGeom prst="rect">
            <a:avLst/>
          </a:prstGeom>
          <a:noFill/>
          <a:ln/>
        </p:spPr>
        <p:txBody>
          <a:bodyPr wrap="square" lIns="25400" tIns="25400" rIns="25400" bIns="25400" rtlCol="0" anchor="t">
            <a:spAutoFit/>
          </a:bodyPr>
          <a:lstStyle/>
          <a:p>
            <a:pPr marL="0" indent="0" algn="l">
              <a:buNone/>
            </a:pPr>
            <a:r>
              <a:rPr lang="en-US" sz="1800" b="1" kern="0" spc="180" dirty="0">
                <a:solidFill>
                  <a:srgbClr val="6C757D"/>
                </a:solidFill>
                <a:latin typeface="Arial" pitchFamily="34" charset="0"/>
                <a:ea typeface="Arial" pitchFamily="34" charset="-122"/>
                <a:cs typeface="Arial" pitchFamily="34" charset="-120"/>
              </a:rPr>
              <a:t>PLENARY</a:t>
            </a:r>
            <a:endParaRPr lang="en-US" sz="1800" dirty="0"/>
          </a:p>
        </p:txBody>
      </p:sp>
      <p:sp>
        <p:nvSpPr>
          <p:cNvPr id="9" name="Text 7"/>
          <p:cNvSpPr/>
          <p:nvPr/>
        </p:nvSpPr>
        <p:spPr>
          <a:xfrm>
            <a:off x="1238250" y="7988300"/>
            <a:ext cx="2788920" cy="336550"/>
          </a:xfrm>
          <a:prstGeom prst="rect">
            <a:avLst/>
          </a:prstGeom>
          <a:noFill/>
          <a:ln/>
        </p:spPr>
        <p:txBody>
          <a:bodyPr wrap="square" lIns="25400" tIns="25400" rIns="25400" bIns="25400" rtlCol="0" anchor="t">
            <a:spAutoFit/>
          </a:bodyPr>
          <a:lstStyle/>
          <a:p>
            <a:pPr marL="0" indent="0" algn="l">
              <a:buNone/>
            </a:pPr>
            <a:r>
              <a:rPr lang="en-US" sz="1950" dirty="0">
                <a:solidFill>
                  <a:srgbClr val="212529"/>
                </a:solidFill>
                <a:latin typeface="Arial" pitchFamily="34" charset="0"/>
                <a:ea typeface="Arial" pitchFamily="34" charset="-122"/>
                <a:cs typeface="Arial" pitchFamily="34" charset="-120"/>
              </a:rPr>
              <a:t>Plenary · Tue Jul 14, 2026 · 12:00 PT</a:t>
            </a:r>
            <a:endParaRPr lang="en-US" sz="1950" dirty="0"/>
          </a:p>
        </p:txBody>
      </p:sp>
      <p:sp>
        <p:nvSpPr>
          <p:cNvPr id="10" name="Text 8"/>
          <p:cNvSpPr/>
          <p:nvPr/>
        </p:nvSpPr>
        <p:spPr>
          <a:xfrm>
            <a:off x="4158357" y="7626350"/>
            <a:ext cx="1895336" cy="304800"/>
          </a:xfrm>
          <a:prstGeom prst="rect">
            <a:avLst/>
          </a:prstGeom>
          <a:noFill/>
          <a:ln/>
        </p:spPr>
        <p:txBody>
          <a:bodyPr wrap="square" lIns="25400" tIns="25400" rIns="25400" bIns="25400" rtlCol="0" anchor="t">
            <a:spAutoFit/>
          </a:bodyPr>
          <a:lstStyle/>
          <a:p>
            <a:pPr marL="0" indent="0" algn="l">
              <a:buNone/>
            </a:pPr>
            <a:r>
              <a:rPr lang="en-US" sz="1800" b="1" kern="0" spc="180" dirty="0">
                <a:solidFill>
                  <a:srgbClr val="6C757D"/>
                </a:solidFill>
                <a:latin typeface="Arial" pitchFamily="34" charset="0"/>
                <a:ea typeface="Arial" pitchFamily="34" charset="-122"/>
                <a:cs typeface="Arial" pitchFamily="34" charset="-120"/>
              </a:rPr>
              <a:t>INSTRUCTOR</a:t>
            </a:r>
            <a:endParaRPr lang="en-US" sz="1800" dirty="0"/>
          </a:p>
        </p:txBody>
      </p:sp>
      <p:sp>
        <p:nvSpPr>
          <p:cNvPr id="11" name="Text 9"/>
          <p:cNvSpPr/>
          <p:nvPr/>
        </p:nvSpPr>
        <p:spPr>
          <a:xfrm>
            <a:off x="4158357" y="7988300"/>
            <a:ext cx="1895336" cy="336550"/>
          </a:xfrm>
          <a:prstGeom prst="rect">
            <a:avLst/>
          </a:prstGeom>
          <a:noFill/>
          <a:ln/>
        </p:spPr>
        <p:txBody>
          <a:bodyPr wrap="square" lIns="25400" tIns="25400" rIns="25400" bIns="25400" rtlCol="0" anchor="t">
            <a:spAutoFit/>
          </a:bodyPr>
          <a:lstStyle/>
          <a:p>
            <a:pPr marL="0" indent="0" algn="l">
              <a:buNone/>
            </a:pPr>
            <a:r>
              <a:rPr lang="en-US" sz="1950" dirty="0">
                <a:solidFill>
                  <a:srgbClr val="212529"/>
                </a:solidFill>
                <a:latin typeface="Arial" pitchFamily="34" charset="0"/>
                <a:ea typeface="Arial" pitchFamily="34" charset="-122"/>
                <a:cs typeface="Arial" pitchFamily="34" charset="-120"/>
              </a:rPr>
              <a:t>kc claffy</a:t>
            </a:r>
            <a:endParaRPr lang="en-US" sz="1950" dirty="0"/>
          </a:p>
        </p:txBody>
      </p:sp>
      <p:sp>
        <p:nvSpPr>
          <p:cNvPr id="12" name="Text 10"/>
          <p:cNvSpPr/>
          <p:nvPr/>
        </p:nvSpPr>
        <p:spPr>
          <a:xfrm>
            <a:off x="6548140" y="7626350"/>
            <a:ext cx="5252720" cy="304800"/>
          </a:xfrm>
          <a:prstGeom prst="rect">
            <a:avLst/>
          </a:prstGeom>
          <a:noFill/>
          <a:ln/>
        </p:spPr>
        <p:txBody>
          <a:bodyPr wrap="square" lIns="25400" tIns="25400" rIns="25400" bIns="25400" rtlCol="0" anchor="t">
            <a:spAutoFit/>
          </a:bodyPr>
          <a:lstStyle/>
          <a:p>
            <a:pPr marL="0" indent="0" algn="l">
              <a:buNone/>
            </a:pPr>
            <a:r>
              <a:rPr lang="en-US" sz="1800" b="1" kern="0" spc="180" dirty="0">
                <a:solidFill>
                  <a:srgbClr val="6C757D"/>
                </a:solidFill>
                <a:latin typeface="Arial" pitchFamily="34" charset="0"/>
                <a:ea typeface="Arial" pitchFamily="34" charset="-122"/>
                <a:cs typeface="Arial" pitchFamily="34" charset="-120"/>
              </a:rPr>
              <a:t>SENIOR MENTORS</a:t>
            </a:r>
            <a:endParaRPr lang="en-US" sz="1800" dirty="0"/>
          </a:p>
        </p:txBody>
      </p:sp>
      <p:sp>
        <p:nvSpPr>
          <p:cNvPr id="13" name="Text 11"/>
          <p:cNvSpPr/>
          <p:nvPr/>
        </p:nvSpPr>
        <p:spPr>
          <a:xfrm>
            <a:off x="6548140" y="7988300"/>
            <a:ext cx="5252720" cy="336550"/>
          </a:xfrm>
          <a:prstGeom prst="rect">
            <a:avLst/>
          </a:prstGeom>
          <a:noFill/>
          <a:ln/>
        </p:spPr>
        <p:txBody>
          <a:bodyPr wrap="square" lIns="25400" tIns="25400" rIns="25400" bIns="25400" rtlCol="0" anchor="t">
            <a:spAutoFit/>
          </a:bodyPr>
          <a:lstStyle/>
          <a:p>
            <a:pPr marL="0" indent="0" algn="l">
              <a:buNone/>
            </a:pPr>
            <a:r>
              <a:rPr lang="en-US" sz="1950" dirty="0">
                <a:solidFill>
                  <a:srgbClr val="212529"/>
                </a:solidFill>
                <a:latin typeface="Arial" pitchFamily="34" charset="0"/>
                <a:ea typeface="Arial" pitchFamily="34" charset="-122"/>
                <a:cs typeface="Arial" pitchFamily="34" charset="-120"/>
              </a:rPr>
              <a:t>Ricky Mok · Bradley Huffaker · Raffaele Sommese</a:t>
            </a:r>
            <a:endParaRPr lang="en-US" sz="1950" dirty="0"/>
          </a:p>
        </p:txBody>
      </p:sp>
      <p:sp>
        <p:nvSpPr>
          <p:cNvPr id="14" name="Text 12"/>
          <p:cNvSpPr/>
          <p:nvPr/>
        </p:nvSpPr>
        <p:spPr>
          <a:xfrm>
            <a:off x="11990090" y="7626350"/>
            <a:ext cx="2943086" cy="304800"/>
          </a:xfrm>
          <a:prstGeom prst="rect">
            <a:avLst/>
          </a:prstGeom>
          <a:noFill/>
          <a:ln/>
        </p:spPr>
        <p:txBody>
          <a:bodyPr wrap="square" lIns="25400" tIns="25400" rIns="25400" bIns="25400" rtlCol="0" anchor="t">
            <a:spAutoFit/>
          </a:bodyPr>
          <a:lstStyle/>
          <a:p>
            <a:pPr marL="0" indent="0" algn="l">
              <a:buNone/>
            </a:pPr>
            <a:r>
              <a:rPr lang="en-US" sz="1800" b="1" kern="0" spc="180" dirty="0">
                <a:solidFill>
                  <a:srgbClr val="6C757D"/>
                </a:solidFill>
                <a:latin typeface="Arial" pitchFamily="34" charset="0"/>
                <a:ea typeface="Arial" pitchFamily="34" charset="-122"/>
                <a:cs typeface="Arial" pitchFamily="34" charset="-120"/>
              </a:rPr>
              <a:t>PROGRAM CONTACT</a:t>
            </a:r>
            <a:endParaRPr lang="en-US" sz="1800" dirty="0"/>
          </a:p>
        </p:txBody>
      </p:sp>
      <p:sp>
        <p:nvSpPr>
          <p:cNvPr id="15" name="Text 13"/>
          <p:cNvSpPr/>
          <p:nvPr/>
        </p:nvSpPr>
        <p:spPr>
          <a:xfrm>
            <a:off x="11990090" y="7988300"/>
            <a:ext cx="2943086" cy="336550"/>
          </a:xfrm>
          <a:prstGeom prst="rect">
            <a:avLst/>
          </a:prstGeom>
          <a:noFill/>
          <a:ln/>
        </p:spPr>
        <p:txBody>
          <a:bodyPr wrap="square" lIns="25400" tIns="25400" rIns="25400" bIns="25400" rtlCol="0" anchor="t">
            <a:spAutoFit/>
          </a:bodyPr>
          <a:lstStyle/>
          <a:p>
            <a:pPr marL="0" indent="0" algn="l">
              <a:buNone/>
            </a:pPr>
            <a:r>
              <a:rPr lang="en-US" sz="1950" dirty="0">
                <a:solidFill>
                  <a:srgbClr val="212529"/>
                </a:solidFill>
                <a:latin typeface="Arial" pitchFamily="34" charset="0"/>
                <a:ea typeface="Arial" pitchFamily="34" charset="-122"/>
                <a:cs typeface="Arial" pitchFamily="34" charset="-120"/>
              </a:rPr>
              <a:t>training-program-info@caida.org</a:t>
            </a:r>
            <a:endParaRPr lang="en-US" sz="1950" dirty="0"/>
          </a:p>
        </p:txBody>
      </p:sp>
      <p:pic>
        <p:nvPicPr>
          <p:cNvPr id="16" name="Image 0" descr="preencoded.png"/>
          <p:cNvPicPr>
            <a:picLocks noChangeAspect="1"/>
          </p:cNvPicPr>
          <p:nvPr/>
        </p:nvPicPr>
        <p:blipFill>
          <a:blip r:embed="rId3"/>
          <a:stretch>
            <a:fillRect/>
          </a:stretch>
        </p:blipFill>
        <p:spPr>
          <a:xfrm>
            <a:off x="1238250" y="8572500"/>
            <a:ext cx="926207" cy="914400"/>
          </a:xfrm>
          <a:prstGeom prst="rect">
            <a:avLst/>
          </a:prstGeom>
        </p:spPr>
      </p:pic>
      <p:pic>
        <p:nvPicPr>
          <p:cNvPr id="17" name="Image 1" descr="preencoded.png"/>
          <p:cNvPicPr>
            <a:picLocks noChangeAspect="1"/>
          </p:cNvPicPr>
          <p:nvPr/>
        </p:nvPicPr>
        <p:blipFill>
          <a:blip r:embed="rId4"/>
          <a:stretch>
            <a:fillRect/>
          </a:stretch>
        </p:blipFill>
        <p:spPr>
          <a:xfrm>
            <a:off x="2354957" y="8572500"/>
            <a:ext cx="914400" cy="914400"/>
          </a:xfrm>
          <a:prstGeom prst="rect">
            <a:avLst/>
          </a:prstGeom>
        </p:spPr>
      </p:pic>
      <p:sp>
        <p:nvSpPr>
          <p:cNvPr id="18" name="Text 14"/>
          <p:cNvSpPr/>
          <p:nvPr/>
        </p:nvSpPr>
        <p:spPr>
          <a:xfrm>
            <a:off x="3459857" y="8893175"/>
            <a:ext cx="6274604"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Supported by the NSF ESCALATE project · OAC-2519416</a:t>
            </a:r>
            <a:endParaRPr lang="en-US" sz="1800" dirty="0"/>
          </a:p>
        </p:txBody>
      </p:sp>
      <p:pic>
        <p:nvPicPr>
          <p:cNvPr id="19" name="Picture 18" descr="a01_resolution_tree.png"/>
          <p:cNvPicPr>
            <a:picLocks noChangeAspect="1"/>
          </p:cNvPicPr>
          <p:nvPr/>
        </p:nvPicPr>
        <p:blipFill>
          <a:blip r:embed="rId5"/>
          <a:stretch>
            <a:fillRect/>
          </a:stretch>
        </p:blipFill>
        <p:spPr>
          <a:xfrm>
            <a:off x="9810750" y="1857375"/>
            <a:ext cx="7239000" cy="3619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THE ARC</a:t>
            </a:r>
            <a:endParaRPr lang="en-US" sz="1950" dirty="0"/>
          </a:p>
        </p:txBody>
      </p:sp>
      <p:sp>
        <p:nvSpPr>
          <p:cNvPr id="4" name="Text 2"/>
          <p:cNvSpPr/>
          <p:nvPr/>
        </p:nvSpPr>
        <p:spPr>
          <a:xfrm>
            <a:off x="1238250" y="1496568"/>
            <a:ext cx="17392650" cy="652264"/>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Ten building blocks — you are here</a:t>
            </a:r>
            <a:endParaRPr lang="en-US" sz="4650" dirty="0"/>
          </a:p>
        </p:txBody>
      </p:sp>
      <p:sp>
        <p:nvSpPr>
          <p:cNvPr id="5" name="Shape 3"/>
          <p:cNvSpPr/>
          <p:nvPr/>
        </p:nvSpPr>
        <p:spPr>
          <a:xfrm>
            <a:off x="1238250" y="2284214"/>
            <a:ext cx="2994620" cy="3255268"/>
          </a:xfrm>
          <a:prstGeom prst="roundRect">
            <a:avLst>
              <a:gd name="adj" fmla="val 2545"/>
            </a:avLst>
          </a:prstGeom>
          <a:solidFill>
            <a:srgbClr val="FFFFFF"/>
          </a:solidFill>
          <a:ln w="6350">
            <a:solidFill>
              <a:srgbClr val="DEE2E6"/>
            </a:solidFill>
            <a:prstDash val="solid"/>
          </a:ln>
        </p:spPr>
        <p:txBody>
          <a:bodyPr/>
          <a:lstStyle/>
          <a:p>
            <a:endParaRPr/>
          </a:p>
        </p:txBody>
      </p:sp>
      <p:sp>
        <p:nvSpPr>
          <p:cNvPr id="6" name="Text 4"/>
          <p:cNvSpPr/>
          <p:nvPr/>
        </p:nvSpPr>
        <p:spPr>
          <a:xfrm>
            <a:off x="1454150" y="2500114"/>
            <a:ext cx="2819102" cy="476250"/>
          </a:xfrm>
          <a:prstGeom prst="rect">
            <a:avLst/>
          </a:prstGeom>
          <a:noFill/>
          <a:ln/>
        </p:spPr>
        <p:txBody>
          <a:bodyPr wrap="square" lIns="25400" tIns="25400" rIns="25400" bIns="25400" rtlCol="0" anchor="t">
            <a:spAutoFit/>
          </a:bodyPr>
          <a:lstStyle/>
          <a:p>
            <a:pPr marL="0" indent="0" algn="l">
              <a:lnSpc>
                <a:spcPct val="100000"/>
              </a:lnSpc>
              <a:buNone/>
            </a:pPr>
            <a:r>
              <a:rPr lang="en-US" sz="3450" dirty="0">
                <a:solidFill>
                  <a:srgbClr val="C2C8D2"/>
                </a:solidFill>
                <a:latin typeface="Arial" pitchFamily="34" charset="0"/>
                <a:ea typeface="Arial" pitchFamily="34" charset="-122"/>
                <a:cs typeface="Arial" pitchFamily="34" charset="-120"/>
              </a:rPr>
              <a:t>1</a:t>
            </a:r>
            <a:endParaRPr lang="en-US" sz="3450" dirty="0"/>
          </a:p>
        </p:txBody>
      </p:sp>
      <p:sp>
        <p:nvSpPr>
          <p:cNvPr id="7" name="Text 5"/>
          <p:cNvSpPr/>
          <p:nvPr/>
        </p:nvSpPr>
        <p:spPr>
          <a:xfrm>
            <a:off x="1454150" y="3071614"/>
            <a:ext cx="2639705" cy="777240"/>
          </a:xfrm>
          <a:prstGeom prst="rect">
            <a:avLst/>
          </a:prstGeom>
          <a:noFill/>
          <a:ln/>
        </p:spPr>
        <p:txBody>
          <a:bodyPr wrap="square" lIns="25400" tIns="25400" rIns="25400" bIns="25400" rtlCol="0" anchor="t">
            <a:spAutoFit/>
          </a:bodyPr>
          <a:lstStyle/>
          <a:p>
            <a:pPr marL="0" indent="0" algn="l">
              <a:lnSpc>
                <a:spcPct val="125000"/>
              </a:lnSpc>
              <a:buNone/>
            </a:pPr>
            <a:r>
              <a:rPr lang="en-US" sz="2200" b="0" dirty="0">
                <a:solidFill>
                  <a:srgbClr val="343A40"/>
                </a:solidFill>
                <a:latin typeface="Arial" pitchFamily="34" charset="0"/>
                <a:ea typeface="Arial" pitchFamily="34" charset="-122"/>
                <a:cs typeface="Arial" pitchFamily="34" charset="-120"/>
              </a:rPr>
              <a:t>Internet structure &amp; ASNs</a:t>
            </a:r>
            <a:endParaRPr lang="en-US" sz="1800" dirty="0"/>
          </a:p>
        </p:txBody>
      </p:sp>
      <p:sp>
        <p:nvSpPr>
          <p:cNvPr id="8" name="Shape 6"/>
          <p:cNvSpPr/>
          <p:nvPr/>
        </p:nvSpPr>
        <p:spPr>
          <a:xfrm>
            <a:off x="4442420" y="2284214"/>
            <a:ext cx="2994620" cy="3255268"/>
          </a:xfrm>
          <a:prstGeom prst="roundRect">
            <a:avLst>
              <a:gd name="adj" fmla="val 2545"/>
            </a:avLst>
          </a:prstGeom>
          <a:solidFill>
            <a:srgbClr val="FFFFFF"/>
          </a:solidFill>
          <a:ln w="6350">
            <a:solidFill>
              <a:srgbClr val="DEE2E6"/>
            </a:solidFill>
            <a:prstDash val="solid"/>
          </a:ln>
        </p:spPr>
        <p:txBody>
          <a:bodyPr/>
          <a:lstStyle/>
          <a:p>
            <a:endParaRPr/>
          </a:p>
        </p:txBody>
      </p:sp>
      <p:sp>
        <p:nvSpPr>
          <p:cNvPr id="9" name="Text 7"/>
          <p:cNvSpPr/>
          <p:nvPr/>
        </p:nvSpPr>
        <p:spPr>
          <a:xfrm>
            <a:off x="4658320" y="2500114"/>
            <a:ext cx="2819102" cy="476250"/>
          </a:xfrm>
          <a:prstGeom prst="rect">
            <a:avLst/>
          </a:prstGeom>
          <a:noFill/>
          <a:ln/>
        </p:spPr>
        <p:txBody>
          <a:bodyPr wrap="square" lIns="25400" tIns="25400" rIns="25400" bIns="25400" rtlCol="0" anchor="t">
            <a:spAutoFit/>
          </a:bodyPr>
          <a:lstStyle/>
          <a:p>
            <a:pPr marL="0" indent="0" algn="l">
              <a:lnSpc>
                <a:spcPct val="100000"/>
              </a:lnSpc>
              <a:buNone/>
            </a:pPr>
            <a:r>
              <a:rPr lang="en-US" sz="3450" dirty="0">
                <a:solidFill>
                  <a:srgbClr val="C2C8D2"/>
                </a:solidFill>
                <a:latin typeface="Arial" pitchFamily="34" charset="0"/>
                <a:ea typeface="Arial" pitchFamily="34" charset="-122"/>
                <a:cs typeface="Arial" pitchFamily="34" charset="-120"/>
              </a:rPr>
              <a:t>2</a:t>
            </a:r>
            <a:endParaRPr lang="en-US" sz="3450" dirty="0"/>
          </a:p>
        </p:txBody>
      </p:sp>
      <p:sp>
        <p:nvSpPr>
          <p:cNvPr id="10" name="Text 8"/>
          <p:cNvSpPr/>
          <p:nvPr/>
        </p:nvSpPr>
        <p:spPr>
          <a:xfrm>
            <a:off x="4658320" y="3071614"/>
            <a:ext cx="2819102" cy="777240"/>
          </a:xfrm>
          <a:prstGeom prst="rect">
            <a:avLst/>
          </a:prstGeom>
          <a:noFill/>
          <a:ln/>
        </p:spPr>
        <p:txBody>
          <a:bodyPr wrap="square" lIns="25400" tIns="25400" rIns="25400" bIns="25400" rtlCol="0" anchor="t">
            <a:spAutoFit/>
          </a:bodyPr>
          <a:lstStyle/>
          <a:p>
            <a:pPr marL="0" indent="0" algn="l">
              <a:lnSpc>
                <a:spcPct val="125000"/>
              </a:lnSpc>
              <a:buNone/>
            </a:pPr>
            <a:r>
              <a:rPr lang="en-US" sz="2200" b="0" dirty="0">
                <a:solidFill>
                  <a:srgbClr val="343A40"/>
                </a:solidFill>
                <a:latin typeface="Arial" pitchFamily="34" charset="0"/>
                <a:ea typeface="Arial" pitchFamily="34" charset="-122"/>
                <a:cs typeface="Arial" pitchFamily="34" charset="-120"/>
              </a:rPr>
              <a:t>BGP at scale</a:t>
            </a:r>
            <a:endParaRPr lang="en-US" sz="1800" dirty="0"/>
          </a:p>
        </p:txBody>
      </p:sp>
      <p:sp>
        <p:nvSpPr>
          <p:cNvPr id="11" name="Shape 9"/>
          <p:cNvSpPr/>
          <p:nvPr/>
        </p:nvSpPr>
        <p:spPr>
          <a:xfrm>
            <a:off x="7646591" y="2284214"/>
            <a:ext cx="2994720" cy="3255268"/>
          </a:xfrm>
          <a:prstGeom prst="roundRect">
            <a:avLst>
              <a:gd name="adj" fmla="val 2544"/>
            </a:avLst>
          </a:prstGeom>
          <a:solidFill>
            <a:srgbClr val="FFFFFF"/>
          </a:solidFill>
          <a:ln w="6350">
            <a:solidFill>
              <a:srgbClr val="DEE2E6"/>
            </a:solidFill>
            <a:prstDash val="solid"/>
          </a:ln>
        </p:spPr>
        <p:txBody>
          <a:bodyPr/>
          <a:lstStyle/>
          <a:p>
            <a:endParaRPr/>
          </a:p>
        </p:txBody>
      </p:sp>
      <p:sp>
        <p:nvSpPr>
          <p:cNvPr id="12" name="Text 10"/>
          <p:cNvSpPr/>
          <p:nvPr/>
        </p:nvSpPr>
        <p:spPr>
          <a:xfrm>
            <a:off x="7862491" y="2500114"/>
            <a:ext cx="2819212" cy="476250"/>
          </a:xfrm>
          <a:prstGeom prst="rect">
            <a:avLst/>
          </a:prstGeom>
          <a:noFill/>
          <a:ln/>
        </p:spPr>
        <p:txBody>
          <a:bodyPr wrap="square" lIns="25400" tIns="25400" rIns="25400" bIns="25400" rtlCol="0" anchor="t">
            <a:spAutoFit/>
          </a:bodyPr>
          <a:lstStyle/>
          <a:p>
            <a:pPr marL="0" indent="0" algn="l">
              <a:lnSpc>
                <a:spcPct val="100000"/>
              </a:lnSpc>
              <a:buNone/>
            </a:pPr>
            <a:r>
              <a:rPr lang="en-US" sz="3450" dirty="0">
                <a:solidFill>
                  <a:srgbClr val="C2C8D2"/>
                </a:solidFill>
                <a:latin typeface="Arial" pitchFamily="34" charset="0"/>
                <a:ea typeface="Arial" pitchFamily="34" charset="-122"/>
                <a:cs typeface="Arial" pitchFamily="34" charset="-120"/>
              </a:rPr>
              <a:t>3</a:t>
            </a:r>
            <a:endParaRPr lang="en-US" sz="3450" dirty="0"/>
          </a:p>
        </p:txBody>
      </p:sp>
      <p:sp>
        <p:nvSpPr>
          <p:cNvPr id="13" name="Text 11"/>
          <p:cNvSpPr/>
          <p:nvPr/>
        </p:nvSpPr>
        <p:spPr>
          <a:xfrm>
            <a:off x="7862491" y="3071614"/>
            <a:ext cx="2639807" cy="777240"/>
          </a:xfrm>
          <a:prstGeom prst="rect">
            <a:avLst/>
          </a:prstGeom>
          <a:noFill/>
          <a:ln/>
        </p:spPr>
        <p:txBody>
          <a:bodyPr wrap="square" lIns="25400" tIns="25400" rIns="25400" bIns="25400" rtlCol="0" anchor="t">
            <a:spAutoFit/>
          </a:bodyPr>
          <a:lstStyle/>
          <a:p>
            <a:pPr marL="0" indent="0" algn="l">
              <a:lnSpc>
                <a:spcPct val="125000"/>
              </a:lnSpc>
              <a:buNone/>
            </a:pPr>
            <a:r>
              <a:rPr lang="en-US" sz="2200" b="0" dirty="0">
                <a:solidFill>
                  <a:srgbClr val="343A40"/>
                </a:solidFill>
                <a:latin typeface="Arial" pitchFamily="34" charset="0"/>
                <a:ea typeface="Arial" pitchFamily="34" charset="-122"/>
                <a:cs typeface="Arial" pitchFamily="34" charset="-120"/>
              </a:rPr>
              <a:t>Registries: WHOIS / IRR / RPKI</a:t>
            </a:r>
            <a:endParaRPr lang="en-US" sz="1800" dirty="0"/>
          </a:p>
        </p:txBody>
      </p:sp>
      <p:sp>
        <p:nvSpPr>
          <p:cNvPr id="14" name="Shape 12"/>
          <p:cNvSpPr/>
          <p:nvPr/>
        </p:nvSpPr>
        <p:spPr>
          <a:xfrm>
            <a:off x="10850861" y="2284214"/>
            <a:ext cx="2994620" cy="3255268"/>
          </a:xfrm>
          <a:prstGeom prst="roundRect">
            <a:avLst>
              <a:gd name="adj" fmla="val 2545"/>
            </a:avLst>
          </a:prstGeom>
          <a:solidFill>
            <a:srgbClr val="FFFFFF"/>
          </a:solidFill>
          <a:ln w="6350">
            <a:solidFill>
              <a:srgbClr val="DEE2E6"/>
            </a:solidFill>
            <a:prstDash val="solid"/>
          </a:ln>
        </p:spPr>
        <p:txBody>
          <a:bodyPr/>
          <a:lstStyle/>
          <a:p>
            <a:endParaRPr/>
          </a:p>
        </p:txBody>
      </p:sp>
      <p:sp>
        <p:nvSpPr>
          <p:cNvPr id="15" name="Text 13"/>
          <p:cNvSpPr/>
          <p:nvPr/>
        </p:nvSpPr>
        <p:spPr>
          <a:xfrm>
            <a:off x="11066761" y="2500114"/>
            <a:ext cx="2819102" cy="476250"/>
          </a:xfrm>
          <a:prstGeom prst="rect">
            <a:avLst/>
          </a:prstGeom>
          <a:noFill/>
          <a:ln/>
        </p:spPr>
        <p:txBody>
          <a:bodyPr wrap="square" lIns="25400" tIns="25400" rIns="25400" bIns="25400" rtlCol="0" anchor="t">
            <a:spAutoFit/>
          </a:bodyPr>
          <a:lstStyle/>
          <a:p>
            <a:pPr marL="0" indent="0" algn="l">
              <a:lnSpc>
                <a:spcPct val="100000"/>
              </a:lnSpc>
              <a:buNone/>
            </a:pPr>
            <a:r>
              <a:rPr lang="en-US" sz="3450" dirty="0">
                <a:solidFill>
                  <a:srgbClr val="C2C8D2"/>
                </a:solidFill>
                <a:latin typeface="Arial" pitchFamily="34" charset="0"/>
                <a:ea typeface="Arial" pitchFamily="34" charset="-122"/>
                <a:cs typeface="Arial" pitchFamily="34" charset="-120"/>
              </a:rPr>
              <a:t>4</a:t>
            </a:r>
            <a:endParaRPr lang="en-US" sz="3450" dirty="0"/>
          </a:p>
        </p:txBody>
      </p:sp>
      <p:sp>
        <p:nvSpPr>
          <p:cNvPr id="16" name="Text 14"/>
          <p:cNvSpPr/>
          <p:nvPr/>
        </p:nvSpPr>
        <p:spPr>
          <a:xfrm>
            <a:off x="11066761" y="3071614"/>
            <a:ext cx="2819102" cy="777240"/>
          </a:xfrm>
          <a:prstGeom prst="rect">
            <a:avLst/>
          </a:prstGeom>
          <a:noFill/>
          <a:ln/>
        </p:spPr>
        <p:txBody>
          <a:bodyPr wrap="square" lIns="25400" tIns="25400" rIns="25400" bIns="25400" rtlCol="0" anchor="t">
            <a:spAutoFit/>
          </a:bodyPr>
          <a:lstStyle/>
          <a:p>
            <a:pPr marL="0" indent="0" algn="l">
              <a:lnSpc>
                <a:spcPct val="125000"/>
              </a:lnSpc>
              <a:buNone/>
            </a:pPr>
            <a:r>
              <a:rPr lang="en-US" sz="2200" b="0" dirty="0">
                <a:solidFill>
                  <a:srgbClr val="343A40"/>
                </a:solidFill>
                <a:latin typeface="Arial" pitchFamily="34" charset="0"/>
                <a:ea typeface="Arial" pitchFamily="34" charset="-122"/>
                <a:cs typeface="Arial" pitchFamily="34" charset="-120"/>
              </a:rPr>
              <a:t>Traceroute, ITDK</a:t>
            </a:r>
            <a:endParaRPr lang="en-US" sz="1800" dirty="0"/>
          </a:p>
        </p:txBody>
      </p:sp>
      <p:sp>
        <p:nvSpPr>
          <p:cNvPr id="17" name="Shape 15"/>
          <p:cNvSpPr/>
          <p:nvPr/>
        </p:nvSpPr>
        <p:spPr>
          <a:xfrm>
            <a:off x="14055030" y="2284214"/>
            <a:ext cx="2994720" cy="3255268"/>
          </a:xfrm>
          <a:prstGeom prst="roundRect">
            <a:avLst>
              <a:gd name="adj" fmla="val 2544"/>
            </a:avLst>
          </a:prstGeom>
          <a:solidFill>
            <a:srgbClr val="E9EFF7"/>
          </a:solidFill>
          <a:ln w="6350">
            <a:solidFill>
              <a:srgbClr val="2B5187"/>
            </a:solidFill>
            <a:prstDash val="solid"/>
          </a:ln>
        </p:spPr>
        <p:txBody>
          <a:bodyPr/>
          <a:lstStyle/>
          <a:p>
            <a:endParaRPr/>
          </a:p>
        </p:txBody>
      </p:sp>
      <p:sp>
        <p:nvSpPr>
          <p:cNvPr id="18" name="Text 16"/>
          <p:cNvSpPr/>
          <p:nvPr/>
        </p:nvSpPr>
        <p:spPr>
          <a:xfrm>
            <a:off x="14270931" y="2500114"/>
            <a:ext cx="2819212" cy="476250"/>
          </a:xfrm>
          <a:prstGeom prst="rect">
            <a:avLst/>
          </a:prstGeom>
          <a:noFill/>
          <a:ln/>
        </p:spPr>
        <p:txBody>
          <a:bodyPr wrap="square" lIns="25400" tIns="25400" rIns="25400" bIns="25400" rtlCol="0" anchor="t">
            <a:spAutoFit/>
          </a:bodyPr>
          <a:lstStyle/>
          <a:p>
            <a:pPr marL="0" indent="0" algn="l">
              <a:lnSpc>
                <a:spcPct val="100000"/>
              </a:lnSpc>
              <a:buNone/>
            </a:pPr>
            <a:r>
              <a:rPr lang="en-US" sz="3450" dirty="0">
                <a:solidFill>
                  <a:srgbClr val="2B5187"/>
                </a:solidFill>
                <a:latin typeface="Arial" pitchFamily="34" charset="0"/>
                <a:ea typeface="Arial" pitchFamily="34" charset="-122"/>
                <a:cs typeface="Arial" pitchFamily="34" charset="-120"/>
              </a:rPr>
              <a:t>5</a:t>
            </a:r>
            <a:endParaRPr lang="en-US" sz="3450" dirty="0"/>
          </a:p>
        </p:txBody>
      </p:sp>
      <p:sp>
        <p:nvSpPr>
          <p:cNvPr id="19" name="Text 17"/>
          <p:cNvSpPr/>
          <p:nvPr/>
        </p:nvSpPr>
        <p:spPr>
          <a:xfrm>
            <a:off x="14270931" y="3071614"/>
            <a:ext cx="2639807" cy="777240"/>
          </a:xfrm>
          <a:prstGeom prst="rect">
            <a:avLst/>
          </a:prstGeom>
          <a:noFill/>
          <a:ln/>
        </p:spPr>
        <p:txBody>
          <a:bodyPr wrap="square" lIns="25400" tIns="25400" rIns="25400" bIns="25400" rtlCol="0" anchor="t">
            <a:spAutoFit/>
          </a:bodyPr>
          <a:lstStyle/>
          <a:p>
            <a:pPr marL="0" indent="0" algn="l">
              <a:lnSpc>
                <a:spcPct val="125000"/>
              </a:lnSpc>
              <a:buNone/>
            </a:pPr>
            <a:r>
              <a:rPr lang="en-US" sz="2200" b="1" dirty="0">
                <a:solidFill>
                  <a:srgbClr val="212529"/>
                </a:solidFill>
                <a:latin typeface="Arial" pitchFamily="34" charset="0"/>
                <a:ea typeface="Arial" pitchFamily="34" charset="-122"/>
                <a:cs typeface="Arial" pitchFamily="34" charset="-120"/>
              </a:rPr>
              <a:t>DNS</a:t>
            </a:r>
            <a:endParaRPr lang="en-US" sz="1800" dirty="0"/>
          </a:p>
        </p:txBody>
      </p:sp>
      <p:sp>
        <p:nvSpPr>
          <p:cNvPr id="20" name="Shape 18"/>
          <p:cNvSpPr/>
          <p:nvPr/>
        </p:nvSpPr>
        <p:spPr>
          <a:xfrm>
            <a:off x="1238250" y="5749032"/>
            <a:ext cx="2994620" cy="3255268"/>
          </a:xfrm>
          <a:prstGeom prst="roundRect">
            <a:avLst>
              <a:gd name="adj" fmla="val 2545"/>
            </a:avLst>
          </a:prstGeom>
          <a:solidFill>
            <a:srgbClr val="FFFFFF"/>
          </a:solidFill>
          <a:ln w="6350">
            <a:solidFill>
              <a:srgbClr val="DEE2E6"/>
            </a:solidFill>
            <a:prstDash val="solid"/>
          </a:ln>
        </p:spPr>
        <p:txBody>
          <a:bodyPr/>
          <a:lstStyle/>
          <a:p>
            <a:endParaRPr/>
          </a:p>
        </p:txBody>
      </p:sp>
      <p:sp>
        <p:nvSpPr>
          <p:cNvPr id="21" name="Text 19"/>
          <p:cNvSpPr/>
          <p:nvPr/>
        </p:nvSpPr>
        <p:spPr>
          <a:xfrm>
            <a:off x="1454150" y="5964932"/>
            <a:ext cx="2819102" cy="476250"/>
          </a:xfrm>
          <a:prstGeom prst="rect">
            <a:avLst/>
          </a:prstGeom>
          <a:noFill/>
          <a:ln/>
        </p:spPr>
        <p:txBody>
          <a:bodyPr wrap="square" lIns="25400" tIns="25400" rIns="25400" bIns="25400" rtlCol="0" anchor="t">
            <a:spAutoFit/>
          </a:bodyPr>
          <a:lstStyle/>
          <a:p>
            <a:pPr marL="0" indent="0" algn="l">
              <a:lnSpc>
                <a:spcPct val="100000"/>
              </a:lnSpc>
              <a:buNone/>
            </a:pPr>
            <a:r>
              <a:rPr lang="en-US" sz="3450" dirty="0">
                <a:solidFill>
                  <a:srgbClr val="C2C8D2"/>
                </a:solidFill>
                <a:latin typeface="Arial" pitchFamily="34" charset="0"/>
                <a:ea typeface="Arial" pitchFamily="34" charset="-122"/>
                <a:cs typeface="Arial" pitchFamily="34" charset="-120"/>
              </a:rPr>
              <a:t>6</a:t>
            </a:r>
            <a:endParaRPr lang="en-US" sz="3450" dirty="0"/>
          </a:p>
        </p:txBody>
      </p:sp>
      <p:sp>
        <p:nvSpPr>
          <p:cNvPr id="22" name="Text 20"/>
          <p:cNvSpPr/>
          <p:nvPr/>
        </p:nvSpPr>
        <p:spPr>
          <a:xfrm>
            <a:off x="1454150" y="6536432"/>
            <a:ext cx="2819102" cy="441018"/>
          </a:xfrm>
          <a:prstGeom prst="rect">
            <a:avLst/>
          </a:prstGeom>
          <a:noFill/>
          <a:ln/>
        </p:spPr>
        <p:txBody>
          <a:bodyPr wrap="square" lIns="25400" tIns="25400" rIns="25400" bIns="25400" rtlCol="0" anchor="t">
            <a:spAutoFit/>
          </a:bodyPr>
          <a:lstStyle/>
          <a:p>
            <a:pPr marL="0" indent="0" algn="l">
              <a:lnSpc>
                <a:spcPct val="125000"/>
              </a:lnSpc>
              <a:buNone/>
            </a:pPr>
            <a:r>
              <a:rPr lang="en-US" sz="2200" b="0" dirty="0">
                <a:solidFill>
                  <a:srgbClr val="343A40"/>
                </a:solidFill>
                <a:latin typeface="Arial" pitchFamily="34" charset="0"/>
                <a:ea typeface="Arial" pitchFamily="34" charset="-122"/>
                <a:cs typeface="Arial" pitchFamily="34" charset="-120"/>
              </a:rPr>
              <a:t>Traffic analysis</a:t>
            </a:r>
            <a:endParaRPr lang="en-US" sz="1800" dirty="0"/>
          </a:p>
        </p:txBody>
      </p:sp>
      <p:sp>
        <p:nvSpPr>
          <p:cNvPr id="23" name="Shape 21"/>
          <p:cNvSpPr/>
          <p:nvPr/>
        </p:nvSpPr>
        <p:spPr>
          <a:xfrm>
            <a:off x="4442420" y="5749032"/>
            <a:ext cx="2994620" cy="3255268"/>
          </a:xfrm>
          <a:prstGeom prst="roundRect">
            <a:avLst>
              <a:gd name="adj" fmla="val 2545"/>
            </a:avLst>
          </a:prstGeom>
          <a:solidFill>
            <a:srgbClr val="FFFFFF"/>
          </a:solidFill>
          <a:ln w="6350">
            <a:solidFill>
              <a:srgbClr val="DEE2E6"/>
            </a:solidFill>
            <a:prstDash val="solid"/>
          </a:ln>
        </p:spPr>
        <p:txBody>
          <a:bodyPr/>
          <a:lstStyle/>
          <a:p>
            <a:endParaRPr/>
          </a:p>
        </p:txBody>
      </p:sp>
      <p:sp>
        <p:nvSpPr>
          <p:cNvPr id="24" name="Text 22"/>
          <p:cNvSpPr/>
          <p:nvPr/>
        </p:nvSpPr>
        <p:spPr>
          <a:xfrm>
            <a:off x="4658320" y="5964932"/>
            <a:ext cx="2819102" cy="476250"/>
          </a:xfrm>
          <a:prstGeom prst="rect">
            <a:avLst/>
          </a:prstGeom>
          <a:noFill/>
          <a:ln/>
        </p:spPr>
        <p:txBody>
          <a:bodyPr wrap="square" lIns="25400" tIns="25400" rIns="25400" bIns="25400" rtlCol="0" anchor="t">
            <a:spAutoFit/>
          </a:bodyPr>
          <a:lstStyle/>
          <a:p>
            <a:pPr marL="0" indent="0" algn="l">
              <a:lnSpc>
                <a:spcPct val="100000"/>
              </a:lnSpc>
              <a:buNone/>
            </a:pPr>
            <a:r>
              <a:rPr lang="en-US" sz="3450" dirty="0">
                <a:solidFill>
                  <a:srgbClr val="C2C8D2"/>
                </a:solidFill>
                <a:latin typeface="Arial" pitchFamily="34" charset="0"/>
                <a:ea typeface="Arial" pitchFamily="34" charset="-122"/>
                <a:cs typeface="Arial" pitchFamily="34" charset="-120"/>
              </a:rPr>
              <a:t>7</a:t>
            </a:r>
            <a:endParaRPr lang="en-US" sz="3450" dirty="0"/>
          </a:p>
        </p:txBody>
      </p:sp>
      <p:sp>
        <p:nvSpPr>
          <p:cNvPr id="25" name="Text 23"/>
          <p:cNvSpPr/>
          <p:nvPr/>
        </p:nvSpPr>
        <p:spPr>
          <a:xfrm>
            <a:off x="4658320" y="6536432"/>
            <a:ext cx="2819102" cy="777240"/>
          </a:xfrm>
          <a:prstGeom prst="rect">
            <a:avLst/>
          </a:prstGeom>
          <a:noFill/>
          <a:ln/>
        </p:spPr>
        <p:txBody>
          <a:bodyPr wrap="square" lIns="25400" tIns="25400" rIns="25400" bIns="25400" rtlCol="0" anchor="t">
            <a:spAutoFit/>
          </a:bodyPr>
          <a:lstStyle/>
          <a:p>
            <a:pPr marL="0" indent="0" algn="l">
              <a:lnSpc>
                <a:spcPct val="125000"/>
              </a:lnSpc>
              <a:buNone/>
            </a:pPr>
            <a:r>
              <a:rPr lang="en-US" sz="2200" b="0" dirty="0">
                <a:solidFill>
                  <a:srgbClr val="343A40"/>
                </a:solidFill>
                <a:latin typeface="Arial" pitchFamily="34" charset="0"/>
                <a:ea typeface="Arial" pitchFamily="34" charset="-122"/>
                <a:cs typeface="Arial" pitchFamily="34" charset="-120"/>
              </a:rPr>
              <a:t>Network telescope</a:t>
            </a:r>
            <a:endParaRPr lang="en-US" sz="1800" dirty="0"/>
          </a:p>
        </p:txBody>
      </p:sp>
      <p:sp>
        <p:nvSpPr>
          <p:cNvPr id="26" name="Shape 24"/>
          <p:cNvSpPr/>
          <p:nvPr/>
        </p:nvSpPr>
        <p:spPr>
          <a:xfrm>
            <a:off x="7646591" y="5749032"/>
            <a:ext cx="2994720" cy="3255268"/>
          </a:xfrm>
          <a:prstGeom prst="roundRect">
            <a:avLst>
              <a:gd name="adj" fmla="val 2544"/>
            </a:avLst>
          </a:prstGeom>
          <a:solidFill>
            <a:srgbClr val="FFFFFF"/>
          </a:solidFill>
          <a:ln w="6350">
            <a:solidFill>
              <a:srgbClr val="DEE2E6"/>
            </a:solidFill>
            <a:prstDash val="solid"/>
          </a:ln>
        </p:spPr>
        <p:txBody>
          <a:bodyPr/>
          <a:lstStyle/>
          <a:p>
            <a:endParaRPr/>
          </a:p>
        </p:txBody>
      </p:sp>
      <p:sp>
        <p:nvSpPr>
          <p:cNvPr id="27" name="Text 25"/>
          <p:cNvSpPr/>
          <p:nvPr/>
        </p:nvSpPr>
        <p:spPr>
          <a:xfrm>
            <a:off x="7862491" y="5964932"/>
            <a:ext cx="2819212" cy="476250"/>
          </a:xfrm>
          <a:prstGeom prst="rect">
            <a:avLst/>
          </a:prstGeom>
          <a:noFill/>
          <a:ln/>
        </p:spPr>
        <p:txBody>
          <a:bodyPr wrap="square" lIns="25400" tIns="25400" rIns="25400" bIns="25400" rtlCol="0" anchor="t">
            <a:spAutoFit/>
          </a:bodyPr>
          <a:lstStyle/>
          <a:p>
            <a:pPr marL="0" indent="0" algn="l">
              <a:lnSpc>
                <a:spcPct val="100000"/>
              </a:lnSpc>
              <a:buNone/>
            </a:pPr>
            <a:r>
              <a:rPr lang="en-US" sz="3450" dirty="0">
                <a:solidFill>
                  <a:srgbClr val="C2C8D2"/>
                </a:solidFill>
                <a:latin typeface="Arial" pitchFamily="34" charset="0"/>
                <a:ea typeface="Arial" pitchFamily="34" charset="-122"/>
                <a:cs typeface="Arial" pitchFamily="34" charset="-120"/>
              </a:rPr>
              <a:t>8</a:t>
            </a:r>
            <a:endParaRPr lang="en-US" sz="3450" dirty="0"/>
          </a:p>
        </p:txBody>
      </p:sp>
      <p:sp>
        <p:nvSpPr>
          <p:cNvPr id="28" name="Text 26"/>
          <p:cNvSpPr/>
          <p:nvPr/>
        </p:nvSpPr>
        <p:spPr>
          <a:xfrm>
            <a:off x="7862491" y="6536432"/>
            <a:ext cx="2819212" cy="777240"/>
          </a:xfrm>
          <a:prstGeom prst="rect">
            <a:avLst/>
          </a:prstGeom>
          <a:noFill/>
          <a:ln/>
        </p:spPr>
        <p:txBody>
          <a:bodyPr wrap="square" lIns="25400" tIns="25400" rIns="25400" bIns="25400" rtlCol="0" anchor="t">
            <a:spAutoFit/>
          </a:bodyPr>
          <a:lstStyle/>
          <a:p>
            <a:pPr marL="0" indent="0" algn="l">
              <a:lnSpc>
                <a:spcPct val="125000"/>
              </a:lnSpc>
              <a:buNone/>
            </a:pPr>
            <a:r>
              <a:rPr lang="en-US" sz="2200" b="0" dirty="0">
                <a:solidFill>
                  <a:srgbClr val="343A40"/>
                </a:solidFill>
                <a:latin typeface="Arial" pitchFamily="34" charset="0"/>
                <a:ea typeface="Arial" pitchFamily="34" charset="-122"/>
                <a:cs typeface="Arial" pitchFamily="34" charset="-120"/>
              </a:rPr>
              <a:t>Data fusion (IYP)</a:t>
            </a:r>
            <a:endParaRPr lang="en-US" sz="1800" dirty="0"/>
          </a:p>
        </p:txBody>
      </p:sp>
      <p:sp>
        <p:nvSpPr>
          <p:cNvPr id="29" name="Shape 27"/>
          <p:cNvSpPr/>
          <p:nvPr/>
        </p:nvSpPr>
        <p:spPr>
          <a:xfrm>
            <a:off x="10850861" y="5749032"/>
            <a:ext cx="2994620" cy="3255268"/>
          </a:xfrm>
          <a:prstGeom prst="roundRect">
            <a:avLst>
              <a:gd name="adj" fmla="val 2545"/>
            </a:avLst>
          </a:prstGeom>
          <a:solidFill>
            <a:srgbClr val="FFFFFF"/>
          </a:solidFill>
          <a:ln w="6350">
            <a:solidFill>
              <a:srgbClr val="DEE2E6"/>
            </a:solidFill>
            <a:prstDash val="solid"/>
          </a:ln>
        </p:spPr>
        <p:txBody>
          <a:bodyPr/>
          <a:lstStyle/>
          <a:p>
            <a:endParaRPr/>
          </a:p>
        </p:txBody>
      </p:sp>
      <p:sp>
        <p:nvSpPr>
          <p:cNvPr id="30" name="Text 28"/>
          <p:cNvSpPr/>
          <p:nvPr/>
        </p:nvSpPr>
        <p:spPr>
          <a:xfrm>
            <a:off x="11066761" y="5964932"/>
            <a:ext cx="2819102" cy="476250"/>
          </a:xfrm>
          <a:prstGeom prst="rect">
            <a:avLst/>
          </a:prstGeom>
          <a:noFill/>
          <a:ln/>
        </p:spPr>
        <p:txBody>
          <a:bodyPr wrap="square" lIns="25400" tIns="25400" rIns="25400" bIns="25400" rtlCol="0" anchor="t">
            <a:spAutoFit/>
          </a:bodyPr>
          <a:lstStyle/>
          <a:p>
            <a:pPr marL="0" indent="0" algn="l">
              <a:lnSpc>
                <a:spcPct val="100000"/>
              </a:lnSpc>
              <a:buNone/>
            </a:pPr>
            <a:r>
              <a:rPr lang="en-US" sz="3450" dirty="0">
                <a:solidFill>
                  <a:srgbClr val="C2C8D2"/>
                </a:solidFill>
                <a:latin typeface="Arial" pitchFamily="34" charset="0"/>
                <a:ea typeface="Arial" pitchFamily="34" charset="-122"/>
                <a:cs typeface="Arial" pitchFamily="34" charset="-120"/>
              </a:rPr>
              <a:t>9</a:t>
            </a:r>
            <a:endParaRPr lang="en-US" sz="3450" dirty="0"/>
          </a:p>
        </p:txBody>
      </p:sp>
      <p:sp>
        <p:nvSpPr>
          <p:cNvPr id="31" name="Text 29"/>
          <p:cNvSpPr/>
          <p:nvPr/>
        </p:nvSpPr>
        <p:spPr>
          <a:xfrm>
            <a:off x="11066761" y="6536432"/>
            <a:ext cx="2819102" cy="441018"/>
          </a:xfrm>
          <a:prstGeom prst="rect">
            <a:avLst/>
          </a:prstGeom>
          <a:noFill/>
          <a:ln/>
        </p:spPr>
        <p:txBody>
          <a:bodyPr wrap="square" lIns="25400" tIns="25400" rIns="25400" bIns="25400" rtlCol="0" anchor="t">
            <a:spAutoFit/>
          </a:bodyPr>
          <a:lstStyle/>
          <a:p>
            <a:pPr marL="0" indent="0" algn="l">
              <a:lnSpc>
                <a:spcPct val="125000"/>
              </a:lnSpc>
              <a:buNone/>
            </a:pPr>
            <a:r>
              <a:rPr lang="en-US" sz="2200" dirty="0">
                <a:solidFill>
                  <a:srgbClr val="343A40"/>
                </a:solidFill>
                <a:latin typeface="Arial" pitchFamily="34" charset="0"/>
                <a:cs typeface="Arial" pitchFamily="34" charset="-120"/>
              </a:rPr>
              <a:t>Your own module</a:t>
            </a:r>
            <a:endParaRPr lang="en-US" sz="1800" dirty="0"/>
          </a:p>
        </p:txBody>
      </p:sp>
      <p:sp>
        <p:nvSpPr>
          <p:cNvPr id="32" name="Shape 30"/>
          <p:cNvSpPr/>
          <p:nvPr/>
        </p:nvSpPr>
        <p:spPr>
          <a:xfrm>
            <a:off x="14055030" y="5749032"/>
            <a:ext cx="2994720" cy="3255268"/>
          </a:xfrm>
          <a:prstGeom prst="roundRect">
            <a:avLst>
              <a:gd name="adj" fmla="val 2544"/>
            </a:avLst>
          </a:prstGeom>
          <a:solidFill>
            <a:srgbClr val="FFFFFF"/>
          </a:solidFill>
          <a:ln w="6350">
            <a:solidFill>
              <a:srgbClr val="DEE2E6"/>
            </a:solidFill>
            <a:prstDash val="solid"/>
          </a:ln>
        </p:spPr>
        <p:txBody>
          <a:bodyPr/>
          <a:lstStyle/>
          <a:p>
            <a:endParaRPr/>
          </a:p>
        </p:txBody>
      </p:sp>
      <p:sp>
        <p:nvSpPr>
          <p:cNvPr id="33" name="Text 31"/>
          <p:cNvSpPr/>
          <p:nvPr/>
        </p:nvSpPr>
        <p:spPr>
          <a:xfrm>
            <a:off x="14270931" y="5964932"/>
            <a:ext cx="2819212" cy="476250"/>
          </a:xfrm>
          <a:prstGeom prst="rect">
            <a:avLst/>
          </a:prstGeom>
          <a:noFill/>
          <a:ln/>
        </p:spPr>
        <p:txBody>
          <a:bodyPr wrap="square" lIns="25400" tIns="25400" rIns="25400" bIns="25400" rtlCol="0" anchor="t">
            <a:spAutoFit/>
          </a:bodyPr>
          <a:lstStyle/>
          <a:p>
            <a:pPr marL="0" indent="0" algn="l">
              <a:lnSpc>
                <a:spcPct val="100000"/>
              </a:lnSpc>
              <a:buNone/>
            </a:pPr>
            <a:r>
              <a:rPr lang="en-US" sz="3450" dirty="0">
                <a:solidFill>
                  <a:srgbClr val="C2C8D2"/>
                </a:solidFill>
                <a:latin typeface="Arial" pitchFamily="34" charset="0"/>
                <a:ea typeface="Arial" pitchFamily="34" charset="-122"/>
                <a:cs typeface="Arial" pitchFamily="34" charset="-120"/>
              </a:rPr>
              <a:t>10</a:t>
            </a:r>
            <a:endParaRPr lang="en-US" sz="3450" dirty="0"/>
          </a:p>
        </p:txBody>
      </p:sp>
      <p:sp>
        <p:nvSpPr>
          <p:cNvPr id="34" name="Text 32"/>
          <p:cNvSpPr/>
          <p:nvPr/>
        </p:nvSpPr>
        <p:spPr>
          <a:xfrm>
            <a:off x="14270931" y="6536432"/>
            <a:ext cx="2819212" cy="777240"/>
          </a:xfrm>
          <a:prstGeom prst="rect">
            <a:avLst/>
          </a:prstGeom>
          <a:noFill/>
          <a:ln/>
        </p:spPr>
        <p:txBody>
          <a:bodyPr wrap="square" lIns="25400" tIns="25400" rIns="25400" bIns="25400" rtlCol="0" anchor="t">
            <a:spAutoFit/>
          </a:bodyPr>
          <a:lstStyle/>
          <a:p>
            <a:pPr marL="0" indent="0" algn="l">
              <a:lnSpc>
                <a:spcPct val="125000"/>
              </a:lnSpc>
              <a:buNone/>
            </a:pPr>
            <a:r>
              <a:rPr lang="en-US" sz="2200" b="0" dirty="0">
                <a:solidFill>
                  <a:srgbClr val="343A40"/>
                </a:solidFill>
                <a:latin typeface="Arial" pitchFamily="34" charset="0"/>
                <a:ea typeface="Arial" pitchFamily="34" charset="-122"/>
                <a:cs typeface="Arial" pitchFamily="34" charset="-120"/>
              </a:rPr>
              <a:t>SDSC hackathon</a:t>
            </a:r>
            <a:endParaRPr lang="en-US" sz="1800" dirty="0"/>
          </a:p>
        </p:txBody>
      </p:sp>
      <p:sp>
        <p:nvSpPr>
          <p:cNvPr id="35" name="Text 33"/>
          <p:cNvSpPr/>
          <p:nvPr/>
        </p:nvSpPr>
        <p:spPr>
          <a:xfrm>
            <a:off x="1238250" y="9110218"/>
            <a:ext cx="17392650" cy="411480"/>
          </a:xfrm>
          <a:prstGeom prst="rect">
            <a:avLst/>
          </a:prstGeom>
          <a:noFill/>
          <a:ln/>
        </p:spPr>
        <p:txBody>
          <a:bodyPr wrap="square" lIns="25400" tIns="25400" rIns="25400" bIns="25400" rtlCol="0" anchor="t">
            <a:spAutoFit/>
          </a:bodyPr>
          <a:lstStyle/>
          <a:p>
            <a:pPr marL="0" indent="0" algn="l">
              <a:buNone/>
            </a:pPr>
            <a:r>
              <a:rPr lang="en-US" sz="2400" dirty="0">
                <a:solidFill>
                  <a:srgbClr val="6C757D"/>
                </a:solidFill>
                <a:latin typeface="Arial" pitchFamily="34" charset="0"/>
                <a:ea typeface="Arial" pitchFamily="34" charset="-122"/>
                <a:cs typeface="Arial" pitchFamily="34" charset="-120"/>
              </a:rPr>
              <a:t>Weeks 1–8 build one block at a time; weeks 9–10 integrate them into a full forensic pipeline.</a:t>
            </a:r>
            <a:endParaRPr lang="en-US" sz="1800" dirty="0"/>
          </a:p>
        </p:txBody>
      </p:sp>
      <p:sp>
        <p:nvSpPr>
          <p:cNvPr id="36" name="Text 34"/>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LAST WEEK · RECAP</a:t>
            </a:r>
            <a:endParaRPr lang="en-US" sz="1950" dirty="0"/>
          </a:p>
        </p:txBody>
      </p:sp>
      <p:sp>
        <p:nvSpPr>
          <p:cNvPr id="4" name="Text 2"/>
          <p:cNvSpPr/>
          <p:nvPr/>
        </p:nvSpPr>
        <p:spPr>
          <a:xfrm>
            <a:off x="1238250" y="1496568"/>
            <a:ext cx="17392650" cy="652264"/>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Last week: the router-level Internet</a:t>
            </a:r>
            <a:endParaRPr lang="en-US" sz="4650" dirty="0"/>
          </a:p>
        </p:txBody>
      </p:sp>
      <p:sp>
        <p:nvSpPr>
          <p:cNvPr id="6" name="Text 4"/>
          <p:cNvSpPr/>
          <p:nvPr/>
        </p:nvSpPr>
        <p:spPr>
          <a:xfrm>
            <a:off x="1032975" y="3015558"/>
            <a:ext cx="13093571" cy="2257541"/>
          </a:xfrm>
          <a:prstGeom prst="rect">
            <a:avLst/>
          </a:prstGeom>
          <a:noFill/>
          <a:ln/>
        </p:spPr>
        <p:txBody>
          <a:bodyPr wrap="square" lIns="25400" tIns="25400" rIns="25400" bIns="25400" rtlCol="0" anchor="t">
            <a:spAutoFit/>
          </a:bodyPr>
          <a:lstStyle/>
          <a:p>
            <a:pPr marL="333375" indent="-333375" algn="l">
              <a:lnSpc>
                <a:spcPct val="140000"/>
              </a:lnSpc>
              <a:buClr>
                <a:srgbClr val="C2C8D2"/>
              </a:buClr>
              <a:buFont typeface="Arial"/>
              <a:buChar char="▪"/>
            </a:pPr>
            <a:r>
              <a:rPr lang="en-US" sz="3200" dirty="0">
                <a:solidFill>
                  <a:srgbClr val="343A40"/>
                </a:solidFill>
                <a:latin typeface="Arial" pitchFamily="34" charset="0"/>
                <a:ea typeface="Arial" pitchFamily="34" charset="-122"/>
                <a:cs typeface="Arial" pitchFamily="34" charset="-120"/>
              </a:rPr>
              <a:t>Traceroute reveals a forwarding path one TTL hop at a time.</a:t>
            </a:r>
            <a:endParaRPr lang="en-US" sz="3200" dirty="0"/>
          </a:p>
          <a:p>
            <a:pPr marL="333375" indent="-333375" algn="l">
              <a:lnSpc>
                <a:spcPct val="140000"/>
              </a:lnSpc>
              <a:spcBef>
                <a:spcPts val="800"/>
              </a:spcBef>
              <a:buClr>
                <a:srgbClr val="C2C8D2"/>
              </a:buClr>
              <a:buFont typeface="Arial"/>
              <a:buChar char="▪"/>
            </a:pPr>
            <a:r>
              <a:rPr lang="en-US" sz="3200" dirty="0">
                <a:solidFill>
                  <a:srgbClr val="343A40"/>
                </a:solidFill>
                <a:latin typeface="Arial" pitchFamily="34" charset="0"/>
                <a:ea typeface="Arial" pitchFamily="34" charset="-122"/>
                <a:cs typeface="Arial" pitchFamily="34" charset="-120"/>
              </a:rPr>
              <a:t>The ITDK collapses millions of traces into a router-level graph.</a:t>
            </a:r>
            <a:endParaRPr lang="en-US" sz="3200" dirty="0"/>
          </a:p>
          <a:p>
            <a:pPr marL="333375" indent="-333375" algn="l">
              <a:lnSpc>
                <a:spcPct val="140000"/>
              </a:lnSpc>
              <a:spcBef>
                <a:spcPts val="800"/>
              </a:spcBef>
              <a:buClr>
                <a:srgbClr val="C2C8D2"/>
              </a:buClr>
              <a:buFont typeface="Arial"/>
              <a:buChar char="▪"/>
            </a:pPr>
            <a:r>
              <a:rPr lang="en-US" sz="3200" dirty="0">
                <a:solidFill>
                  <a:srgbClr val="343A40"/>
                </a:solidFill>
                <a:latin typeface="Arial" pitchFamily="34" charset="0"/>
                <a:ea typeface="Arial" pitchFamily="34" charset="-122"/>
                <a:cs typeface="Arial" pitchFamily="34" charset="-120"/>
              </a:rPr>
              <a:t>Router hostnames carry operator and location annotations.</a:t>
            </a:r>
            <a:endParaRPr lang="en-US" sz="3200" dirty="0"/>
          </a:p>
        </p:txBody>
      </p:sp>
      <p:sp>
        <p:nvSpPr>
          <p:cNvPr id="11" name="Shape 9"/>
          <p:cNvSpPr/>
          <p:nvPr/>
        </p:nvSpPr>
        <p:spPr>
          <a:xfrm>
            <a:off x="12395330" y="4724624"/>
            <a:ext cx="4953000" cy="3781358"/>
          </a:xfrm>
          <a:prstGeom prst="roundRect">
            <a:avLst>
              <a:gd name="adj" fmla="val 3824"/>
            </a:avLst>
          </a:prstGeom>
          <a:solidFill>
            <a:srgbClr val="E9EFF7"/>
          </a:solidFill>
          <a:ln w="6350">
            <a:solidFill>
              <a:srgbClr val="2B5187"/>
            </a:solidFill>
            <a:prstDash val="solid"/>
          </a:ln>
        </p:spPr>
        <p:txBody>
          <a:bodyPr wrap="square" lIns="406401" tIns="406400" rIns="406401" bIns="406400">
            <a:spAutoFit/>
          </a:bodyPr>
          <a:lstStyle/>
          <a:p>
            <a:pPr marL="0" indent="0" algn="l">
              <a:buNone/>
            </a:pPr>
            <a:r>
              <a:rPr lang="en-US" sz="1800" b="1" kern="0" spc="180" dirty="0">
                <a:solidFill>
                  <a:srgbClr val="2B5187"/>
                </a:solidFill>
                <a:latin typeface="Arial" pitchFamily="34" charset="0"/>
                <a:ea typeface="Arial" pitchFamily="34" charset="-122"/>
                <a:cs typeface="Arial" pitchFamily="34" charset="-120"/>
              </a:rPr>
              <a:t>THIS WEEK BUILDS ON IT</a:t>
            </a:r>
            <a:endParaRPr lang="en-US" sz="1800" dirty="0"/>
          </a:p>
          <a:p>
            <a:pPr marL="0" indent="0" algn="l">
              <a:lnSpc>
                <a:spcPct val="140000"/>
              </a:lnSpc>
              <a:spcBef>
                <a:spcPts val="600"/>
              </a:spcBef>
              <a:buNone/>
            </a:pPr>
            <a:r>
              <a:rPr lang="en-US" sz="2400" dirty="0">
                <a:solidFill>
                  <a:srgbClr val="212529"/>
                </a:solidFill>
                <a:latin typeface="Arial" pitchFamily="34" charset="0"/>
                <a:ea typeface="Arial" pitchFamily="34" charset="-122"/>
                <a:cs typeface="Arial" pitchFamily="34" charset="-120"/>
              </a:rPr>
              <a:t>This week you measure the naming layer: who serves it, how resilient it is, how  secure(d) it is, and how it fails.</a:t>
            </a:r>
            <a:endParaRPr lang="en-US" sz="2325" dirty="0"/>
          </a:p>
        </p:txBody>
      </p:sp>
      <p:sp>
        <p:nvSpPr>
          <p:cNvPr id="14" name="Text 12"/>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B5187"/>
        </a:solidFill>
        <a:effectLst/>
      </p:bgPr>
    </p:bg>
    <p:spTree>
      <p:nvGrpSpPr>
        <p:cNvPr id="1" name=""/>
        <p:cNvGrpSpPr/>
        <p:nvPr/>
      </p:nvGrpSpPr>
      <p:grpSpPr>
        <a:xfrm>
          <a:off x="0" y="0"/>
          <a:ext cx="0" cy="0"/>
          <a:chOff x="0" y="0"/>
          <a:chExt cx="0" cy="0"/>
        </a:xfrm>
      </p:grpSpPr>
      <p:sp>
        <p:nvSpPr>
          <p:cNvPr id="5" name="Text 3"/>
          <p:cNvSpPr/>
          <p:nvPr/>
        </p:nvSpPr>
        <p:spPr>
          <a:xfrm>
            <a:off x="1238250" y="2190750"/>
            <a:ext cx="8098453" cy="317500"/>
          </a:xfrm>
          <a:prstGeom prst="rect">
            <a:avLst/>
          </a:prstGeom>
          <a:noFill/>
          <a:ln/>
        </p:spPr>
        <p:txBody>
          <a:bodyPr wrap="square" lIns="25400" tIns="25400" rIns="25400" bIns="25400" rtlCol="0" anchor="t">
            <a:spAutoFit/>
          </a:bodyPr>
          <a:lstStyle/>
          <a:p>
            <a:pPr marL="0" indent="0" algn="l">
              <a:buNone/>
            </a:pPr>
            <a:r>
              <a:rPr lang="en-US" sz="1950" b="1" kern="0" spc="351" dirty="0">
                <a:solidFill>
                  <a:srgbClr val="A9C2E4"/>
                </a:solidFill>
                <a:latin typeface="Arial" pitchFamily="34" charset="0"/>
                <a:ea typeface="Arial" pitchFamily="34" charset="-122"/>
                <a:cs typeface="Arial" pitchFamily="34" charset="-120"/>
              </a:rPr>
              <a:t>PART ONE</a:t>
            </a:r>
            <a:endParaRPr lang="en-US" sz="1950" dirty="0"/>
          </a:p>
        </p:txBody>
      </p:sp>
      <p:sp>
        <p:nvSpPr>
          <p:cNvPr id="6" name="Text 4"/>
          <p:cNvSpPr/>
          <p:nvPr/>
        </p:nvSpPr>
        <p:spPr>
          <a:xfrm>
            <a:off x="1238250" y="2565400"/>
            <a:ext cx="8098453" cy="1838325"/>
          </a:xfrm>
          <a:prstGeom prst="rect">
            <a:avLst/>
          </a:prstGeom>
          <a:noFill/>
          <a:ln/>
        </p:spPr>
        <p:txBody>
          <a:bodyPr wrap="square" lIns="25400" tIns="25400" rIns="25400" bIns="25400" rtlCol="0" anchor="t">
            <a:spAutoFit/>
          </a:bodyPr>
          <a:lstStyle/>
          <a:p>
            <a:pPr marL="0" indent="0" algn="l">
              <a:lnSpc>
                <a:spcPct val="90000"/>
              </a:lnSpc>
              <a:buNone/>
            </a:pPr>
            <a:r>
              <a:rPr lang="en-US" sz="15750" kern="0" spc="-315" dirty="0">
                <a:solidFill>
                  <a:srgbClr val="FFFFFF"/>
                </a:solidFill>
                <a:latin typeface="Arial" pitchFamily="34" charset="0"/>
                <a:ea typeface="Arial" pitchFamily="34" charset="-122"/>
                <a:cs typeface="Arial" pitchFamily="34" charset="-120"/>
              </a:rPr>
              <a:t>01</a:t>
            </a:r>
            <a:endParaRPr lang="en-US" sz="15750" dirty="0"/>
          </a:p>
        </p:txBody>
      </p:sp>
      <p:sp>
        <p:nvSpPr>
          <p:cNvPr id="7" name="Text 5"/>
          <p:cNvSpPr/>
          <p:nvPr/>
        </p:nvSpPr>
        <p:spPr>
          <a:xfrm>
            <a:off x="1238250" y="4613275"/>
            <a:ext cx="8098453" cy="678160"/>
          </a:xfrm>
          <a:prstGeom prst="rect">
            <a:avLst/>
          </a:prstGeom>
          <a:noFill/>
          <a:ln/>
        </p:spPr>
        <p:txBody>
          <a:bodyPr wrap="square" lIns="25400" tIns="25400" rIns="25400" bIns="25400" rtlCol="0" anchor="t">
            <a:spAutoFit/>
          </a:bodyPr>
          <a:lstStyle/>
          <a:p>
            <a:pPr marL="0" indent="0" algn="l">
              <a:lnSpc>
                <a:spcPct val="105000"/>
              </a:lnSpc>
              <a:buNone/>
            </a:pPr>
            <a:r>
              <a:rPr lang="en-US" sz="4800" kern="0" spc="-48" dirty="0">
                <a:solidFill>
                  <a:srgbClr val="FFFFFF"/>
                </a:solidFill>
                <a:latin typeface="Arial" pitchFamily="34" charset="0"/>
                <a:ea typeface="Arial" pitchFamily="34" charset="-122"/>
                <a:cs typeface="Arial" pitchFamily="34" charset="-120"/>
              </a:rPr>
              <a:t>Who runs the DNS?</a:t>
            </a:r>
            <a:endParaRPr lang="en-US" sz="4800" dirty="0"/>
          </a:p>
        </p:txBody>
      </p:sp>
      <p:sp>
        <p:nvSpPr>
          <p:cNvPr id="8" name="Text 6"/>
          <p:cNvSpPr/>
          <p:nvPr/>
        </p:nvSpPr>
        <p:spPr>
          <a:xfrm>
            <a:off x="1238250" y="5491098"/>
            <a:ext cx="8098453" cy="475258"/>
          </a:xfrm>
          <a:prstGeom prst="rect">
            <a:avLst/>
          </a:prstGeom>
          <a:noFill/>
          <a:ln/>
        </p:spPr>
        <p:txBody>
          <a:bodyPr wrap="square" lIns="25400" tIns="25400" rIns="25400" bIns="25400" rtlCol="0" anchor="t">
            <a:spAutoFit/>
          </a:bodyPr>
          <a:lstStyle/>
          <a:p>
            <a:pPr marL="0" indent="0" algn="l">
              <a:lnSpc>
                <a:spcPct val="135000"/>
              </a:lnSpc>
              <a:buNone/>
            </a:pPr>
            <a:r>
              <a:rPr lang="en-US" sz="2550" dirty="0">
                <a:solidFill>
                  <a:srgbClr val="A9C2E4"/>
                </a:solidFill>
                <a:latin typeface="Arial" pitchFamily="34" charset="0"/>
                <a:ea typeface="Arial" pitchFamily="34" charset="-122"/>
                <a:cs typeface="Arial" pitchFamily="34" charset="-120"/>
              </a:rPr>
              <a:t>From NS records to market structure.</a:t>
            </a:r>
            <a:endParaRPr lang="en-US" sz="2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3419674"/>
            <a:ext cx="14668500" cy="317500"/>
          </a:xfrm>
          <a:prstGeom prst="rect">
            <a:avLst/>
          </a:prstGeom>
          <a:noFill/>
          <a:ln/>
        </p:spPr>
        <p:txBody>
          <a:bodyPr wrap="square" lIns="25400" tIns="25400" rIns="25400" bIns="25400" rtlCol="0" anchor="t">
            <a:spAutoFit/>
          </a:bodyPr>
          <a:lstStyle/>
          <a:p>
            <a:pPr marL="0" indent="0" algn="l">
              <a:buNone/>
            </a:pPr>
            <a:r>
              <a:rPr lang="en-US" sz="1950" b="1" kern="0" spc="351" dirty="0">
                <a:solidFill>
                  <a:srgbClr val="A9C2E4"/>
                </a:solidFill>
                <a:latin typeface="Arial" pitchFamily="34" charset="0"/>
                <a:ea typeface="Arial" pitchFamily="34" charset="-122"/>
                <a:cs typeface="Arial" pitchFamily="34" charset="-120"/>
              </a:rPr>
              <a:t>THE QUESTION</a:t>
            </a:r>
            <a:endParaRPr lang="en-US" sz="1950" dirty="0"/>
          </a:p>
        </p:txBody>
      </p:sp>
      <p:sp>
        <p:nvSpPr>
          <p:cNvPr id="4" name="Text 2"/>
          <p:cNvSpPr/>
          <p:nvPr/>
        </p:nvSpPr>
        <p:spPr>
          <a:xfrm>
            <a:off x="1238250" y="3965774"/>
            <a:ext cx="13735050" cy="1766292"/>
          </a:xfrm>
          <a:prstGeom prst="rect">
            <a:avLst/>
          </a:prstGeom>
          <a:noFill/>
          <a:ln/>
        </p:spPr>
        <p:txBody>
          <a:bodyPr wrap="square" lIns="25400" tIns="25400" rIns="25400" bIns="25400" rtlCol="0" anchor="t">
            <a:spAutoFit/>
          </a:bodyPr>
          <a:lstStyle/>
          <a:p>
            <a:pPr marL="0" indent="0" algn="l">
              <a:lnSpc>
                <a:spcPct val="108000"/>
              </a:lnSpc>
              <a:buNone/>
            </a:pPr>
            <a:r>
              <a:rPr lang="en-US" sz="6300" kern="0" spc="-94" dirty="0">
                <a:solidFill>
                  <a:srgbClr val="212529"/>
                </a:solidFill>
                <a:latin typeface="Arial" pitchFamily="34" charset="0"/>
                <a:ea typeface="Arial" pitchFamily="34" charset="-122"/>
                <a:cs typeface="Arial" pitchFamily="34" charset="-120"/>
              </a:rPr>
              <a:t>Someone else answers DNS for you. What if they fail?</a:t>
            </a:r>
            <a:endParaRPr lang="en-US" sz="6300" dirty="0"/>
          </a:p>
        </p:txBody>
      </p:sp>
      <p:sp>
        <p:nvSpPr>
          <p:cNvPr id="5" name="Text 3"/>
          <p:cNvSpPr/>
          <p:nvPr/>
        </p:nvSpPr>
        <p:spPr>
          <a:xfrm>
            <a:off x="1238250" y="6036866"/>
            <a:ext cx="13373489" cy="673518"/>
          </a:xfrm>
          <a:prstGeom prst="rect">
            <a:avLst/>
          </a:prstGeom>
          <a:noFill/>
          <a:ln/>
        </p:spPr>
        <p:txBody>
          <a:bodyPr wrap="square" lIns="25400" tIns="25400" rIns="25400" bIns="25400" rtlCol="0" anchor="t">
            <a:spAutoFit/>
          </a:bodyPr>
          <a:lstStyle/>
          <a:p>
            <a:pPr marL="0" indent="0" algn="l">
              <a:lnSpc>
                <a:spcPct val="140000"/>
              </a:lnSpc>
              <a:buNone/>
            </a:pPr>
            <a:r>
              <a:rPr lang="en-US" sz="3200" dirty="0">
                <a:solidFill>
                  <a:srgbClr val="6C757D"/>
                </a:solidFill>
                <a:latin typeface="Arial" pitchFamily="34" charset="0"/>
                <a:ea typeface="Arial" pitchFamily="34" charset="-122"/>
                <a:cs typeface="Arial" pitchFamily="34" charset="-120"/>
              </a:rPr>
              <a:t>In October 2016, one provider's bad day took major sites down.</a:t>
            </a:r>
            <a:endParaRPr lang="en-US" sz="3200" dirty="0"/>
          </a:p>
        </p:txBody>
      </p:sp>
      <p:sp>
        <p:nvSpPr>
          <p:cNvPr id="6" name="Text 4"/>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WHO RUNS IT · HIERARCHY</a:t>
            </a:r>
            <a:endParaRPr lang="en-US" sz="1950" dirty="0"/>
          </a:p>
        </p:txBody>
      </p:sp>
      <p:sp>
        <p:nvSpPr>
          <p:cNvPr id="4" name="Text 2"/>
          <p:cNvSpPr/>
          <p:nvPr/>
        </p:nvSpPr>
        <p:spPr>
          <a:xfrm>
            <a:off x="1238250" y="1496568"/>
            <a:ext cx="17392650" cy="652264"/>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The DNS hierarchy in 90 seconds</a:t>
            </a:r>
            <a:endParaRPr lang="en-US" sz="4650" dirty="0"/>
          </a:p>
        </p:txBody>
      </p:sp>
      <p:sp>
        <p:nvSpPr>
          <p:cNvPr id="6" name="Text 4"/>
          <p:cNvSpPr/>
          <p:nvPr/>
        </p:nvSpPr>
        <p:spPr>
          <a:xfrm>
            <a:off x="976993" y="3229036"/>
            <a:ext cx="9156052" cy="4325800"/>
          </a:xfrm>
          <a:prstGeom prst="rect">
            <a:avLst/>
          </a:prstGeom>
          <a:noFill/>
          <a:ln/>
        </p:spPr>
        <p:txBody>
          <a:bodyPr wrap="square" lIns="25400" tIns="25400" rIns="25400" bIns="25400" rtlCol="0" anchor="t">
            <a:spAutoFit/>
          </a:bodyPr>
          <a:lstStyle/>
          <a:p>
            <a:pPr marL="333375" indent="-333375" algn="l">
              <a:lnSpc>
                <a:spcPct val="140000"/>
              </a:lnSpc>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Resolution walks down: root names the TLD servers, the TLD registry names each zone.</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The TLD </a:t>
            </a:r>
            <a:r>
              <a:rPr lang="en-US" sz="3200" dirty="0">
                <a:solidFill>
                  <a:srgbClr val="343A40"/>
                </a:solidFill>
                <a:latin typeface="Roboto Mono" pitchFamily="34" charset="0"/>
                <a:ea typeface="Arial" pitchFamily="34" charset="-122"/>
                <a:cs typeface="Arial" pitchFamily="34" charset="-120"/>
              </a:rPr>
              <a:t>zone file</a:t>
            </a:r>
            <a:r>
              <a:rPr lang="en-US" sz="3200" dirty="0">
                <a:solidFill>
                  <a:srgbClr val="343A40"/>
                </a:solidFill>
                <a:latin typeface="Arial" pitchFamily="34" charset="0"/>
                <a:ea typeface="Arial" pitchFamily="34" charset="-122"/>
                <a:cs typeface="Arial" pitchFamily="34" charset="-120"/>
              </a:rPr>
              <a:t> is the registry's delegation list — for </a:t>
            </a:r>
            <a:r>
              <a:rPr lang="en-US" sz="3200" dirty="0" err="1">
                <a:solidFill>
                  <a:srgbClr val="343A40"/>
                </a:solidFill>
                <a:latin typeface="Arial" pitchFamily="34" charset="0"/>
                <a:ea typeface="Arial" pitchFamily="34" charset="-122"/>
                <a:cs typeface="Arial" pitchFamily="34" charset="-120"/>
              </a:rPr>
              <a:t>OpenIntel</a:t>
            </a:r>
            <a:r>
              <a:rPr lang="en-US" sz="3200" dirty="0">
                <a:solidFill>
                  <a:srgbClr val="343A40"/>
                </a:solidFill>
                <a:latin typeface="Arial" pitchFamily="34" charset="0"/>
                <a:ea typeface="Arial" pitchFamily="34" charset="-122"/>
                <a:cs typeface="Arial" pitchFamily="34" charset="-120"/>
              </a:rPr>
              <a:t>, it seeds measurements.</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Authoritative servers hold the records; everything below is caching.</a:t>
            </a:r>
            <a:endParaRPr lang="en-US" sz="3200" dirty="0"/>
          </a:p>
        </p:txBody>
      </p:sp>
      <p:sp>
        <p:nvSpPr>
          <p:cNvPr id="12" name="Text 9"/>
          <p:cNvSpPr/>
          <p:nvPr/>
        </p:nvSpPr>
        <p:spPr>
          <a:xfrm>
            <a:off x="11012289" y="7587805"/>
            <a:ext cx="6491940" cy="789960"/>
          </a:xfrm>
          <a:prstGeom prst="rect">
            <a:avLst/>
          </a:prstGeom>
          <a:noFill/>
          <a:ln/>
        </p:spPr>
        <p:txBody>
          <a:bodyPr wrap="square" lIns="25400" tIns="25400" rIns="25400" bIns="25400" rtlCol="0" anchor="t">
            <a:spAutoFit/>
          </a:bodyPr>
          <a:lstStyle/>
          <a:p>
            <a:r>
              <a:rPr sz="2400" dirty="0">
                <a:latin typeface="Arial"/>
              </a:rPr>
              <a:t>Root → TLD registry → zone file → authoritative NS.</a:t>
            </a:r>
          </a:p>
        </p:txBody>
      </p:sp>
      <p:sp>
        <p:nvSpPr>
          <p:cNvPr id="13" name="Text 10"/>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pic>
        <p:nvPicPr>
          <p:cNvPr id="15" name="Picture 14" descr="a06_hierarchy_tree.png"/>
          <p:cNvPicPr>
            <a:picLocks noChangeAspect="1"/>
          </p:cNvPicPr>
          <p:nvPr/>
        </p:nvPicPr>
        <p:blipFill>
          <a:blip r:embed="rId3"/>
          <a:stretch>
            <a:fillRect/>
          </a:stretch>
        </p:blipFill>
        <p:spPr>
          <a:xfrm>
            <a:off x="9812731" y="2790924"/>
            <a:ext cx="7937759" cy="41673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WHO RUNS IT · PROVIDERS</a:t>
            </a:r>
            <a:endParaRPr lang="en-US" sz="1950" dirty="0"/>
          </a:p>
        </p:txBody>
      </p:sp>
      <p:sp>
        <p:nvSpPr>
          <p:cNvPr id="4" name="Text 2"/>
          <p:cNvSpPr/>
          <p:nvPr/>
        </p:nvSpPr>
        <p:spPr>
          <a:xfrm>
            <a:off x="1238250" y="1496568"/>
            <a:ext cx="17392650" cy="652264"/>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An NS record names a hostname, not a company</a:t>
            </a:r>
            <a:endParaRPr lang="en-US" sz="4650" dirty="0"/>
          </a:p>
        </p:txBody>
      </p:sp>
      <p:sp>
        <p:nvSpPr>
          <p:cNvPr id="6" name="Text 4"/>
          <p:cNvSpPr/>
          <p:nvPr/>
        </p:nvSpPr>
        <p:spPr>
          <a:xfrm>
            <a:off x="771718" y="3042424"/>
            <a:ext cx="17087074" cy="2257541"/>
          </a:xfrm>
          <a:prstGeom prst="rect">
            <a:avLst/>
          </a:prstGeom>
          <a:noFill/>
          <a:ln/>
        </p:spPr>
        <p:txBody>
          <a:bodyPr wrap="square" lIns="25400" tIns="25400" rIns="25400" bIns="25400" rtlCol="0" anchor="t">
            <a:spAutoFit/>
          </a:bodyPr>
          <a:lstStyle/>
          <a:p>
            <a:pPr marL="333375" indent="-333375" algn="l">
              <a:lnSpc>
                <a:spcPct val="140000"/>
              </a:lnSpc>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Provider = registrable domain of NS host: </a:t>
            </a:r>
            <a:r>
              <a:rPr lang="en-US" sz="3200" dirty="0">
                <a:solidFill>
                  <a:srgbClr val="343A40"/>
                </a:solidFill>
                <a:latin typeface="Roboto Mono" pitchFamily="34" charset="0"/>
                <a:ea typeface="Arial" pitchFamily="34" charset="-122"/>
                <a:cs typeface="Arial" pitchFamily="34" charset="-120"/>
              </a:rPr>
              <a:t>ns1.cloudflare.com</a:t>
            </a:r>
            <a:r>
              <a:rPr lang="en-US" sz="3200" dirty="0">
                <a:solidFill>
                  <a:srgbClr val="343A40"/>
                </a:solidFill>
                <a:latin typeface="Arial" pitchFamily="34" charset="0"/>
                <a:ea typeface="Arial" pitchFamily="34" charset="-122"/>
                <a:cs typeface="Arial" pitchFamily="34" charset="-120"/>
              </a:rPr>
              <a:t> → </a:t>
            </a:r>
            <a:r>
              <a:rPr lang="en-US" sz="3200" dirty="0">
                <a:solidFill>
                  <a:srgbClr val="343A40"/>
                </a:solidFill>
                <a:latin typeface="Roboto Mono" pitchFamily="34" charset="0"/>
                <a:ea typeface="Arial" pitchFamily="34" charset="-122"/>
                <a:cs typeface="Arial" pitchFamily="34" charset="-120"/>
              </a:rPr>
              <a:t>cloudflare.com</a:t>
            </a:r>
            <a:r>
              <a:rPr lang="en-US" sz="3200" dirty="0">
                <a:solidFill>
                  <a:srgbClr val="343A40"/>
                </a:solidFill>
                <a:latin typeface="Arial" pitchFamily="34" charset="0"/>
                <a:ea typeface="Arial" pitchFamily="34" charset="-122"/>
                <a:cs typeface="Arial" pitchFamily="34" charset="-120"/>
              </a:rPr>
              <a:t>.</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Use </a:t>
            </a:r>
            <a:r>
              <a:rPr lang="en-US" sz="3200" dirty="0">
                <a:solidFill>
                  <a:srgbClr val="343A40"/>
                </a:solidFill>
                <a:latin typeface="Roboto Mono" pitchFamily="34" charset="0"/>
                <a:ea typeface="Arial" pitchFamily="34" charset="-122"/>
                <a:cs typeface="Arial" pitchFamily="34" charset="-120"/>
              </a:rPr>
              <a:t>tldextract</a:t>
            </a:r>
            <a:r>
              <a:rPr lang="en-US" sz="3200" dirty="0">
                <a:solidFill>
                  <a:srgbClr val="343A40"/>
                </a:solidFill>
                <a:latin typeface="Arial" pitchFamily="34" charset="0"/>
                <a:ea typeface="Arial" pitchFamily="34" charset="-122"/>
                <a:cs typeface="Arial" pitchFamily="34" charset="-120"/>
              </a:rPr>
              <a:t>, not string-splitting — </a:t>
            </a:r>
            <a:r>
              <a:rPr lang="en-US" sz="3200" dirty="0">
                <a:solidFill>
                  <a:srgbClr val="343A40"/>
                </a:solidFill>
                <a:latin typeface="Roboto Mono" pitchFamily="34" charset="0"/>
                <a:ea typeface="Arial" pitchFamily="34" charset="-122"/>
                <a:cs typeface="Arial" pitchFamily="34" charset="-120"/>
              </a:rPr>
              <a:t>co.uk</a:t>
            </a:r>
            <a:r>
              <a:rPr lang="en-US" sz="3200" dirty="0">
                <a:solidFill>
                  <a:srgbClr val="343A40"/>
                </a:solidFill>
                <a:latin typeface="Arial" pitchFamily="34" charset="0"/>
                <a:ea typeface="Arial" pitchFamily="34" charset="-122"/>
                <a:cs typeface="Arial" pitchFamily="34" charset="-120"/>
              </a:rPr>
              <a:t> is a public suffix, not a registrable domain.</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Watch the </a:t>
            </a:r>
            <a:r>
              <a:rPr lang="en-US" sz="3200" dirty="0">
                <a:solidFill>
                  <a:srgbClr val="343A40"/>
                </a:solidFill>
                <a:latin typeface="Roboto Mono" pitchFamily="34" charset="0"/>
                <a:ea typeface="Arial" pitchFamily="34" charset="-122"/>
                <a:cs typeface="Arial" pitchFamily="34" charset="-120"/>
              </a:rPr>
              <a:t>awsdns-</a:t>
            </a:r>
            <a:r>
              <a:rPr lang="en-US" sz="3200" dirty="0">
                <a:solidFill>
                  <a:srgbClr val="343A40"/>
                </a:solidFill>
                <a:latin typeface="Arial" pitchFamily="34" charset="0"/>
                <a:ea typeface="Arial" pitchFamily="34" charset="-122"/>
                <a:cs typeface="Arial" pitchFamily="34" charset="-120"/>
              </a:rPr>
              <a:t> trap: four NS hostnames across different TLDs, one provider.</a:t>
            </a:r>
            <a:endParaRPr lang="en-US" sz="3200" dirty="0"/>
          </a:p>
        </p:txBody>
      </p:sp>
      <p:sp>
        <p:nvSpPr>
          <p:cNvPr id="12" name="Text 9"/>
          <p:cNvSpPr/>
          <p:nvPr/>
        </p:nvSpPr>
        <p:spPr>
          <a:xfrm>
            <a:off x="11178072" y="6568751"/>
            <a:ext cx="3732245" cy="1528624"/>
          </a:xfrm>
          <a:prstGeom prst="rect">
            <a:avLst/>
          </a:prstGeom>
          <a:noFill/>
          <a:ln/>
        </p:spPr>
        <p:txBody>
          <a:bodyPr wrap="square" lIns="25400" tIns="25400" rIns="25400" bIns="25400" rtlCol="0" anchor="t">
            <a:spAutoFit/>
          </a:bodyPr>
          <a:lstStyle/>
          <a:p>
            <a:r>
              <a:rPr sz="2400" dirty="0">
                <a:latin typeface="Arial"/>
              </a:rPr>
              <a:t>Provider attribution = public-suffix-aware registrable-domain extraction.</a:t>
            </a:r>
          </a:p>
        </p:txBody>
      </p:sp>
      <p:sp>
        <p:nvSpPr>
          <p:cNvPr id="13" name="Text 10"/>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pic>
        <p:nvPicPr>
          <p:cNvPr id="15" name="Picture 14" descr="a07_extraction_chain.png"/>
          <p:cNvPicPr>
            <a:picLocks noChangeAspect="1"/>
          </p:cNvPicPr>
          <p:nvPr/>
        </p:nvPicPr>
        <p:blipFill>
          <a:blip r:embed="rId3"/>
          <a:stretch>
            <a:fillRect/>
          </a:stretch>
        </p:blipFill>
        <p:spPr>
          <a:xfrm>
            <a:off x="1026597" y="6027575"/>
            <a:ext cx="9185371" cy="24837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WHO RUNS IT · CONCENTRATION</a:t>
            </a:r>
            <a:endParaRPr lang="en-US" sz="1950" dirty="0"/>
          </a:p>
        </p:txBody>
      </p:sp>
      <p:sp>
        <p:nvSpPr>
          <p:cNvPr id="4" name="Text 2"/>
          <p:cNvSpPr/>
          <p:nvPr/>
        </p:nvSpPr>
        <p:spPr>
          <a:xfrm>
            <a:off x="1238250" y="1496568"/>
            <a:ext cx="17392650" cy="652264"/>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Measuring concentration: the HHI</a:t>
            </a:r>
            <a:endParaRPr lang="en-US" sz="4650" dirty="0"/>
          </a:p>
        </p:txBody>
      </p:sp>
      <p:sp>
        <p:nvSpPr>
          <p:cNvPr id="6" name="Text 4"/>
          <p:cNvSpPr/>
          <p:nvPr/>
        </p:nvSpPr>
        <p:spPr>
          <a:xfrm>
            <a:off x="1200927" y="2631877"/>
            <a:ext cx="15855432" cy="2257541"/>
          </a:xfrm>
          <a:prstGeom prst="rect">
            <a:avLst/>
          </a:prstGeom>
          <a:noFill/>
          <a:ln/>
        </p:spPr>
        <p:txBody>
          <a:bodyPr wrap="square" lIns="25400" tIns="25400" rIns="25400" bIns="25400" rtlCol="0" anchor="t">
            <a:spAutoFit/>
          </a:bodyPr>
          <a:lstStyle/>
          <a:p>
            <a:pPr marL="333375" indent="-333375" algn="l">
              <a:lnSpc>
                <a:spcPct val="140000"/>
              </a:lnSpc>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Take each provider's market share, square it, sum across all providers — that's HHI.</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Bands: near 0 competitive, above 0.25 concentrated, 1.0 a single-provider monopoly.</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One number for how much the namespace leans on a few operators.</a:t>
            </a:r>
            <a:endParaRPr lang="en-US" sz="3200" dirty="0"/>
          </a:p>
        </p:txBody>
      </p:sp>
      <p:sp>
        <p:nvSpPr>
          <p:cNvPr id="12" name="Text 9"/>
          <p:cNvSpPr/>
          <p:nvPr/>
        </p:nvSpPr>
        <p:spPr>
          <a:xfrm>
            <a:off x="1364437" y="6382139"/>
            <a:ext cx="3954012" cy="2021066"/>
          </a:xfrm>
          <a:prstGeom prst="rect">
            <a:avLst/>
          </a:prstGeom>
          <a:noFill/>
          <a:ln/>
        </p:spPr>
        <p:txBody>
          <a:bodyPr wrap="square" lIns="25400" tIns="25400" rIns="25400" bIns="25400" rtlCol="0" anchor="t">
            <a:spAutoFit/>
          </a:bodyPr>
          <a:lstStyle/>
          <a:p>
            <a:r>
              <a:rPr sz="3200" i="1" dirty="0">
                <a:latin typeface="Arial"/>
              </a:rPr>
              <a:t>HHI = </a:t>
            </a:r>
            <a:r>
              <a:rPr sz="3200" i="1" dirty="0" err="1">
                <a:latin typeface="Arial"/>
              </a:rPr>
              <a:t>Σ</a:t>
            </a:r>
            <a:r>
              <a:rPr sz="3200" i="1" dirty="0">
                <a:latin typeface="Arial"/>
              </a:rPr>
              <a:t>(share²). A dependency metric, not just an economics one.</a:t>
            </a:r>
          </a:p>
        </p:txBody>
      </p:sp>
      <p:sp>
        <p:nvSpPr>
          <p:cNvPr id="13" name="Text 10"/>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pic>
        <p:nvPicPr>
          <p:cNvPr id="15" name="Picture 14" descr="a08_hhi_scale.png"/>
          <p:cNvPicPr>
            <a:picLocks noChangeAspect="1"/>
          </p:cNvPicPr>
          <p:nvPr/>
        </p:nvPicPr>
        <p:blipFill>
          <a:blip r:embed="rId3"/>
          <a:stretch>
            <a:fillRect/>
          </a:stretch>
        </p:blipFill>
        <p:spPr>
          <a:xfrm>
            <a:off x="4646644" y="5160103"/>
            <a:ext cx="13459019" cy="389176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CASE STUDY</a:t>
            </a:r>
            <a:endParaRPr lang="en-US" sz="1950" dirty="0"/>
          </a:p>
        </p:txBody>
      </p:sp>
      <p:sp>
        <p:nvSpPr>
          <p:cNvPr id="4" name="Text 2"/>
          <p:cNvSpPr/>
          <p:nvPr/>
        </p:nvSpPr>
        <p:spPr>
          <a:xfrm>
            <a:off x="1238250" y="1496568"/>
            <a:ext cx="17392650" cy="652264"/>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Dyn DDoS — October 21, 2016</a:t>
            </a:r>
            <a:endParaRPr lang="en-US" sz="4650" dirty="0"/>
          </a:p>
        </p:txBody>
      </p:sp>
      <p:sp>
        <p:nvSpPr>
          <p:cNvPr id="6" name="Text 4"/>
          <p:cNvSpPr/>
          <p:nvPr/>
        </p:nvSpPr>
        <p:spPr>
          <a:xfrm>
            <a:off x="715736" y="3215823"/>
            <a:ext cx="8334958" cy="1345689"/>
          </a:xfrm>
          <a:prstGeom prst="rect">
            <a:avLst/>
          </a:prstGeom>
          <a:noFill/>
          <a:ln/>
        </p:spPr>
        <p:txBody>
          <a:bodyPr wrap="square" lIns="25400" tIns="25400" rIns="25400" bIns="25400" rtlCol="0" anchor="t">
            <a:spAutoFit/>
          </a:bodyPr>
          <a:lstStyle/>
          <a:p>
            <a:pPr marL="0" indent="0" algn="l">
              <a:lnSpc>
                <a:spcPct val="138000"/>
              </a:lnSpc>
              <a:buNone/>
            </a:pPr>
            <a:r>
              <a:rPr lang="en-US" sz="3200" dirty="0">
                <a:solidFill>
                  <a:srgbClr val="343A40"/>
                </a:solidFill>
                <a:latin typeface="Arial" pitchFamily="34" charset="0"/>
                <a:ea typeface="Arial" pitchFamily="34" charset="-122"/>
                <a:cs typeface="Arial" pitchFamily="34" charset="-120"/>
              </a:rPr>
              <a:t>Many high-profile domains (Twitter, GitHub, Reddit) used Dyn as their sole DNS provider.</a:t>
            </a:r>
            <a:endParaRPr lang="en-US" sz="3200" dirty="0"/>
          </a:p>
        </p:txBody>
      </p:sp>
      <p:sp>
        <p:nvSpPr>
          <p:cNvPr id="8" name="Text 6"/>
          <p:cNvSpPr/>
          <p:nvPr/>
        </p:nvSpPr>
        <p:spPr>
          <a:xfrm>
            <a:off x="734397" y="5152734"/>
            <a:ext cx="8670861" cy="1345689"/>
          </a:xfrm>
          <a:prstGeom prst="rect">
            <a:avLst/>
          </a:prstGeom>
          <a:noFill/>
          <a:ln/>
        </p:spPr>
        <p:txBody>
          <a:bodyPr wrap="square" lIns="25400" tIns="25400" rIns="25400" bIns="25400" rtlCol="0" anchor="t">
            <a:spAutoFit/>
          </a:bodyPr>
          <a:lstStyle/>
          <a:p>
            <a:pPr marL="0" indent="0" algn="l">
              <a:lnSpc>
                <a:spcPct val="138000"/>
              </a:lnSpc>
              <a:buNone/>
            </a:pPr>
            <a:r>
              <a:rPr lang="en-US" sz="3200" dirty="0">
                <a:solidFill>
                  <a:srgbClr val="343A40"/>
                </a:solidFill>
                <a:latin typeface="Arial" pitchFamily="34" charset="0"/>
                <a:ea typeface="Arial" pitchFamily="34" charset="-122"/>
                <a:cs typeface="Arial" pitchFamily="34" charset="-120"/>
              </a:rPr>
              <a:t>A Mirai-botnet DDoS flooded Dyn's authoritative servers, and resolution for its customers failed.</a:t>
            </a:r>
            <a:endParaRPr lang="en-US" sz="3200" dirty="0"/>
          </a:p>
        </p:txBody>
      </p:sp>
      <p:sp>
        <p:nvSpPr>
          <p:cNvPr id="10" name="Text 8"/>
          <p:cNvSpPr/>
          <p:nvPr/>
        </p:nvSpPr>
        <p:spPr>
          <a:xfrm>
            <a:off x="641089" y="7033660"/>
            <a:ext cx="9753211" cy="1345689"/>
          </a:xfrm>
          <a:prstGeom prst="rect">
            <a:avLst/>
          </a:prstGeom>
          <a:noFill/>
          <a:ln/>
        </p:spPr>
        <p:txBody>
          <a:bodyPr wrap="square" lIns="25400" tIns="25400" rIns="25400" bIns="25400" rtlCol="0" anchor="t">
            <a:spAutoFit/>
          </a:bodyPr>
          <a:lstStyle/>
          <a:p>
            <a:pPr marL="0" indent="0" algn="l">
              <a:lnSpc>
                <a:spcPct val="138000"/>
              </a:lnSpc>
              <a:buNone/>
            </a:pPr>
            <a:r>
              <a:rPr lang="en-US" sz="3200" dirty="0">
                <a:solidFill>
                  <a:srgbClr val="343A40"/>
                </a:solidFill>
                <a:latin typeface="Arial" pitchFamily="34" charset="0"/>
                <a:ea typeface="Arial" pitchFamily="34" charset="-122"/>
                <a:cs typeface="Arial" pitchFamily="34" charset="-120"/>
              </a:rPr>
              <a:t>Single-provider domains went dark for hours. </a:t>
            </a:r>
          </a:p>
          <a:p>
            <a:pPr marL="0" indent="0" algn="l">
              <a:lnSpc>
                <a:spcPct val="138000"/>
              </a:lnSpc>
              <a:buNone/>
            </a:pPr>
            <a:r>
              <a:rPr lang="en-US" sz="3200" dirty="0">
                <a:solidFill>
                  <a:srgbClr val="343A40"/>
                </a:solidFill>
                <a:latin typeface="Arial" pitchFamily="34" charset="0"/>
                <a:ea typeface="Arial" pitchFamily="34" charset="-122"/>
                <a:cs typeface="Arial" pitchFamily="34" charset="-120"/>
              </a:rPr>
              <a:t>The failure axis was provider diversity, not NS count.</a:t>
            </a:r>
            <a:endParaRPr lang="en-US" sz="3200" dirty="0"/>
          </a:p>
        </p:txBody>
      </p:sp>
      <p:sp>
        <p:nvSpPr>
          <p:cNvPr id="14" name="Text 12"/>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pic>
        <p:nvPicPr>
          <p:cNvPr id="11" name="Picture 10" descr="level3_outage_map__us__-_21_october_2016">
            <a:extLst>
              <a:ext uri="{FF2B5EF4-FFF2-40B4-BE49-F238E27FC236}">
                <a16:creationId xmlns:a16="http://schemas.microsoft.com/office/drawing/2014/main" id="{C190C8D5-D33B-F6C8-CB39-1978C78A3553}"/>
              </a:ext>
            </a:extLst>
          </p:cNvPr>
          <p:cNvPicPr>
            <a:picLocks noChangeAspect="1"/>
          </p:cNvPicPr>
          <p:nvPr/>
        </p:nvPicPr>
        <p:blipFill>
          <a:blip r:embed="rId3"/>
          <a:stretch>
            <a:fillRect/>
          </a:stretch>
        </p:blipFill>
        <p:spPr>
          <a:xfrm>
            <a:off x="10381860" y="2794000"/>
            <a:ext cx="7620000" cy="5384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WHO RUNS IT · RESILIENCE</a:t>
            </a:r>
            <a:endParaRPr lang="en-US" sz="1950" dirty="0"/>
          </a:p>
        </p:txBody>
      </p:sp>
      <p:sp>
        <p:nvSpPr>
          <p:cNvPr id="4" name="Text 2"/>
          <p:cNvSpPr/>
          <p:nvPr/>
        </p:nvSpPr>
        <p:spPr>
          <a:xfrm>
            <a:off x="1238250" y="1496568"/>
            <a:ext cx="17392650" cy="652264"/>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Two different axes of resilience</a:t>
            </a:r>
            <a:endParaRPr lang="en-US" sz="4650" dirty="0"/>
          </a:p>
        </p:txBody>
      </p:sp>
      <p:sp>
        <p:nvSpPr>
          <p:cNvPr id="6" name="Text 4"/>
          <p:cNvSpPr/>
          <p:nvPr/>
        </p:nvSpPr>
        <p:spPr>
          <a:xfrm>
            <a:off x="1175657" y="2743199"/>
            <a:ext cx="8789437" cy="3636380"/>
          </a:xfrm>
          <a:prstGeom prst="rect">
            <a:avLst/>
          </a:prstGeom>
          <a:noFill/>
          <a:ln/>
        </p:spPr>
        <p:txBody>
          <a:bodyPr wrap="square" lIns="25400" tIns="25400" rIns="25400" bIns="25400" rtlCol="0" anchor="t">
            <a:spAutoFit/>
          </a:bodyPr>
          <a:lstStyle/>
          <a:p>
            <a:pPr marL="333375" indent="-333375" algn="l">
              <a:lnSpc>
                <a:spcPct val="140000"/>
              </a:lnSpc>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NS server count: RFC 1034 wants every zone on ≥2 nameservers — baseline redundancy.</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Provider diversity: </a:t>
            </a:r>
            <a:r>
              <a:rPr lang="en-US" sz="3200" dirty="0">
                <a:solidFill>
                  <a:srgbClr val="343A40"/>
                </a:solidFill>
                <a:latin typeface="Roboto Mono" pitchFamily="34" charset="0"/>
                <a:ea typeface="Arial" pitchFamily="34" charset="-122"/>
                <a:cs typeface="Arial" pitchFamily="34" charset="-120"/>
              </a:rPr>
              <a:t>ns1</a:t>
            </a:r>
            <a:r>
              <a:rPr lang="en-US" sz="3200" dirty="0">
                <a:solidFill>
                  <a:srgbClr val="343A40"/>
                </a:solidFill>
                <a:latin typeface="Arial" pitchFamily="34" charset="0"/>
                <a:ea typeface="Arial" pitchFamily="34" charset="-122"/>
                <a:cs typeface="Arial" pitchFamily="34" charset="-120"/>
              </a:rPr>
              <a:t>–</a:t>
            </a:r>
            <a:r>
              <a:rPr lang="en-US" sz="3200" dirty="0">
                <a:solidFill>
                  <a:srgbClr val="343A40"/>
                </a:solidFill>
                <a:latin typeface="Roboto Mono" pitchFamily="34" charset="0"/>
                <a:ea typeface="Arial" pitchFamily="34" charset="-122"/>
                <a:cs typeface="Arial" pitchFamily="34" charset="-120"/>
              </a:rPr>
              <a:t>ns4</a:t>
            </a:r>
            <a:r>
              <a:rPr lang="en-US" sz="3200" dirty="0">
                <a:solidFill>
                  <a:srgbClr val="343A40"/>
                </a:solidFill>
                <a:latin typeface="Arial" pitchFamily="34" charset="0"/>
                <a:ea typeface="Arial" pitchFamily="34" charset="-122"/>
                <a:cs typeface="Arial" pitchFamily="34" charset="-120"/>
              </a:rPr>
              <a:t> from one provider is still one dependency.</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Dyn failed on the second axis, not the first.</a:t>
            </a:r>
            <a:endParaRPr lang="en-US" sz="3200" dirty="0"/>
          </a:p>
        </p:txBody>
      </p:sp>
      <p:sp>
        <p:nvSpPr>
          <p:cNvPr id="12" name="Text 9"/>
          <p:cNvSpPr/>
          <p:nvPr/>
        </p:nvSpPr>
        <p:spPr>
          <a:xfrm>
            <a:off x="11215396" y="7643788"/>
            <a:ext cx="6435413" cy="1528624"/>
          </a:xfrm>
          <a:prstGeom prst="rect">
            <a:avLst/>
          </a:prstGeom>
          <a:noFill/>
          <a:ln/>
        </p:spPr>
        <p:txBody>
          <a:bodyPr wrap="square" lIns="25400" tIns="25400" rIns="25400" bIns="25400" rtlCol="0" anchor="t">
            <a:spAutoFit/>
          </a:bodyPr>
          <a:lstStyle/>
          <a:p>
            <a:r>
              <a:rPr sz="3200" i="1" dirty="0">
                <a:latin typeface="Arial"/>
              </a:rPr>
              <a:t>Server count vs provider diversity</a:t>
            </a:r>
            <a:r>
              <a:rPr lang="en-US" sz="3200" i="1" dirty="0">
                <a:latin typeface="Arial"/>
              </a:rPr>
              <a:t>:</a:t>
            </a:r>
            <a:r>
              <a:rPr sz="3200" i="1" dirty="0">
                <a:latin typeface="Arial"/>
              </a:rPr>
              <a:t> </a:t>
            </a:r>
            <a:endParaRPr lang="en-US" sz="3200" i="1" dirty="0">
              <a:latin typeface="Arial"/>
            </a:endParaRPr>
          </a:p>
          <a:p>
            <a:r>
              <a:rPr sz="3200" i="1" dirty="0">
                <a:latin typeface="Arial"/>
              </a:rPr>
              <a:t>a domain can be strong on one and fragile on the other.</a:t>
            </a:r>
          </a:p>
        </p:txBody>
      </p:sp>
      <p:sp>
        <p:nvSpPr>
          <p:cNvPr id="13" name="Text 10"/>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pic>
        <p:nvPicPr>
          <p:cNvPr id="15" name="Picture 14" descr="a10_redundancy_quadrant.png"/>
          <p:cNvPicPr>
            <a:picLocks noChangeAspect="1"/>
          </p:cNvPicPr>
          <p:nvPr/>
        </p:nvPicPr>
        <p:blipFill>
          <a:blip r:embed="rId3"/>
          <a:stretch>
            <a:fillRect/>
          </a:stretch>
        </p:blipFill>
        <p:spPr>
          <a:xfrm>
            <a:off x="10485047" y="1791478"/>
            <a:ext cx="6747394" cy="53979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WHO RUNS IT · SOA TIMING</a:t>
            </a:r>
            <a:endParaRPr lang="en-US" sz="1950" dirty="0"/>
          </a:p>
        </p:txBody>
      </p:sp>
      <p:sp>
        <p:nvSpPr>
          <p:cNvPr id="4" name="Text 2"/>
          <p:cNvSpPr/>
          <p:nvPr/>
        </p:nvSpPr>
        <p:spPr>
          <a:xfrm>
            <a:off x="1238250" y="1496568"/>
            <a:ext cx="17392650" cy="652264"/>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SOA timing governs how long failure lasts</a:t>
            </a:r>
            <a:endParaRPr lang="en-US" sz="4650" dirty="0"/>
          </a:p>
        </p:txBody>
      </p:sp>
      <p:sp>
        <p:nvSpPr>
          <p:cNvPr id="6" name="Text 4"/>
          <p:cNvSpPr/>
          <p:nvPr/>
        </p:nvSpPr>
        <p:spPr>
          <a:xfrm>
            <a:off x="734395" y="3005101"/>
            <a:ext cx="17199041" cy="2257541"/>
          </a:xfrm>
          <a:prstGeom prst="rect">
            <a:avLst/>
          </a:prstGeom>
          <a:noFill/>
          <a:ln/>
        </p:spPr>
        <p:txBody>
          <a:bodyPr wrap="square" lIns="25400" tIns="25400" rIns="25400" bIns="25400" rtlCol="0" anchor="t">
            <a:spAutoFit/>
          </a:bodyPr>
          <a:lstStyle/>
          <a:p>
            <a:pPr marL="333375" indent="-333375" algn="l">
              <a:lnSpc>
                <a:spcPct val="140000"/>
              </a:lnSpc>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The </a:t>
            </a:r>
            <a:r>
              <a:rPr lang="en-US" sz="3200" dirty="0">
                <a:solidFill>
                  <a:srgbClr val="343A40"/>
                </a:solidFill>
                <a:latin typeface="Roboto Mono" pitchFamily="34" charset="0"/>
                <a:ea typeface="Arial" pitchFamily="34" charset="-122"/>
                <a:cs typeface="Arial" pitchFamily="34" charset="-120"/>
              </a:rPr>
              <a:t>SOA</a:t>
            </a:r>
            <a:r>
              <a:rPr lang="en-US" sz="3200" dirty="0">
                <a:solidFill>
                  <a:srgbClr val="343A40"/>
                </a:solidFill>
                <a:latin typeface="Arial" pitchFamily="34" charset="0"/>
                <a:ea typeface="Arial" pitchFamily="34" charset="-122"/>
                <a:cs typeface="Arial" pitchFamily="34" charset="-120"/>
              </a:rPr>
              <a:t> record sets refresh / retry / expire / minimum for the zone's secondaries.</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A short </a:t>
            </a:r>
            <a:r>
              <a:rPr lang="en-US" sz="3200" dirty="0">
                <a:solidFill>
                  <a:srgbClr val="343A40"/>
                </a:solidFill>
                <a:latin typeface="Roboto Mono" pitchFamily="34" charset="0"/>
                <a:ea typeface="Arial" pitchFamily="34" charset="-122"/>
                <a:cs typeface="Arial" pitchFamily="34" charset="-120"/>
              </a:rPr>
              <a:t>expire</a:t>
            </a:r>
            <a:r>
              <a:rPr lang="en-US" sz="3200" dirty="0">
                <a:solidFill>
                  <a:srgbClr val="343A40"/>
                </a:solidFill>
                <a:latin typeface="Arial" pitchFamily="34" charset="0"/>
                <a:ea typeface="Arial" pitchFamily="34" charset="-122"/>
                <a:cs typeface="Arial" pitchFamily="34" charset="-120"/>
              </a:rPr>
              <a:t> strands a zone when the primary is down for longer than that window.</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A long </a:t>
            </a:r>
            <a:r>
              <a:rPr lang="en-US" sz="3200" dirty="0">
                <a:solidFill>
                  <a:srgbClr val="343A40"/>
                </a:solidFill>
                <a:latin typeface="Roboto Mono" pitchFamily="34" charset="0"/>
                <a:ea typeface="Arial" pitchFamily="34" charset="-122"/>
                <a:cs typeface="Arial" pitchFamily="34" charset="-120"/>
              </a:rPr>
              <a:t>minimum</a:t>
            </a:r>
            <a:r>
              <a:rPr lang="en-US" sz="3200" dirty="0">
                <a:solidFill>
                  <a:srgbClr val="343A40"/>
                </a:solidFill>
                <a:latin typeface="Arial" pitchFamily="34" charset="0"/>
                <a:ea typeface="Arial" pitchFamily="34" charset="-122"/>
                <a:cs typeface="Arial" pitchFamily="34" charset="-120"/>
              </a:rPr>
              <a:t> keeps resolvers caching a negative answer well after the fix.</a:t>
            </a:r>
            <a:endParaRPr lang="en-US" sz="3200" dirty="0"/>
          </a:p>
        </p:txBody>
      </p:sp>
      <p:sp>
        <p:nvSpPr>
          <p:cNvPr id="12" name="Text 9"/>
          <p:cNvSpPr/>
          <p:nvPr/>
        </p:nvSpPr>
        <p:spPr>
          <a:xfrm>
            <a:off x="12764277" y="6792686"/>
            <a:ext cx="4737242" cy="1528624"/>
          </a:xfrm>
          <a:prstGeom prst="rect">
            <a:avLst/>
          </a:prstGeom>
          <a:noFill/>
          <a:ln/>
        </p:spPr>
        <p:txBody>
          <a:bodyPr wrap="square" lIns="25400" tIns="25400" rIns="25400" bIns="25400" rtlCol="0" anchor="t">
            <a:spAutoFit/>
          </a:bodyPr>
          <a:lstStyle/>
          <a:p>
            <a:r>
              <a:rPr sz="3200" i="1" dirty="0">
                <a:latin typeface="Arial"/>
              </a:rPr>
              <a:t>The same knobs that tune load can extend or shorten an outage.</a:t>
            </a:r>
          </a:p>
        </p:txBody>
      </p:sp>
      <p:sp>
        <p:nvSpPr>
          <p:cNvPr id="13" name="Text 10"/>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pic>
        <p:nvPicPr>
          <p:cNvPr id="15" name="Picture 14" descr="a11_expire_timeline.png"/>
          <p:cNvPicPr>
            <a:picLocks noChangeAspect="1"/>
          </p:cNvPicPr>
          <p:nvPr/>
        </p:nvPicPr>
        <p:blipFill>
          <a:blip r:embed="rId3"/>
          <a:stretch>
            <a:fillRect/>
          </a:stretch>
        </p:blipFill>
        <p:spPr>
          <a:xfrm>
            <a:off x="301450" y="5505061"/>
            <a:ext cx="11816868" cy="3657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WHO RUNS IT · ANYCAST</a:t>
            </a:r>
            <a:endParaRPr lang="en-US" sz="1950" dirty="0"/>
          </a:p>
        </p:txBody>
      </p:sp>
      <p:sp>
        <p:nvSpPr>
          <p:cNvPr id="4" name="Text 2"/>
          <p:cNvSpPr/>
          <p:nvPr/>
        </p:nvSpPr>
        <p:spPr>
          <a:xfrm>
            <a:off x="1238250" y="1496568"/>
            <a:ext cx="17392650" cy="652264"/>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Anycast: one address, many locations</a:t>
            </a:r>
            <a:endParaRPr lang="en-US" sz="4650" dirty="0"/>
          </a:p>
        </p:txBody>
      </p:sp>
      <p:sp>
        <p:nvSpPr>
          <p:cNvPr id="6" name="Text 4"/>
          <p:cNvSpPr/>
          <p:nvPr/>
        </p:nvSpPr>
        <p:spPr>
          <a:xfrm>
            <a:off x="1200928" y="3471632"/>
            <a:ext cx="8721566" cy="4325800"/>
          </a:xfrm>
          <a:prstGeom prst="rect">
            <a:avLst/>
          </a:prstGeom>
          <a:noFill/>
          <a:ln/>
        </p:spPr>
        <p:txBody>
          <a:bodyPr wrap="square" lIns="25400" tIns="25400" rIns="25400" bIns="25400" rtlCol="0" anchor="t">
            <a:spAutoFit/>
          </a:bodyPr>
          <a:lstStyle/>
          <a:p>
            <a:pPr marL="333375" indent="-333375" algn="l">
              <a:lnSpc>
                <a:spcPct val="140000"/>
              </a:lnSpc>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One IP announced into BGP from many sites; each client routes to the nearest instance.</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How root servers and big DNS providers absorb global load and DDoS.</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Detecting it needs active measurement — invisible in the records alone.</a:t>
            </a:r>
            <a:endParaRPr lang="en-US" sz="3200" dirty="0"/>
          </a:p>
        </p:txBody>
      </p:sp>
      <p:sp>
        <p:nvSpPr>
          <p:cNvPr id="12" name="Text 9"/>
          <p:cNvSpPr/>
          <p:nvPr/>
        </p:nvSpPr>
        <p:spPr>
          <a:xfrm>
            <a:off x="11012289" y="7587805"/>
            <a:ext cx="5948055" cy="1528624"/>
          </a:xfrm>
          <a:prstGeom prst="rect">
            <a:avLst/>
          </a:prstGeom>
          <a:noFill/>
          <a:ln/>
        </p:spPr>
        <p:txBody>
          <a:bodyPr wrap="square" lIns="25400" tIns="25400" rIns="25400" bIns="25400" rtlCol="0" anchor="t">
            <a:spAutoFit/>
          </a:bodyPr>
          <a:lstStyle/>
          <a:p>
            <a:r>
              <a:rPr sz="3200" i="1" dirty="0">
                <a:latin typeface="Arial"/>
              </a:rPr>
              <a:t>The same address served from everywhere — </a:t>
            </a:r>
            <a:r>
              <a:rPr lang="en-US" sz="3200" i="1" dirty="0">
                <a:latin typeface="Arial"/>
              </a:rPr>
              <a:t>a</a:t>
            </a:r>
            <a:r>
              <a:rPr sz="3200" i="1" dirty="0">
                <a:latin typeface="Arial"/>
              </a:rPr>
              <a:t> scaling and resilience </a:t>
            </a:r>
            <a:r>
              <a:rPr lang="en-US" sz="3200" i="1" dirty="0">
                <a:latin typeface="Arial"/>
              </a:rPr>
              <a:t>mechanism</a:t>
            </a:r>
            <a:r>
              <a:rPr sz="3200" i="1" dirty="0">
                <a:latin typeface="Arial"/>
              </a:rPr>
              <a:t>.</a:t>
            </a:r>
          </a:p>
        </p:txBody>
      </p:sp>
      <p:sp>
        <p:nvSpPr>
          <p:cNvPr id="13" name="Text 10"/>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pic>
        <p:nvPicPr>
          <p:cNvPr id="15" name="Picture 14" descr="a12_anycast.png"/>
          <p:cNvPicPr>
            <a:picLocks noChangeAspect="1"/>
          </p:cNvPicPr>
          <p:nvPr/>
        </p:nvPicPr>
        <p:blipFill>
          <a:blip r:embed="rId3"/>
          <a:stretch>
            <a:fillRect/>
          </a:stretch>
        </p:blipFill>
        <p:spPr>
          <a:xfrm>
            <a:off x="9903127" y="2836506"/>
            <a:ext cx="7754667" cy="416813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B5187"/>
        </a:solidFill>
        <a:effectLst/>
      </p:bgPr>
    </p:bg>
    <p:spTree>
      <p:nvGrpSpPr>
        <p:cNvPr id="1" name=""/>
        <p:cNvGrpSpPr/>
        <p:nvPr/>
      </p:nvGrpSpPr>
      <p:grpSpPr>
        <a:xfrm>
          <a:off x="0" y="0"/>
          <a:ext cx="0" cy="0"/>
          <a:chOff x="0" y="0"/>
          <a:chExt cx="0" cy="0"/>
        </a:xfrm>
      </p:grpSpPr>
      <p:sp>
        <p:nvSpPr>
          <p:cNvPr id="5" name="Text 3"/>
          <p:cNvSpPr/>
          <p:nvPr/>
        </p:nvSpPr>
        <p:spPr>
          <a:xfrm>
            <a:off x="1238250" y="2190750"/>
            <a:ext cx="8098453" cy="317500"/>
          </a:xfrm>
          <a:prstGeom prst="rect">
            <a:avLst/>
          </a:prstGeom>
          <a:noFill/>
          <a:ln/>
        </p:spPr>
        <p:txBody>
          <a:bodyPr wrap="square" lIns="25400" tIns="25400" rIns="25400" bIns="25400" rtlCol="0" anchor="t">
            <a:spAutoFit/>
          </a:bodyPr>
          <a:lstStyle/>
          <a:p>
            <a:pPr marL="0" indent="0" algn="l">
              <a:buNone/>
            </a:pPr>
            <a:r>
              <a:rPr lang="en-US" sz="1950" b="1" kern="0" spc="351" dirty="0">
                <a:solidFill>
                  <a:srgbClr val="A9C2E4"/>
                </a:solidFill>
                <a:latin typeface="Arial" pitchFamily="34" charset="0"/>
                <a:ea typeface="Arial" pitchFamily="34" charset="-122"/>
                <a:cs typeface="Arial" pitchFamily="34" charset="-120"/>
              </a:rPr>
              <a:t>PART TWO</a:t>
            </a:r>
            <a:endParaRPr lang="en-US" sz="1950" dirty="0"/>
          </a:p>
        </p:txBody>
      </p:sp>
      <p:sp>
        <p:nvSpPr>
          <p:cNvPr id="6" name="Text 4"/>
          <p:cNvSpPr/>
          <p:nvPr/>
        </p:nvSpPr>
        <p:spPr>
          <a:xfrm>
            <a:off x="1238250" y="2565400"/>
            <a:ext cx="8098453" cy="1838325"/>
          </a:xfrm>
          <a:prstGeom prst="rect">
            <a:avLst/>
          </a:prstGeom>
          <a:noFill/>
          <a:ln/>
        </p:spPr>
        <p:txBody>
          <a:bodyPr wrap="square" lIns="25400" tIns="25400" rIns="25400" bIns="25400" rtlCol="0" anchor="t">
            <a:spAutoFit/>
          </a:bodyPr>
          <a:lstStyle/>
          <a:p>
            <a:pPr marL="0" indent="0" algn="l">
              <a:lnSpc>
                <a:spcPct val="90000"/>
              </a:lnSpc>
              <a:buNone/>
            </a:pPr>
            <a:r>
              <a:rPr lang="en-US" sz="15750" kern="0" spc="-315" dirty="0">
                <a:solidFill>
                  <a:srgbClr val="FFFFFF"/>
                </a:solidFill>
                <a:latin typeface="Arial" pitchFamily="34" charset="0"/>
                <a:ea typeface="Arial" pitchFamily="34" charset="-122"/>
                <a:cs typeface="Arial" pitchFamily="34" charset="-120"/>
              </a:rPr>
              <a:t>02</a:t>
            </a:r>
            <a:endParaRPr lang="en-US" sz="15750" dirty="0"/>
          </a:p>
        </p:txBody>
      </p:sp>
      <p:sp>
        <p:nvSpPr>
          <p:cNvPr id="7" name="Text 5"/>
          <p:cNvSpPr/>
          <p:nvPr/>
        </p:nvSpPr>
        <p:spPr>
          <a:xfrm>
            <a:off x="1238250" y="4613275"/>
            <a:ext cx="8098453" cy="678160"/>
          </a:xfrm>
          <a:prstGeom prst="rect">
            <a:avLst/>
          </a:prstGeom>
          <a:noFill/>
          <a:ln/>
        </p:spPr>
        <p:txBody>
          <a:bodyPr wrap="square" lIns="25400" tIns="25400" rIns="25400" bIns="25400" rtlCol="0" anchor="t">
            <a:spAutoFit/>
          </a:bodyPr>
          <a:lstStyle/>
          <a:p>
            <a:pPr marL="0" indent="0" algn="l">
              <a:lnSpc>
                <a:spcPct val="105000"/>
              </a:lnSpc>
              <a:buNone/>
            </a:pPr>
            <a:r>
              <a:rPr lang="en-US" sz="4800" kern="0" spc="-48" dirty="0">
                <a:solidFill>
                  <a:srgbClr val="FFFFFF"/>
                </a:solidFill>
                <a:latin typeface="Arial" pitchFamily="34" charset="0"/>
                <a:ea typeface="Arial" pitchFamily="34" charset="-122"/>
                <a:cs typeface="Arial" pitchFamily="34" charset="-120"/>
              </a:rPr>
              <a:t>Is the DNS secured?</a:t>
            </a:r>
            <a:endParaRPr lang="en-US" sz="4800" dirty="0"/>
          </a:p>
        </p:txBody>
      </p:sp>
      <p:sp>
        <p:nvSpPr>
          <p:cNvPr id="8" name="Text 6"/>
          <p:cNvSpPr/>
          <p:nvPr/>
        </p:nvSpPr>
        <p:spPr>
          <a:xfrm>
            <a:off x="1238250" y="5491098"/>
            <a:ext cx="10425015" cy="655051"/>
          </a:xfrm>
          <a:prstGeom prst="rect">
            <a:avLst/>
          </a:prstGeom>
          <a:noFill/>
          <a:ln/>
        </p:spPr>
        <p:txBody>
          <a:bodyPr wrap="square" lIns="25400" tIns="25400" rIns="25400" bIns="25400" rtlCol="0" anchor="t">
            <a:spAutoFit/>
          </a:bodyPr>
          <a:lstStyle/>
          <a:p>
            <a:pPr marL="0" indent="0" algn="l">
              <a:lnSpc>
                <a:spcPct val="135000"/>
              </a:lnSpc>
              <a:buNone/>
            </a:pPr>
            <a:r>
              <a:rPr lang="en-US" sz="3200" dirty="0">
                <a:solidFill>
                  <a:srgbClr val="A9C2E4"/>
                </a:solidFill>
                <a:latin typeface="Arial" pitchFamily="34" charset="0"/>
                <a:ea typeface="Arial" pitchFamily="34" charset="-122"/>
                <a:cs typeface="Arial" pitchFamily="34" charset="-120"/>
              </a:rPr>
              <a:t>Three mechanisms, three very different adoption curves.</a:t>
            </a:r>
            <a:endParaRPr lang="en-US"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IS IT SECURED · DNSSEC</a:t>
            </a:r>
            <a:endParaRPr lang="en-US" sz="1950" dirty="0"/>
          </a:p>
        </p:txBody>
      </p:sp>
      <p:sp>
        <p:nvSpPr>
          <p:cNvPr id="4" name="Text 2"/>
          <p:cNvSpPr/>
          <p:nvPr/>
        </p:nvSpPr>
        <p:spPr>
          <a:xfrm>
            <a:off x="1238250" y="1496568"/>
            <a:ext cx="17392650" cy="762260"/>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(1) DNSSEC adds the authentication DNS never had</a:t>
            </a:r>
            <a:endParaRPr lang="en-US" sz="4650" dirty="0"/>
          </a:p>
        </p:txBody>
      </p:sp>
      <p:sp>
        <p:nvSpPr>
          <p:cNvPr id="6" name="Text 4"/>
          <p:cNvSpPr/>
          <p:nvPr/>
        </p:nvSpPr>
        <p:spPr>
          <a:xfrm>
            <a:off x="951722" y="3489649"/>
            <a:ext cx="10039739" cy="3738972"/>
          </a:xfrm>
          <a:prstGeom prst="rect">
            <a:avLst/>
          </a:prstGeom>
          <a:noFill/>
          <a:ln/>
        </p:spPr>
        <p:txBody>
          <a:bodyPr wrap="square" lIns="25400" tIns="25400" rIns="25400" bIns="25400" rtlCol="0" anchor="t">
            <a:spAutoFit/>
          </a:bodyPr>
          <a:lstStyle/>
          <a:p>
            <a:pPr marL="333375" indent="-333375" algn="l">
              <a:lnSpc>
                <a:spcPct val="140000"/>
              </a:lnSpc>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DNS shipped with no way to verify an answer — anyone on-path could forge answer.</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DNSSEC signs records: </a:t>
            </a:r>
          </a:p>
          <a:p>
            <a:pPr marL="790575" lvl="1" indent="-333375">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root → TLD </a:t>
            </a:r>
            <a:r>
              <a:rPr lang="en-US" sz="3200" dirty="0">
                <a:solidFill>
                  <a:srgbClr val="343A40"/>
                </a:solidFill>
                <a:latin typeface="Roboto Mono" pitchFamily="34" charset="0"/>
                <a:ea typeface="Arial" pitchFamily="34" charset="-122"/>
                <a:cs typeface="Arial" pitchFamily="34" charset="-120"/>
              </a:rPr>
              <a:t>DS</a:t>
            </a:r>
            <a:r>
              <a:rPr lang="en-US" sz="3200" dirty="0">
                <a:solidFill>
                  <a:srgbClr val="343A40"/>
                </a:solidFill>
                <a:latin typeface="Arial" pitchFamily="34" charset="0"/>
                <a:ea typeface="Arial" pitchFamily="34" charset="-122"/>
                <a:cs typeface="Arial" pitchFamily="34" charset="-120"/>
              </a:rPr>
              <a:t> → your </a:t>
            </a:r>
            <a:r>
              <a:rPr lang="en-US" sz="3200" dirty="0">
                <a:solidFill>
                  <a:srgbClr val="343A40"/>
                </a:solidFill>
                <a:latin typeface="Roboto Mono" pitchFamily="34" charset="0"/>
                <a:ea typeface="Arial" pitchFamily="34" charset="-122"/>
                <a:cs typeface="Arial" pitchFamily="34" charset="-120"/>
              </a:rPr>
              <a:t>DNSKEY</a:t>
            </a:r>
            <a:r>
              <a:rPr lang="en-US" sz="3200" dirty="0">
                <a:solidFill>
                  <a:srgbClr val="343A40"/>
                </a:solidFill>
                <a:latin typeface="Arial" pitchFamily="34" charset="0"/>
                <a:ea typeface="Arial" pitchFamily="34" charset="-122"/>
                <a:cs typeface="Arial" pitchFamily="34" charset="-120"/>
              </a:rPr>
              <a:t>.</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Each link vouches for the next, anchored at the root.</a:t>
            </a:r>
            <a:endParaRPr lang="en-US" sz="3200" dirty="0"/>
          </a:p>
        </p:txBody>
      </p:sp>
      <p:sp>
        <p:nvSpPr>
          <p:cNvPr id="12" name="Text 9"/>
          <p:cNvSpPr/>
          <p:nvPr/>
        </p:nvSpPr>
        <p:spPr>
          <a:xfrm>
            <a:off x="11516142" y="6542776"/>
            <a:ext cx="5948055" cy="1036181"/>
          </a:xfrm>
          <a:prstGeom prst="rect">
            <a:avLst/>
          </a:prstGeom>
          <a:noFill/>
          <a:ln/>
        </p:spPr>
        <p:txBody>
          <a:bodyPr wrap="square" lIns="25400" tIns="25400" rIns="25400" bIns="25400" rtlCol="0" anchor="t">
            <a:spAutoFit/>
          </a:bodyPr>
          <a:lstStyle/>
          <a:p>
            <a:r>
              <a:rPr sz="3200" i="1" dirty="0">
                <a:latin typeface="Arial"/>
              </a:rPr>
              <a:t>A signature chain from the root down to your zone.</a:t>
            </a:r>
          </a:p>
        </p:txBody>
      </p:sp>
      <p:sp>
        <p:nvSpPr>
          <p:cNvPr id="13" name="Text 10"/>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pic>
        <p:nvPicPr>
          <p:cNvPr id="15" name="Picture 14" descr="a14_chain_of_trust.png"/>
          <p:cNvPicPr>
            <a:picLocks noChangeAspect="1"/>
          </p:cNvPicPr>
          <p:nvPr/>
        </p:nvPicPr>
        <p:blipFill>
          <a:blip r:embed="rId3"/>
          <a:stretch>
            <a:fillRect/>
          </a:stretch>
        </p:blipFill>
        <p:spPr>
          <a:xfrm>
            <a:off x="10083228" y="3638939"/>
            <a:ext cx="8991505" cy="25379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IS IT SECURED · DNSSEC</a:t>
            </a:r>
            <a:endParaRPr lang="en-US" sz="1950" dirty="0"/>
          </a:p>
        </p:txBody>
      </p:sp>
      <p:sp>
        <p:nvSpPr>
          <p:cNvPr id="4" name="Text 2"/>
          <p:cNvSpPr/>
          <p:nvPr/>
        </p:nvSpPr>
        <p:spPr>
          <a:xfrm>
            <a:off x="1238250" y="1496568"/>
            <a:ext cx="17392650" cy="652264"/>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Effectively secured needs both DS and DNSKEY</a:t>
            </a:r>
            <a:endParaRPr lang="en-US" sz="4650" dirty="0"/>
          </a:p>
        </p:txBody>
      </p:sp>
      <p:sp>
        <p:nvSpPr>
          <p:cNvPr id="6" name="Text 4"/>
          <p:cNvSpPr/>
          <p:nvPr/>
        </p:nvSpPr>
        <p:spPr>
          <a:xfrm>
            <a:off x="1312895" y="3191713"/>
            <a:ext cx="8721566" cy="5015219"/>
          </a:xfrm>
          <a:prstGeom prst="rect">
            <a:avLst/>
          </a:prstGeom>
          <a:noFill/>
          <a:ln/>
        </p:spPr>
        <p:txBody>
          <a:bodyPr wrap="square" lIns="25400" tIns="25400" rIns="25400" bIns="25400" rtlCol="0" anchor="t">
            <a:spAutoFit/>
          </a:bodyPr>
          <a:lstStyle/>
          <a:p>
            <a:pPr marL="333375" indent="-333375" algn="l">
              <a:lnSpc>
                <a:spcPct val="140000"/>
              </a:lnSpc>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A </a:t>
            </a:r>
            <a:r>
              <a:rPr lang="en-US" sz="3200" dirty="0">
                <a:solidFill>
                  <a:srgbClr val="343A40"/>
                </a:solidFill>
                <a:latin typeface="Roboto Mono" pitchFamily="34" charset="0"/>
                <a:ea typeface="Arial" pitchFamily="34" charset="-122"/>
                <a:cs typeface="Arial" pitchFamily="34" charset="-120"/>
              </a:rPr>
              <a:t>DNSKEY</a:t>
            </a:r>
            <a:r>
              <a:rPr lang="en-US" sz="3200" dirty="0">
                <a:solidFill>
                  <a:srgbClr val="343A40"/>
                </a:solidFill>
                <a:latin typeface="Arial" pitchFamily="34" charset="0"/>
                <a:ea typeface="Arial" pitchFamily="34" charset="-122"/>
                <a:cs typeface="Arial" pitchFamily="34" charset="-120"/>
              </a:rPr>
              <a:t> in your zone with no matching </a:t>
            </a:r>
            <a:r>
              <a:rPr lang="en-US" sz="3200" dirty="0">
                <a:solidFill>
                  <a:srgbClr val="343A40"/>
                </a:solidFill>
                <a:latin typeface="Roboto Mono" pitchFamily="34" charset="0"/>
                <a:ea typeface="Arial" pitchFamily="34" charset="-122"/>
                <a:cs typeface="Arial" pitchFamily="34" charset="-120"/>
              </a:rPr>
              <a:t>DS</a:t>
            </a:r>
            <a:r>
              <a:rPr lang="en-US" sz="3200" dirty="0">
                <a:solidFill>
                  <a:srgbClr val="343A40"/>
                </a:solidFill>
                <a:latin typeface="Arial" pitchFamily="34" charset="0"/>
                <a:ea typeface="Arial" pitchFamily="34" charset="-122"/>
                <a:cs typeface="Arial" pitchFamily="34" charset="-120"/>
              </a:rPr>
              <a:t> at the parent is an orphaned key — no resolver will trust it.</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So measuring adoption means checking both the child and the parent, not just one.</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KSK (flags </a:t>
            </a:r>
            <a:r>
              <a:rPr lang="en-US" sz="3200" dirty="0">
                <a:solidFill>
                  <a:srgbClr val="343A40"/>
                </a:solidFill>
                <a:latin typeface="Roboto Mono" pitchFamily="34" charset="0"/>
                <a:ea typeface="Arial" pitchFamily="34" charset="-122"/>
                <a:cs typeface="Arial" pitchFamily="34" charset="-120"/>
              </a:rPr>
              <a:t>257</a:t>
            </a:r>
            <a:r>
              <a:rPr lang="en-US" sz="3200" dirty="0">
                <a:solidFill>
                  <a:srgbClr val="343A40"/>
                </a:solidFill>
                <a:latin typeface="Arial" pitchFamily="34" charset="0"/>
                <a:ea typeface="Arial" pitchFamily="34" charset="-122"/>
                <a:cs typeface="Arial" pitchFamily="34" charset="-120"/>
              </a:rPr>
              <a:t>) is what the </a:t>
            </a:r>
            <a:r>
              <a:rPr lang="en-US" sz="3200" dirty="0">
                <a:solidFill>
                  <a:srgbClr val="343A40"/>
                </a:solidFill>
                <a:latin typeface="Roboto Mono" pitchFamily="34" charset="0"/>
                <a:ea typeface="Arial" pitchFamily="34" charset="-122"/>
                <a:cs typeface="Arial" pitchFamily="34" charset="-120"/>
              </a:rPr>
              <a:t>DS</a:t>
            </a:r>
            <a:r>
              <a:rPr lang="en-US" sz="3200" dirty="0">
                <a:solidFill>
                  <a:srgbClr val="343A40"/>
                </a:solidFill>
                <a:latin typeface="Arial" pitchFamily="34" charset="0"/>
                <a:ea typeface="Arial" pitchFamily="34" charset="-122"/>
                <a:cs typeface="Arial" pitchFamily="34" charset="-120"/>
              </a:rPr>
              <a:t> references; ZSK (flags </a:t>
            </a:r>
            <a:r>
              <a:rPr lang="en-US" sz="3200" dirty="0">
                <a:solidFill>
                  <a:srgbClr val="343A40"/>
                </a:solidFill>
                <a:latin typeface="Roboto Mono" pitchFamily="34" charset="0"/>
                <a:ea typeface="Arial" pitchFamily="34" charset="-122"/>
                <a:cs typeface="Arial" pitchFamily="34" charset="-120"/>
              </a:rPr>
              <a:t>256</a:t>
            </a:r>
            <a:r>
              <a:rPr lang="en-US" sz="3200" dirty="0">
                <a:solidFill>
                  <a:srgbClr val="343A40"/>
                </a:solidFill>
                <a:latin typeface="Arial" pitchFamily="34" charset="0"/>
                <a:ea typeface="Arial" pitchFamily="34" charset="-122"/>
                <a:cs typeface="Arial" pitchFamily="34" charset="-120"/>
              </a:rPr>
              <a:t>) signs the ordinary records.</a:t>
            </a:r>
            <a:endParaRPr lang="en-US" sz="3200" dirty="0"/>
          </a:p>
        </p:txBody>
      </p:sp>
      <p:sp>
        <p:nvSpPr>
          <p:cNvPr id="12" name="Text 9"/>
          <p:cNvSpPr/>
          <p:nvPr/>
        </p:nvSpPr>
        <p:spPr>
          <a:xfrm>
            <a:off x="11721415" y="6990646"/>
            <a:ext cx="5948055" cy="1528624"/>
          </a:xfrm>
          <a:prstGeom prst="rect">
            <a:avLst/>
          </a:prstGeom>
          <a:noFill/>
          <a:ln/>
        </p:spPr>
        <p:txBody>
          <a:bodyPr wrap="square" lIns="25400" tIns="25400" rIns="25400" bIns="25400" rtlCol="0" anchor="t">
            <a:spAutoFit/>
          </a:bodyPr>
          <a:lstStyle/>
          <a:p>
            <a:r>
              <a:rPr sz="3200" i="1" dirty="0">
                <a:latin typeface="Arial"/>
              </a:rPr>
              <a:t>DS present at parent AND DNSKEY present at child = </a:t>
            </a:r>
            <a:endParaRPr lang="en-US" sz="3200" i="1" dirty="0">
              <a:latin typeface="Arial"/>
            </a:endParaRPr>
          </a:p>
          <a:p>
            <a:r>
              <a:rPr sz="3200" i="1" dirty="0">
                <a:latin typeface="Arial"/>
              </a:rPr>
              <a:t>a working chain.</a:t>
            </a:r>
          </a:p>
        </p:txBody>
      </p:sp>
      <p:sp>
        <p:nvSpPr>
          <p:cNvPr id="13" name="Text 10"/>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pic>
        <p:nvPicPr>
          <p:cNvPr id="15" name="Picture 14" descr="a15_secured_vs_orphaned.png"/>
          <p:cNvPicPr>
            <a:picLocks noChangeAspect="1"/>
          </p:cNvPicPr>
          <p:nvPr/>
        </p:nvPicPr>
        <p:blipFill>
          <a:blip r:embed="rId3"/>
          <a:stretch>
            <a:fillRect/>
          </a:stretch>
        </p:blipFill>
        <p:spPr>
          <a:xfrm>
            <a:off x="9643577" y="3340360"/>
            <a:ext cx="9195509" cy="32520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IS IT SECURED · ALGORITHMS</a:t>
            </a:r>
            <a:endParaRPr lang="en-US" sz="1950" dirty="0"/>
          </a:p>
        </p:txBody>
      </p:sp>
      <p:sp>
        <p:nvSpPr>
          <p:cNvPr id="4" name="Text 2"/>
          <p:cNvSpPr/>
          <p:nvPr/>
        </p:nvSpPr>
        <p:spPr>
          <a:xfrm>
            <a:off x="1238250" y="1496568"/>
            <a:ext cx="17392650" cy="652264"/>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Signing algorithms move over time</a:t>
            </a:r>
            <a:endParaRPr lang="en-US" sz="4650" dirty="0"/>
          </a:p>
        </p:txBody>
      </p:sp>
      <p:sp>
        <p:nvSpPr>
          <p:cNvPr id="6" name="Text 4"/>
          <p:cNvSpPr/>
          <p:nvPr/>
        </p:nvSpPr>
        <p:spPr>
          <a:xfrm>
            <a:off x="622428" y="3209730"/>
            <a:ext cx="10294387" cy="3841564"/>
          </a:xfrm>
          <a:prstGeom prst="rect">
            <a:avLst/>
          </a:prstGeom>
          <a:noFill/>
          <a:ln/>
        </p:spPr>
        <p:txBody>
          <a:bodyPr wrap="square" lIns="25400" tIns="25400" rIns="25400" bIns="25400" rtlCol="0" anchor="t">
            <a:spAutoFit/>
          </a:bodyPr>
          <a:lstStyle/>
          <a:p>
            <a:pPr marL="333375" indent="-333375" algn="l">
              <a:lnSpc>
                <a:spcPct val="140000"/>
              </a:lnSpc>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RSA/SHA-256 (algorithm </a:t>
            </a:r>
            <a:r>
              <a:rPr lang="en-US" sz="3200" dirty="0">
                <a:solidFill>
                  <a:srgbClr val="343A40"/>
                </a:solidFill>
                <a:latin typeface="Roboto Mono" pitchFamily="34" charset="0"/>
                <a:ea typeface="Arial" pitchFamily="34" charset="-122"/>
                <a:cs typeface="Arial" pitchFamily="34" charset="-120"/>
              </a:rPr>
              <a:t>8</a:t>
            </a:r>
            <a:r>
              <a:rPr lang="en-US" sz="3200" dirty="0">
                <a:solidFill>
                  <a:srgbClr val="343A40"/>
                </a:solidFill>
                <a:latin typeface="Arial" pitchFamily="34" charset="0"/>
                <a:ea typeface="Arial" pitchFamily="34" charset="-122"/>
                <a:cs typeface="Arial" pitchFamily="34" charset="-120"/>
              </a:rPr>
              <a:t>) was historically dominant.</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ECDSA P-256 (</a:t>
            </a:r>
            <a:r>
              <a:rPr lang="en-US" sz="3200" dirty="0">
                <a:solidFill>
                  <a:srgbClr val="343A40"/>
                </a:solidFill>
                <a:latin typeface="Roboto Mono" pitchFamily="34" charset="0"/>
                <a:ea typeface="Arial" pitchFamily="34" charset="-122"/>
                <a:cs typeface="Arial" pitchFamily="34" charset="-120"/>
              </a:rPr>
              <a:t>13</a:t>
            </a:r>
            <a:r>
              <a:rPr lang="en-US" sz="3200" dirty="0">
                <a:solidFill>
                  <a:srgbClr val="343A40"/>
                </a:solidFill>
                <a:latin typeface="Arial" pitchFamily="34" charset="0"/>
                <a:ea typeface="Arial" pitchFamily="34" charset="-122"/>
                <a:cs typeface="Arial" pitchFamily="34" charset="-120"/>
              </a:rPr>
              <a:t>) is now recommended</a:t>
            </a:r>
          </a:p>
          <a:p>
            <a:pPr marL="1247775" lvl="2" indent="-333375">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 smaller signatures, same security.</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Ed25519 (</a:t>
            </a:r>
            <a:r>
              <a:rPr lang="en-US" sz="3200" dirty="0">
                <a:solidFill>
                  <a:srgbClr val="343A40"/>
                </a:solidFill>
                <a:latin typeface="Roboto Mono" pitchFamily="34" charset="0"/>
                <a:ea typeface="Arial" pitchFamily="34" charset="-122"/>
                <a:cs typeface="Arial" pitchFamily="34" charset="-120"/>
              </a:rPr>
              <a:t>15</a:t>
            </a:r>
            <a:r>
              <a:rPr lang="en-US" sz="3200" dirty="0">
                <a:solidFill>
                  <a:srgbClr val="343A40"/>
                </a:solidFill>
                <a:latin typeface="Arial" pitchFamily="34" charset="0"/>
                <a:ea typeface="Arial" pitchFamily="34" charset="-122"/>
                <a:cs typeface="Arial" pitchFamily="34" charset="-120"/>
              </a:rPr>
              <a:t>) is growing; </a:t>
            </a:r>
          </a:p>
          <a:p>
            <a:pPr marL="790575" lvl="1" indent="-333375">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 SHA-1 variants deprecated.</a:t>
            </a:r>
            <a:endParaRPr lang="en-US" sz="3200" dirty="0"/>
          </a:p>
        </p:txBody>
      </p:sp>
      <p:sp>
        <p:nvSpPr>
          <p:cNvPr id="12" name="Text 9"/>
          <p:cNvSpPr/>
          <p:nvPr/>
        </p:nvSpPr>
        <p:spPr>
          <a:xfrm>
            <a:off x="10732370" y="8912753"/>
            <a:ext cx="5948055" cy="1036181"/>
          </a:xfrm>
          <a:prstGeom prst="rect">
            <a:avLst/>
          </a:prstGeom>
          <a:noFill/>
          <a:ln/>
        </p:spPr>
        <p:txBody>
          <a:bodyPr wrap="square" lIns="25400" tIns="25400" rIns="25400" bIns="25400" rtlCol="0" anchor="t">
            <a:spAutoFit/>
          </a:bodyPr>
          <a:lstStyle/>
          <a:p>
            <a:r>
              <a:rPr sz="3200" i="1" dirty="0">
                <a:latin typeface="Arial"/>
              </a:rPr>
              <a:t>An adoption curve you can watch </a:t>
            </a:r>
            <a:r>
              <a:rPr lang="en-US" sz="3200" i="1" dirty="0">
                <a:latin typeface="Arial"/>
              </a:rPr>
              <a:t>over years </a:t>
            </a:r>
            <a:r>
              <a:rPr sz="3200" i="1" dirty="0">
                <a:latin typeface="Arial"/>
              </a:rPr>
              <a:t>in the data.</a:t>
            </a:r>
          </a:p>
        </p:txBody>
      </p:sp>
      <p:sp>
        <p:nvSpPr>
          <p:cNvPr id="13" name="Text 10"/>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pic>
        <p:nvPicPr>
          <p:cNvPr id="15" name="Picture 14" descr="a16_algorithm_shift.png"/>
          <p:cNvPicPr>
            <a:picLocks noChangeAspect="1"/>
          </p:cNvPicPr>
          <p:nvPr/>
        </p:nvPicPr>
        <p:blipFill>
          <a:blip r:embed="rId3"/>
          <a:stretch>
            <a:fillRect/>
          </a:stretch>
        </p:blipFill>
        <p:spPr>
          <a:xfrm>
            <a:off x="7114278" y="5043863"/>
            <a:ext cx="11677576" cy="344699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IS IT SECURED · EMAIL</a:t>
            </a:r>
            <a:endParaRPr lang="en-US" sz="1950" dirty="0"/>
          </a:p>
        </p:txBody>
      </p:sp>
      <p:sp>
        <p:nvSpPr>
          <p:cNvPr id="4" name="Text 2"/>
          <p:cNvSpPr/>
          <p:nvPr/>
        </p:nvSpPr>
        <p:spPr>
          <a:xfrm>
            <a:off x="895350" y="1589874"/>
            <a:ext cx="17392650" cy="762260"/>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(2) Sender Policy Framework: who may send mail as this domain</a:t>
            </a:r>
            <a:endParaRPr lang="en-US" sz="4650" dirty="0"/>
          </a:p>
        </p:txBody>
      </p:sp>
      <p:sp>
        <p:nvSpPr>
          <p:cNvPr id="6" name="Text 4"/>
          <p:cNvSpPr/>
          <p:nvPr/>
        </p:nvSpPr>
        <p:spPr>
          <a:xfrm>
            <a:off x="976992" y="3415004"/>
            <a:ext cx="8838812" cy="4325800"/>
          </a:xfrm>
          <a:prstGeom prst="rect">
            <a:avLst/>
          </a:prstGeom>
          <a:noFill/>
          <a:ln/>
        </p:spPr>
        <p:txBody>
          <a:bodyPr wrap="square" lIns="25400" tIns="25400" rIns="25400" bIns="25400" rtlCol="0" anchor="t">
            <a:spAutoFit/>
          </a:bodyPr>
          <a:lstStyle/>
          <a:p>
            <a:pPr marL="333375" indent="-333375" algn="l">
              <a:lnSpc>
                <a:spcPct val="140000"/>
              </a:lnSpc>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A </a:t>
            </a:r>
            <a:r>
              <a:rPr lang="en-US" sz="3200" dirty="0">
                <a:solidFill>
                  <a:srgbClr val="343A40"/>
                </a:solidFill>
                <a:latin typeface="Roboto Mono" pitchFamily="34" charset="0"/>
                <a:ea typeface="Arial" pitchFamily="34" charset="-122"/>
                <a:cs typeface="Arial" pitchFamily="34" charset="-120"/>
              </a:rPr>
              <a:t>TXT</a:t>
            </a:r>
            <a:r>
              <a:rPr lang="en-US" sz="3200" dirty="0">
                <a:solidFill>
                  <a:srgbClr val="343A40"/>
                </a:solidFill>
                <a:latin typeface="Arial" pitchFamily="34" charset="0"/>
                <a:ea typeface="Arial" pitchFamily="34" charset="-122"/>
                <a:cs typeface="Arial" pitchFamily="34" charset="-120"/>
              </a:rPr>
              <a:t> record </a:t>
            </a:r>
            <a:r>
              <a:rPr lang="en-US" sz="3200" dirty="0">
                <a:solidFill>
                  <a:srgbClr val="343A40"/>
                </a:solidFill>
                <a:latin typeface="Roboto Mono" pitchFamily="34" charset="0"/>
                <a:ea typeface="Arial" pitchFamily="34" charset="-122"/>
                <a:cs typeface="Arial" pitchFamily="34" charset="-120"/>
              </a:rPr>
              <a:t>v=spf1 …</a:t>
            </a:r>
            <a:r>
              <a:rPr lang="en-US" sz="3200" dirty="0">
                <a:solidFill>
                  <a:srgbClr val="343A40"/>
                </a:solidFill>
                <a:latin typeface="Arial" pitchFamily="34" charset="0"/>
                <a:ea typeface="Arial" pitchFamily="34" charset="-122"/>
                <a:cs typeface="Arial" pitchFamily="34" charset="-120"/>
              </a:rPr>
              <a:t> lists the IPs and hosts authorized to send mail for the domain.</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The trailing qualifier is the policy: </a:t>
            </a:r>
            <a:r>
              <a:rPr lang="en-US" sz="3200" dirty="0">
                <a:solidFill>
                  <a:srgbClr val="343A40"/>
                </a:solidFill>
                <a:latin typeface="Roboto Mono" pitchFamily="34" charset="0"/>
                <a:ea typeface="Arial" pitchFamily="34" charset="-122"/>
                <a:cs typeface="Arial" pitchFamily="34" charset="-120"/>
              </a:rPr>
              <a:t>-all</a:t>
            </a:r>
            <a:r>
              <a:rPr lang="en-US" sz="3200" dirty="0">
                <a:solidFill>
                  <a:srgbClr val="343A40"/>
                </a:solidFill>
                <a:latin typeface="Arial" pitchFamily="34" charset="0"/>
                <a:ea typeface="Arial" pitchFamily="34" charset="-122"/>
                <a:cs typeface="Arial" pitchFamily="34" charset="-120"/>
              </a:rPr>
              <a:t> hard-fail, </a:t>
            </a:r>
            <a:r>
              <a:rPr lang="en-US" sz="3200" dirty="0">
                <a:solidFill>
                  <a:srgbClr val="343A40"/>
                </a:solidFill>
                <a:latin typeface="Roboto Mono" pitchFamily="34" charset="0"/>
                <a:ea typeface="Arial" pitchFamily="34" charset="-122"/>
                <a:cs typeface="Arial" pitchFamily="34" charset="-120"/>
              </a:rPr>
              <a:t>~all</a:t>
            </a:r>
            <a:r>
              <a:rPr lang="en-US" sz="3200" dirty="0">
                <a:solidFill>
                  <a:srgbClr val="343A40"/>
                </a:solidFill>
                <a:latin typeface="Arial" pitchFamily="34" charset="0"/>
                <a:ea typeface="Arial" pitchFamily="34" charset="-122"/>
                <a:cs typeface="Arial" pitchFamily="34" charset="-120"/>
              </a:rPr>
              <a:t> soft-fail, </a:t>
            </a:r>
            <a:r>
              <a:rPr lang="en-US" sz="3200" dirty="0">
                <a:solidFill>
                  <a:srgbClr val="343A40"/>
                </a:solidFill>
                <a:latin typeface="Roboto Mono" pitchFamily="34" charset="0"/>
                <a:ea typeface="Arial" pitchFamily="34" charset="-122"/>
                <a:cs typeface="Arial" pitchFamily="34" charset="-120"/>
              </a:rPr>
              <a:t>?all</a:t>
            </a:r>
            <a:r>
              <a:rPr lang="en-US" sz="3200" dirty="0">
                <a:solidFill>
                  <a:srgbClr val="343A40"/>
                </a:solidFill>
                <a:latin typeface="Arial" pitchFamily="34" charset="0"/>
                <a:ea typeface="Arial" pitchFamily="34" charset="-122"/>
                <a:cs typeface="Arial" pitchFamily="34" charset="-120"/>
              </a:rPr>
              <a:t> neutral.</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Watch for </a:t>
            </a:r>
            <a:r>
              <a:rPr lang="en-US" sz="3200" dirty="0">
                <a:solidFill>
                  <a:srgbClr val="343A40"/>
                </a:solidFill>
                <a:latin typeface="Roboto Mono" pitchFamily="34" charset="0"/>
                <a:ea typeface="Arial" pitchFamily="34" charset="-122"/>
                <a:cs typeface="Arial" pitchFamily="34" charset="-120"/>
              </a:rPr>
              <a:t>+all</a:t>
            </a:r>
            <a:r>
              <a:rPr lang="en-US" sz="3200" dirty="0">
                <a:solidFill>
                  <a:srgbClr val="343A40"/>
                </a:solidFill>
                <a:latin typeface="Arial" pitchFamily="34" charset="0"/>
                <a:ea typeface="Arial" pitchFamily="34" charset="-122"/>
                <a:cs typeface="Arial" pitchFamily="34" charset="-120"/>
              </a:rPr>
              <a:t> or a missing qualifier — it authorizes the whole Internet to spoof you.</a:t>
            </a:r>
            <a:endParaRPr lang="en-US" sz="3200" dirty="0"/>
          </a:p>
        </p:txBody>
      </p:sp>
      <p:sp>
        <p:nvSpPr>
          <p:cNvPr id="12" name="Text 9"/>
          <p:cNvSpPr/>
          <p:nvPr/>
        </p:nvSpPr>
        <p:spPr>
          <a:xfrm>
            <a:off x="11012289" y="7587805"/>
            <a:ext cx="5948055" cy="1036181"/>
          </a:xfrm>
          <a:prstGeom prst="rect">
            <a:avLst/>
          </a:prstGeom>
          <a:noFill/>
          <a:ln/>
        </p:spPr>
        <p:txBody>
          <a:bodyPr wrap="square" lIns="25400" tIns="25400" rIns="25400" bIns="25400" rtlCol="0" anchor="t">
            <a:spAutoFit/>
          </a:bodyPr>
          <a:lstStyle/>
          <a:p>
            <a:r>
              <a:rPr sz="3200" i="1" dirty="0">
                <a:latin typeface="Arial"/>
              </a:rPr>
              <a:t>The last token decides whether the record protects anything.</a:t>
            </a:r>
          </a:p>
        </p:txBody>
      </p:sp>
      <p:sp>
        <p:nvSpPr>
          <p:cNvPr id="13" name="Text 10"/>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pic>
        <p:nvPicPr>
          <p:cNvPr id="15" name="Picture 14" descr="a17_spf_qualifiers.png"/>
          <p:cNvPicPr>
            <a:picLocks noChangeAspect="1"/>
          </p:cNvPicPr>
          <p:nvPr/>
        </p:nvPicPr>
        <p:blipFill>
          <a:blip r:embed="rId3"/>
          <a:stretch>
            <a:fillRect/>
          </a:stretch>
        </p:blipFill>
        <p:spPr>
          <a:xfrm>
            <a:off x="9550270" y="2593911"/>
            <a:ext cx="11221202" cy="476901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IS IT SECURED · CERTIFICATES</a:t>
            </a:r>
            <a:endParaRPr lang="en-US" sz="1950" dirty="0"/>
          </a:p>
        </p:txBody>
      </p:sp>
      <p:sp>
        <p:nvSpPr>
          <p:cNvPr id="4" name="Text 2"/>
          <p:cNvSpPr/>
          <p:nvPr/>
        </p:nvSpPr>
        <p:spPr>
          <a:xfrm>
            <a:off x="1238250" y="1496568"/>
            <a:ext cx="17392650" cy="1506438"/>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(3) Certificate Authority Authorization (CAA):</a:t>
            </a:r>
          </a:p>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		 which CAs may issue for this domain</a:t>
            </a:r>
            <a:endParaRPr lang="en-US" sz="4650" dirty="0"/>
          </a:p>
        </p:txBody>
      </p:sp>
      <p:sp>
        <p:nvSpPr>
          <p:cNvPr id="6" name="Text 4"/>
          <p:cNvSpPr/>
          <p:nvPr/>
        </p:nvSpPr>
        <p:spPr>
          <a:xfrm>
            <a:off x="1219589" y="4050131"/>
            <a:ext cx="8721566" cy="4325800"/>
          </a:xfrm>
          <a:prstGeom prst="rect">
            <a:avLst/>
          </a:prstGeom>
          <a:noFill/>
          <a:ln/>
        </p:spPr>
        <p:txBody>
          <a:bodyPr wrap="square" lIns="25400" tIns="25400" rIns="25400" bIns="25400" rtlCol="0" anchor="t">
            <a:spAutoFit/>
          </a:bodyPr>
          <a:lstStyle/>
          <a:p>
            <a:pPr marL="333375" indent="-333375" algn="l">
              <a:lnSpc>
                <a:spcPct val="140000"/>
              </a:lnSpc>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A </a:t>
            </a:r>
            <a:r>
              <a:rPr lang="en-US" sz="3200" dirty="0">
                <a:solidFill>
                  <a:srgbClr val="343A40"/>
                </a:solidFill>
                <a:latin typeface="Roboto Mono" pitchFamily="34" charset="0"/>
                <a:ea typeface="Arial" pitchFamily="34" charset="-122"/>
                <a:cs typeface="Arial" pitchFamily="34" charset="-120"/>
              </a:rPr>
              <a:t>CAA</a:t>
            </a:r>
            <a:r>
              <a:rPr lang="en-US" sz="3200" dirty="0">
                <a:solidFill>
                  <a:srgbClr val="343A40"/>
                </a:solidFill>
                <a:latin typeface="Arial" pitchFamily="34" charset="0"/>
                <a:ea typeface="Arial" pitchFamily="34" charset="-122"/>
                <a:cs typeface="Arial" pitchFamily="34" charset="-120"/>
              </a:rPr>
              <a:t> record names the certificate authorities allowed to issue for the domain.</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Tags are </a:t>
            </a:r>
            <a:r>
              <a:rPr lang="en-US" sz="3200" dirty="0">
                <a:solidFill>
                  <a:srgbClr val="343A40"/>
                </a:solidFill>
                <a:latin typeface="Roboto Mono" pitchFamily="34" charset="0"/>
                <a:ea typeface="Arial" pitchFamily="34" charset="-122"/>
                <a:cs typeface="Arial" pitchFamily="34" charset="-120"/>
              </a:rPr>
              <a:t>issue</a:t>
            </a:r>
            <a:r>
              <a:rPr lang="en-US" sz="3200" dirty="0">
                <a:solidFill>
                  <a:srgbClr val="343A40"/>
                </a:solidFill>
                <a:latin typeface="Arial" pitchFamily="34" charset="0"/>
                <a:ea typeface="Arial" pitchFamily="34" charset="-122"/>
                <a:cs typeface="Arial" pitchFamily="34" charset="-120"/>
              </a:rPr>
              <a:t> / </a:t>
            </a:r>
            <a:r>
              <a:rPr lang="en-US" sz="3200" dirty="0" err="1">
                <a:solidFill>
                  <a:srgbClr val="343A40"/>
                </a:solidFill>
                <a:latin typeface="Roboto Mono" pitchFamily="34" charset="0"/>
                <a:ea typeface="Arial" pitchFamily="34" charset="-122"/>
                <a:cs typeface="Arial" pitchFamily="34" charset="-120"/>
              </a:rPr>
              <a:t>issuewild</a:t>
            </a:r>
            <a:r>
              <a:rPr lang="en-US" sz="3200" dirty="0">
                <a:solidFill>
                  <a:srgbClr val="343A40"/>
                </a:solidFill>
                <a:latin typeface="Arial" pitchFamily="34" charset="0"/>
                <a:ea typeface="Arial" pitchFamily="34" charset="-122"/>
                <a:cs typeface="Arial" pitchFamily="34" charset="-120"/>
              </a:rPr>
              <a:t> / </a:t>
            </a:r>
            <a:r>
              <a:rPr lang="en-US" sz="3200" dirty="0" err="1">
                <a:solidFill>
                  <a:srgbClr val="343A40"/>
                </a:solidFill>
                <a:latin typeface="Roboto Mono" pitchFamily="34" charset="0"/>
                <a:ea typeface="Arial" pitchFamily="34" charset="-122"/>
                <a:cs typeface="Arial" pitchFamily="34" charset="-120"/>
              </a:rPr>
              <a:t>iodef</a:t>
            </a:r>
            <a:r>
              <a:rPr lang="en-US" sz="3200" dirty="0">
                <a:solidFill>
                  <a:srgbClr val="343A40"/>
                </a:solidFill>
                <a:latin typeface="Arial" pitchFamily="34" charset="0"/>
                <a:ea typeface="Arial" pitchFamily="34" charset="-122"/>
                <a:cs typeface="Arial" pitchFamily="34" charset="-120"/>
              </a:rPr>
              <a:t>; a value of </a:t>
            </a:r>
            <a:r>
              <a:rPr lang="en-US" sz="3200" dirty="0">
                <a:solidFill>
                  <a:srgbClr val="343A40"/>
                </a:solidFill>
                <a:latin typeface="Roboto Mono" pitchFamily="34" charset="0"/>
                <a:ea typeface="Arial" pitchFamily="34" charset="-122"/>
                <a:cs typeface="Arial" pitchFamily="34" charset="-120"/>
              </a:rPr>
              <a:t>;</a:t>
            </a:r>
            <a:r>
              <a:rPr lang="en-US" sz="3200" dirty="0">
                <a:solidFill>
                  <a:srgbClr val="343A40"/>
                </a:solidFill>
                <a:latin typeface="Arial" pitchFamily="34" charset="0"/>
                <a:ea typeface="Arial" pitchFamily="34" charset="-122"/>
                <a:cs typeface="Arial" pitchFamily="34" charset="-120"/>
              </a:rPr>
              <a:t> forbids issuance entirely.</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It complements DNSSEC by constraining a different threat — mis-issued certificates.</a:t>
            </a:r>
            <a:endParaRPr lang="en-US" sz="3200" dirty="0"/>
          </a:p>
        </p:txBody>
      </p:sp>
      <p:sp>
        <p:nvSpPr>
          <p:cNvPr id="12" name="Text 9"/>
          <p:cNvSpPr/>
          <p:nvPr/>
        </p:nvSpPr>
        <p:spPr>
          <a:xfrm>
            <a:off x="11012289" y="7587805"/>
            <a:ext cx="6305327" cy="1036181"/>
          </a:xfrm>
          <a:prstGeom prst="rect">
            <a:avLst/>
          </a:prstGeom>
          <a:noFill/>
          <a:ln/>
        </p:spPr>
        <p:txBody>
          <a:bodyPr wrap="square" lIns="25400" tIns="25400" rIns="25400" bIns="25400" rtlCol="0" anchor="t">
            <a:spAutoFit/>
          </a:bodyPr>
          <a:lstStyle/>
          <a:p>
            <a:r>
              <a:rPr sz="3200" i="1" dirty="0">
                <a:latin typeface="Arial"/>
              </a:rPr>
              <a:t>A DNS record that fences off who can mint your HTTPS certificates.</a:t>
            </a:r>
          </a:p>
        </p:txBody>
      </p:sp>
      <p:sp>
        <p:nvSpPr>
          <p:cNvPr id="13" name="Text 10"/>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pic>
        <p:nvPicPr>
          <p:cNvPr id="15" name="Picture 14" descr="a18_caa.png"/>
          <p:cNvPicPr>
            <a:picLocks noChangeAspect="1"/>
          </p:cNvPicPr>
          <p:nvPr/>
        </p:nvPicPr>
        <p:blipFill>
          <a:blip r:embed="rId3"/>
          <a:stretch>
            <a:fillRect/>
          </a:stretch>
        </p:blipFill>
        <p:spPr>
          <a:xfrm>
            <a:off x="9235943" y="3881534"/>
            <a:ext cx="9052057" cy="305506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B5187"/>
        </a:solidFill>
        <a:effectLst/>
      </p:bgPr>
    </p:bg>
    <p:spTree>
      <p:nvGrpSpPr>
        <p:cNvPr id="1" name=""/>
        <p:cNvGrpSpPr/>
        <p:nvPr/>
      </p:nvGrpSpPr>
      <p:grpSpPr>
        <a:xfrm>
          <a:off x="0" y="0"/>
          <a:ext cx="0" cy="0"/>
          <a:chOff x="0" y="0"/>
          <a:chExt cx="0" cy="0"/>
        </a:xfrm>
      </p:grpSpPr>
      <p:sp>
        <p:nvSpPr>
          <p:cNvPr id="5" name="Text 3"/>
          <p:cNvSpPr/>
          <p:nvPr/>
        </p:nvSpPr>
        <p:spPr>
          <a:xfrm>
            <a:off x="1238250" y="2190750"/>
            <a:ext cx="8098453" cy="317500"/>
          </a:xfrm>
          <a:prstGeom prst="rect">
            <a:avLst/>
          </a:prstGeom>
          <a:noFill/>
          <a:ln/>
        </p:spPr>
        <p:txBody>
          <a:bodyPr wrap="square" lIns="25400" tIns="25400" rIns="25400" bIns="25400" rtlCol="0" anchor="t">
            <a:spAutoFit/>
          </a:bodyPr>
          <a:lstStyle/>
          <a:p>
            <a:pPr marL="0" indent="0" algn="l">
              <a:buNone/>
            </a:pPr>
            <a:r>
              <a:rPr lang="en-US" sz="1950" b="1" kern="0" spc="351" dirty="0">
                <a:solidFill>
                  <a:srgbClr val="A9C2E4"/>
                </a:solidFill>
                <a:latin typeface="Arial" pitchFamily="34" charset="0"/>
                <a:ea typeface="Arial" pitchFamily="34" charset="-122"/>
                <a:cs typeface="Arial" pitchFamily="34" charset="-120"/>
              </a:rPr>
              <a:t>PART THREE</a:t>
            </a:r>
            <a:endParaRPr lang="en-US" sz="1950" dirty="0"/>
          </a:p>
        </p:txBody>
      </p:sp>
      <p:sp>
        <p:nvSpPr>
          <p:cNvPr id="6" name="Text 4"/>
          <p:cNvSpPr/>
          <p:nvPr/>
        </p:nvSpPr>
        <p:spPr>
          <a:xfrm>
            <a:off x="1238250" y="2565400"/>
            <a:ext cx="8098453" cy="1838325"/>
          </a:xfrm>
          <a:prstGeom prst="rect">
            <a:avLst/>
          </a:prstGeom>
          <a:noFill/>
          <a:ln/>
        </p:spPr>
        <p:txBody>
          <a:bodyPr wrap="square" lIns="25400" tIns="25400" rIns="25400" bIns="25400" rtlCol="0" anchor="t">
            <a:spAutoFit/>
          </a:bodyPr>
          <a:lstStyle/>
          <a:p>
            <a:pPr marL="0" indent="0" algn="l">
              <a:lnSpc>
                <a:spcPct val="90000"/>
              </a:lnSpc>
              <a:buNone/>
            </a:pPr>
            <a:r>
              <a:rPr lang="en-US" sz="15750" kern="0" spc="-315" dirty="0">
                <a:solidFill>
                  <a:srgbClr val="FFFFFF"/>
                </a:solidFill>
                <a:latin typeface="Arial" pitchFamily="34" charset="0"/>
                <a:ea typeface="Arial" pitchFamily="34" charset="-122"/>
                <a:cs typeface="Arial" pitchFamily="34" charset="-120"/>
              </a:rPr>
              <a:t>03</a:t>
            </a:r>
            <a:endParaRPr lang="en-US" sz="15750" dirty="0"/>
          </a:p>
        </p:txBody>
      </p:sp>
      <p:sp>
        <p:nvSpPr>
          <p:cNvPr id="7" name="Text 5"/>
          <p:cNvSpPr/>
          <p:nvPr/>
        </p:nvSpPr>
        <p:spPr>
          <a:xfrm>
            <a:off x="1238250" y="4613275"/>
            <a:ext cx="8098453" cy="678160"/>
          </a:xfrm>
          <a:prstGeom prst="rect">
            <a:avLst/>
          </a:prstGeom>
          <a:noFill/>
          <a:ln/>
        </p:spPr>
        <p:txBody>
          <a:bodyPr wrap="square" lIns="25400" tIns="25400" rIns="25400" bIns="25400" rtlCol="0" anchor="t">
            <a:spAutoFit/>
          </a:bodyPr>
          <a:lstStyle/>
          <a:p>
            <a:pPr marL="0" indent="0" algn="l">
              <a:lnSpc>
                <a:spcPct val="105000"/>
              </a:lnSpc>
              <a:buNone/>
            </a:pPr>
            <a:r>
              <a:rPr lang="en-US" sz="4800" kern="0" spc="-48" dirty="0">
                <a:solidFill>
                  <a:srgbClr val="FFFFFF"/>
                </a:solidFill>
                <a:latin typeface="Arial" pitchFamily="34" charset="0"/>
                <a:ea typeface="Arial" pitchFamily="34" charset="-122"/>
                <a:cs typeface="Arial" pitchFamily="34" charset="-120"/>
              </a:rPr>
              <a:t>When the DNS goes wrong</a:t>
            </a:r>
            <a:endParaRPr lang="en-US" sz="4800" dirty="0"/>
          </a:p>
        </p:txBody>
      </p:sp>
      <p:sp>
        <p:nvSpPr>
          <p:cNvPr id="8" name="Text 6"/>
          <p:cNvSpPr/>
          <p:nvPr/>
        </p:nvSpPr>
        <p:spPr>
          <a:xfrm>
            <a:off x="1238250" y="5491098"/>
            <a:ext cx="15706142" cy="655051"/>
          </a:xfrm>
          <a:prstGeom prst="rect">
            <a:avLst/>
          </a:prstGeom>
          <a:noFill/>
          <a:ln/>
        </p:spPr>
        <p:txBody>
          <a:bodyPr wrap="square" lIns="25400" tIns="25400" rIns="25400" bIns="25400" rtlCol="0" anchor="t">
            <a:spAutoFit/>
          </a:bodyPr>
          <a:lstStyle/>
          <a:p>
            <a:pPr marL="0" indent="0" algn="l">
              <a:lnSpc>
                <a:spcPct val="135000"/>
              </a:lnSpc>
              <a:buNone/>
            </a:pPr>
            <a:r>
              <a:rPr lang="en-US" sz="3200" dirty="0">
                <a:solidFill>
                  <a:srgbClr val="A9C2E4"/>
                </a:solidFill>
                <a:latin typeface="Arial" pitchFamily="34" charset="0"/>
                <a:ea typeface="Arial" pitchFamily="34" charset="-122"/>
                <a:cs typeface="Arial" pitchFamily="34" charset="-120"/>
              </a:rPr>
              <a:t>From a typo to a nation-state hijack — the same records, very different failure stories.</a:t>
            </a:r>
            <a:endParaRPr lang="en-US" sz="3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3419674"/>
            <a:ext cx="14668500" cy="317500"/>
          </a:xfrm>
          <a:prstGeom prst="rect">
            <a:avLst/>
          </a:prstGeom>
          <a:noFill/>
          <a:ln/>
        </p:spPr>
        <p:txBody>
          <a:bodyPr wrap="square" lIns="25400" tIns="25400" rIns="25400" bIns="25400" rtlCol="0" anchor="t">
            <a:spAutoFit/>
          </a:bodyPr>
          <a:lstStyle/>
          <a:p>
            <a:pPr marL="0" indent="0" algn="l">
              <a:buNone/>
            </a:pPr>
            <a:r>
              <a:rPr lang="en-US" sz="1950" b="1" kern="0" spc="351" dirty="0">
                <a:solidFill>
                  <a:srgbClr val="A9C2E4"/>
                </a:solidFill>
                <a:latin typeface="Arial" pitchFamily="34" charset="0"/>
                <a:ea typeface="Arial" pitchFamily="34" charset="-122"/>
                <a:cs typeface="Arial" pitchFamily="34" charset="-120"/>
              </a:rPr>
              <a:t>THE QUESTION</a:t>
            </a:r>
            <a:endParaRPr lang="en-US" sz="1950" dirty="0"/>
          </a:p>
        </p:txBody>
      </p:sp>
      <p:sp>
        <p:nvSpPr>
          <p:cNvPr id="4" name="Text 2"/>
          <p:cNvSpPr/>
          <p:nvPr/>
        </p:nvSpPr>
        <p:spPr>
          <a:xfrm>
            <a:off x="1238250" y="3965774"/>
            <a:ext cx="15220950" cy="2090765"/>
          </a:xfrm>
          <a:prstGeom prst="rect">
            <a:avLst/>
          </a:prstGeom>
          <a:noFill/>
          <a:ln/>
        </p:spPr>
        <p:txBody>
          <a:bodyPr wrap="square" lIns="25400" tIns="25400" rIns="25400" bIns="25400" rtlCol="0" anchor="t">
            <a:spAutoFit/>
          </a:bodyPr>
          <a:lstStyle/>
          <a:p>
            <a:pPr marL="0" indent="0" algn="l">
              <a:lnSpc>
                <a:spcPct val="108000"/>
              </a:lnSpc>
              <a:buNone/>
            </a:pPr>
            <a:r>
              <a:rPr lang="en-US" sz="6300" kern="0" spc="-94" dirty="0">
                <a:solidFill>
                  <a:srgbClr val="212529"/>
                </a:solidFill>
                <a:latin typeface="Arial" pitchFamily="34" charset="0"/>
                <a:ea typeface="Arial" pitchFamily="34" charset="-122"/>
                <a:cs typeface="Arial" pitchFamily="34" charset="-120"/>
              </a:rPr>
              <a:t>Your site won't load, your mail is silent. Why?</a:t>
            </a:r>
            <a:endParaRPr lang="en-US" sz="6300" dirty="0"/>
          </a:p>
        </p:txBody>
      </p:sp>
      <p:sp>
        <p:nvSpPr>
          <p:cNvPr id="5" name="Text 3"/>
          <p:cNvSpPr/>
          <p:nvPr/>
        </p:nvSpPr>
        <p:spPr>
          <a:xfrm>
            <a:off x="1238250" y="6036866"/>
            <a:ext cx="10791825" cy="673518"/>
          </a:xfrm>
          <a:prstGeom prst="rect">
            <a:avLst/>
          </a:prstGeom>
          <a:noFill/>
          <a:ln/>
        </p:spPr>
        <p:txBody>
          <a:bodyPr wrap="square" lIns="25400" tIns="25400" rIns="25400" bIns="25400" rtlCol="0" anchor="t">
            <a:spAutoFit/>
          </a:bodyPr>
          <a:lstStyle/>
          <a:p>
            <a:pPr marL="0" indent="0" algn="l">
              <a:lnSpc>
                <a:spcPct val="140000"/>
              </a:lnSpc>
              <a:buNone/>
            </a:pPr>
            <a:r>
              <a:rPr lang="en-US" sz="3200" dirty="0">
                <a:solidFill>
                  <a:srgbClr val="6C757D"/>
                </a:solidFill>
                <a:latin typeface="Arial" pitchFamily="34" charset="0"/>
                <a:ea typeface="Arial" pitchFamily="34" charset="-122"/>
                <a:cs typeface="Arial" pitchFamily="34" charset="-120"/>
              </a:rPr>
              <a:t>Same symptom, at least six different causes.</a:t>
            </a:r>
            <a:endParaRPr lang="en-US" sz="3200" dirty="0"/>
          </a:p>
        </p:txBody>
      </p:sp>
      <p:sp>
        <p:nvSpPr>
          <p:cNvPr id="6" name="Text 4"/>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2726089" y="963193"/>
            <a:ext cx="4465201" cy="328295"/>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028252" y="966546"/>
            <a:ext cx="10761756" cy="511799"/>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WHEN IT BREAKS · TAXONOMY</a:t>
            </a:r>
            <a:endParaRPr lang="en-US" sz="1950" dirty="0"/>
          </a:p>
        </p:txBody>
      </p:sp>
      <p:sp>
        <p:nvSpPr>
          <p:cNvPr id="4" name="Text 2"/>
          <p:cNvSpPr/>
          <p:nvPr/>
        </p:nvSpPr>
        <p:spPr>
          <a:xfrm>
            <a:off x="1131524" y="1648988"/>
            <a:ext cx="17570607" cy="762260"/>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A spectrum from accident to attack</a:t>
            </a:r>
            <a:endParaRPr lang="en-US" sz="4650" dirty="0"/>
          </a:p>
        </p:txBody>
      </p:sp>
      <p:sp>
        <p:nvSpPr>
          <p:cNvPr id="6" name="Text 4"/>
          <p:cNvSpPr/>
          <p:nvPr/>
        </p:nvSpPr>
        <p:spPr>
          <a:xfrm>
            <a:off x="1572573" y="3252676"/>
            <a:ext cx="14660305" cy="2257541"/>
          </a:xfrm>
          <a:prstGeom prst="rect">
            <a:avLst/>
          </a:prstGeom>
          <a:noFill/>
          <a:ln/>
        </p:spPr>
        <p:txBody>
          <a:bodyPr wrap="square" lIns="25400" tIns="25400" rIns="25400" bIns="25400" rtlCol="0" anchor="t">
            <a:spAutoFit/>
          </a:bodyPr>
          <a:lstStyle/>
          <a:p>
            <a:pPr marL="333375" indent="-333375" algn="l">
              <a:lnSpc>
                <a:spcPct val="140000"/>
              </a:lnSpc>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Benign end: misconfiguration (typos, stale glue), lame delegation, expiry.</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Malicious end: DDoS, on-path interception and censorship, delegation hijack.</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Most look identical from outside — a name that won't resolve. So we measure.</a:t>
            </a:r>
            <a:endParaRPr lang="en-US" sz="3200" dirty="0"/>
          </a:p>
        </p:txBody>
      </p:sp>
      <p:sp>
        <p:nvSpPr>
          <p:cNvPr id="12" name="Text 9"/>
          <p:cNvSpPr/>
          <p:nvPr/>
        </p:nvSpPr>
        <p:spPr>
          <a:xfrm>
            <a:off x="14163869" y="6755363"/>
            <a:ext cx="3564294" cy="2513509"/>
          </a:xfrm>
          <a:prstGeom prst="rect">
            <a:avLst/>
          </a:prstGeom>
          <a:noFill/>
          <a:ln/>
        </p:spPr>
        <p:txBody>
          <a:bodyPr wrap="square" lIns="25400" tIns="25400" rIns="25400" bIns="25400" rtlCol="0" anchor="t">
            <a:spAutoFit/>
          </a:bodyPr>
          <a:lstStyle/>
          <a:p>
            <a:r>
              <a:rPr sz="3200" i="1" dirty="0">
                <a:latin typeface="Arial"/>
              </a:rPr>
              <a:t>Lame delegation = an NS listed at the parent that doesn't actually answer authoritatively.</a:t>
            </a:r>
          </a:p>
        </p:txBody>
      </p:sp>
      <p:sp>
        <p:nvSpPr>
          <p:cNvPr id="13" name="Text 10"/>
          <p:cNvSpPr/>
          <p:nvPr/>
        </p:nvSpPr>
        <p:spPr>
          <a:xfrm>
            <a:off x="940828" y="9681743"/>
            <a:ext cx="4997744" cy="328295"/>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pic>
        <p:nvPicPr>
          <p:cNvPr id="15" name="Picture 14" descr="a21_failure_spectrum.png"/>
          <p:cNvPicPr>
            <a:picLocks noChangeAspect="1"/>
          </p:cNvPicPr>
          <p:nvPr/>
        </p:nvPicPr>
        <p:blipFill>
          <a:blip r:embed="rId3"/>
          <a:stretch>
            <a:fillRect/>
          </a:stretch>
        </p:blipFill>
        <p:spPr>
          <a:xfrm>
            <a:off x="186352" y="6403623"/>
            <a:ext cx="13981805" cy="279636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WHEN IT BREAKS · THREAT MODEL</a:t>
            </a:r>
            <a:endParaRPr lang="en-US" sz="1950" dirty="0"/>
          </a:p>
        </p:txBody>
      </p:sp>
      <p:sp>
        <p:nvSpPr>
          <p:cNvPr id="4" name="Text 2"/>
          <p:cNvSpPr/>
          <p:nvPr/>
        </p:nvSpPr>
        <p:spPr>
          <a:xfrm>
            <a:off x="1238250" y="1496568"/>
            <a:ext cx="17392650" cy="652264"/>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Three tiers, three blast radii</a:t>
            </a:r>
            <a:endParaRPr lang="en-US" sz="4650" dirty="0"/>
          </a:p>
        </p:txBody>
      </p:sp>
      <p:sp>
        <p:nvSpPr>
          <p:cNvPr id="6" name="Text 4"/>
          <p:cNvSpPr/>
          <p:nvPr/>
        </p:nvSpPr>
        <p:spPr>
          <a:xfrm>
            <a:off x="995654" y="3471632"/>
            <a:ext cx="10014468" cy="4530984"/>
          </a:xfrm>
          <a:prstGeom prst="rect">
            <a:avLst/>
          </a:prstGeom>
          <a:noFill/>
          <a:ln/>
        </p:spPr>
        <p:txBody>
          <a:bodyPr wrap="square" lIns="25400" tIns="25400" rIns="25400" bIns="25400" rtlCol="0" anchor="t">
            <a:spAutoFit/>
          </a:bodyPr>
          <a:lstStyle/>
          <a:p>
            <a:pPr marL="333375" indent="-333375" algn="l">
              <a:lnSpc>
                <a:spcPct val="140000"/>
              </a:lnSpc>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Registrant account compromise: </a:t>
            </a:r>
          </a:p>
          <a:p>
            <a:pPr marL="790575" lvl="1" indent="-333375">
              <a:lnSpc>
                <a:spcPct val="140000"/>
              </a:lnSpc>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 the domains in that one account.</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Registrar compromise (</a:t>
            </a:r>
            <a:r>
              <a:rPr lang="en-US" sz="3200" dirty="0">
                <a:solidFill>
                  <a:srgbClr val="343A40"/>
                </a:solidFill>
                <a:latin typeface="Roboto Mono" pitchFamily="34" charset="0"/>
                <a:ea typeface="Arial" pitchFamily="34" charset="-122"/>
                <a:cs typeface="Arial" pitchFamily="34" charset="-120"/>
              </a:rPr>
              <a:t>EPP</a:t>
            </a:r>
            <a:r>
              <a:rPr lang="en-US" sz="3200" dirty="0">
                <a:solidFill>
                  <a:srgbClr val="343A40"/>
                </a:solidFill>
                <a:latin typeface="Arial" pitchFamily="34" charset="0"/>
                <a:ea typeface="Arial" pitchFamily="34" charset="-122"/>
                <a:cs typeface="Arial" pitchFamily="34" charset="-120"/>
              </a:rPr>
              <a:t> credentials):</a:t>
            </a:r>
          </a:p>
          <a:p>
            <a:pPr marL="790575" lvl="1" indent="-333375">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 potentially every domain that registrar manages.</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Registry compromise: </a:t>
            </a:r>
          </a:p>
          <a:p>
            <a:pPr marL="790575" lvl="1" indent="-333375">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 every domain in the entire TLD.</a:t>
            </a:r>
            <a:endParaRPr lang="en-US" sz="3200" dirty="0"/>
          </a:p>
        </p:txBody>
      </p:sp>
      <p:sp>
        <p:nvSpPr>
          <p:cNvPr id="12" name="Text 9"/>
          <p:cNvSpPr/>
          <p:nvPr/>
        </p:nvSpPr>
        <p:spPr>
          <a:xfrm>
            <a:off x="11180240" y="6524115"/>
            <a:ext cx="7107760" cy="1036181"/>
          </a:xfrm>
          <a:prstGeom prst="rect">
            <a:avLst/>
          </a:prstGeom>
          <a:noFill/>
          <a:ln/>
        </p:spPr>
        <p:txBody>
          <a:bodyPr wrap="square" lIns="25400" tIns="25400" rIns="25400" bIns="25400" rtlCol="0" anchor="t">
            <a:spAutoFit/>
          </a:bodyPr>
          <a:lstStyle/>
          <a:p>
            <a:r>
              <a:rPr sz="3200" i="1" dirty="0">
                <a:latin typeface="Arial"/>
              </a:rPr>
              <a:t>Registrant → registrar → registry: </a:t>
            </a:r>
            <a:endParaRPr lang="en-US" sz="3200" i="1" dirty="0">
              <a:latin typeface="Arial"/>
            </a:endParaRPr>
          </a:p>
          <a:p>
            <a:r>
              <a:rPr sz="3200" i="1" dirty="0">
                <a:latin typeface="Arial"/>
              </a:rPr>
              <a:t>control moves up, blast radius widens.</a:t>
            </a:r>
          </a:p>
        </p:txBody>
      </p:sp>
      <p:sp>
        <p:nvSpPr>
          <p:cNvPr id="13" name="Text 10"/>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pic>
        <p:nvPicPr>
          <p:cNvPr id="15" name="Picture 14" descr="a22_blast_radius.png"/>
          <p:cNvPicPr>
            <a:picLocks noChangeAspect="1"/>
          </p:cNvPicPr>
          <p:nvPr/>
        </p:nvPicPr>
        <p:blipFill>
          <a:blip r:embed="rId3"/>
          <a:stretch>
            <a:fillRect/>
          </a:stretch>
        </p:blipFill>
        <p:spPr>
          <a:xfrm>
            <a:off x="10410768" y="2668555"/>
            <a:ext cx="8385361" cy="375344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WHEN IT BREAKS · HIJACK</a:t>
            </a:r>
            <a:endParaRPr lang="en-US" sz="1950" dirty="0"/>
          </a:p>
        </p:txBody>
      </p:sp>
      <p:sp>
        <p:nvSpPr>
          <p:cNvPr id="4" name="Text 2"/>
          <p:cNvSpPr/>
          <p:nvPr/>
        </p:nvSpPr>
        <p:spPr>
          <a:xfrm>
            <a:off x="1238250" y="1496568"/>
            <a:ext cx="17392650" cy="652264"/>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Anatomy of a targeted delegation hijack</a:t>
            </a:r>
            <a:endParaRPr lang="en-US" sz="4650" dirty="0"/>
          </a:p>
        </p:txBody>
      </p:sp>
      <p:sp>
        <p:nvSpPr>
          <p:cNvPr id="6" name="Text 4"/>
          <p:cNvSpPr/>
          <p:nvPr/>
        </p:nvSpPr>
        <p:spPr>
          <a:xfrm>
            <a:off x="659752" y="3285020"/>
            <a:ext cx="9118730" cy="4325800"/>
          </a:xfrm>
          <a:prstGeom prst="rect">
            <a:avLst/>
          </a:prstGeom>
          <a:noFill/>
          <a:ln/>
        </p:spPr>
        <p:txBody>
          <a:bodyPr wrap="square" lIns="25400" tIns="25400" rIns="25400" bIns="25400" rtlCol="0" anchor="t">
            <a:spAutoFit/>
          </a:bodyPr>
          <a:lstStyle/>
          <a:p>
            <a:pPr marL="333375" indent="-333375" algn="l">
              <a:lnSpc>
                <a:spcPct val="140000"/>
              </a:lnSpc>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Attacker changes the NS delegation at the registrar, pointing it at their servers.</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They serve forged records, </a:t>
            </a:r>
            <a:r>
              <a:rPr lang="en-US" sz="3200" b="1" dirty="0">
                <a:solidFill>
                  <a:srgbClr val="343A40"/>
                </a:solidFill>
                <a:latin typeface="Arial" pitchFamily="34" charset="0"/>
                <a:ea typeface="Arial" pitchFamily="34" charset="-122"/>
                <a:cs typeface="Arial" pitchFamily="34" charset="-120"/>
              </a:rPr>
              <a:t>redirecting logins and mail</a:t>
            </a:r>
            <a:r>
              <a:rPr lang="en-US" sz="3200" dirty="0">
                <a:solidFill>
                  <a:srgbClr val="343A40"/>
                </a:solidFill>
                <a:latin typeface="Arial" pitchFamily="34" charset="0"/>
                <a:ea typeface="Arial" pitchFamily="34" charset="-122"/>
                <a:cs typeface="Arial" pitchFamily="34" charset="-120"/>
              </a:rPr>
              <a:t>, then </a:t>
            </a:r>
            <a:r>
              <a:rPr lang="en-US" sz="3200" b="1" dirty="0">
                <a:solidFill>
                  <a:srgbClr val="343A40"/>
                </a:solidFill>
                <a:latin typeface="Arial" pitchFamily="34" charset="0"/>
                <a:ea typeface="Arial" pitchFamily="34" charset="-122"/>
                <a:cs typeface="Arial" pitchFamily="34" charset="-120"/>
              </a:rPr>
              <a:t>revert</a:t>
            </a:r>
            <a:r>
              <a:rPr lang="en-US" sz="3200" dirty="0">
                <a:solidFill>
                  <a:srgbClr val="343A40"/>
                </a:solidFill>
                <a:latin typeface="Arial" pitchFamily="34" charset="0"/>
                <a:ea typeface="Arial" pitchFamily="34" charset="-122"/>
                <a:cs typeface="Arial" pitchFamily="34" charset="-120"/>
              </a:rPr>
              <a:t> to </a:t>
            </a:r>
            <a:r>
              <a:rPr lang="en-US" sz="3200" b="1" dirty="0">
                <a:solidFill>
                  <a:srgbClr val="343A40"/>
                </a:solidFill>
                <a:latin typeface="Arial" pitchFamily="34" charset="0"/>
                <a:ea typeface="Arial" pitchFamily="34" charset="-122"/>
                <a:cs typeface="Arial" pitchFamily="34" charset="-120"/>
              </a:rPr>
              <a:t>evade notice</a:t>
            </a:r>
            <a:r>
              <a:rPr lang="en-US" sz="3200" dirty="0">
                <a:solidFill>
                  <a:srgbClr val="343A40"/>
                </a:solidFill>
                <a:latin typeface="Arial" pitchFamily="34" charset="0"/>
                <a:ea typeface="Arial" pitchFamily="34" charset="-122"/>
                <a:cs typeface="Arial" pitchFamily="34" charset="-120"/>
              </a:rPr>
              <a:t>.</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Country-level victims (2014 aerospace, 2020–21 .gov.kg) — fit the degradation theme.</a:t>
            </a:r>
            <a:endParaRPr lang="en-US" sz="3200" dirty="0"/>
          </a:p>
        </p:txBody>
      </p:sp>
      <p:sp>
        <p:nvSpPr>
          <p:cNvPr id="12" name="Text 9"/>
          <p:cNvSpPr/>
          <p:nvPr/>
        </p:nvSpPr>
        <p:spPr>
          <a:xfrm>
            <a:off x="11012289" y="7587805"/>
            <a:ext cx="5948055" cy="1036181"/>
          </a:xfrm>
          <a:prstGeom prst="rect">
            <a:avLst/>
          </a:prstGeom>
          <a:noFill/>
          <a:ln/>
        </p:spPr>
        <p:txBody>
          <a:bodyPr wrap="square" lIns="25400" tIns="25400" rIns="25400" bIns="25400" rtlCol="0" anchor="t">
            <a:spAutoFit/>
          </a:bodyPr>
          <a:lstStyle/>
          <a:p>
            <a:r>
              <a:rPr sz="3200" i="1" dirty="0">
                <a:latin typeface="Arial"/>
              </a:rPr>
              <a:t>Normal </a:t>
            </a:r>
            <a:r>
              <a:rPr lang="en-US" sz="3200" i="1" dirty="0">
                <a:latin typeface="Arial"/>
              </a:rPr>
              <a:t>vs hijacked </a:t>
            </a:r>
            <a:r>
              <a:rPr sz="3200" i="1" dirty="0">
                <a:latin typeface="Arial"/>
              </a:rPr>
              <a:t>delegation—parent points somewhere new.</a:t>
            </a:r>
          </a:p>
        </p:txBody>
      </p:sp>
      <p:sp>
        <p:nvSpPr>
          <p:cNvPr id="13" name="Text 10"/>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pic>
        <p:nvPicPr>
          <p:cNvPr id="15" name="Picture 14" descr="a23_hijack_paths.png"/>
          <p:cNvPicPr>
            <a:picLocks noChangeAspect="1"/>
          </p:cNvPicPr>
          <p:nvPr/>
        </p:nvPicPr>
        <p:blipFill>
          <a:blip r:embed="rId3"/>
          <a:stretch>
            <a:fillRect/>
          </a:stretch>
        </p:blipFill>
        <p:spPr>
          <a:xfrm>
            <a:off x="9004006" y="3191070"/>
            <a:ext cx="10616575" cy="380811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WHEN IT BREAKS · HIDDEN TRUST</a:t>
            </a:r>
            <a:endParaRPr lang="en-US" sz="1950" dirty="0"/>
          </a:p>
        </p:txBody>
      </p:sp>
      <p:sp>
        <p:nvSpPr>
          <p:cNvPr id="4" name="Text 2"/>
          <p:cNvSpPr/>
          <p:nvPr/>
        </p:nvSpPr>
        <p:spPr>
          <a:xfrm>
            <a:off x="1238250" y="1496568"/>
            <a:ext cx="17392650" cy="762260"/>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The DNS underwrites TLS</a:t>
            </a:r>
            <a:endParaRPr lang="en-US" sz="4650" dirty="0"/>
          </a:p>
        </p:txBody>
      </p:sp>
      <p:sp>
        <p:nvSpPr>
          <p:cNvPr id="6" name="Text 4"/>
          <p:cNvSpPr/>
          <p:nvPr/>
        </p:nvSpPr>
        <p:spPr>
          <a:xfrm>
            <a:off x="1107622" y="2743844"/>
            <a:ext cx="17180378" cy="2946961"/>
          </a:xfrm>
          <a:prstGeom prst="rect">
            <a:avLst/>
          </a:prstGeom>
          <a:noFill/>
          <a:ln/>
        </p:spPr>
        <p:txBody>
          <a:bodyPr wrap="square" lIns="25400" tIns="25400" rIns="25400" bIns="25400" rtlCol="0" anchor="t">
            <a:spAutoFit/>
          </a:bodyPr>
          <a:lstStyle/>
          <a:p>
            <a:pPr marL="333375" indent="-333375" algn="l">
              <a:lnSpc>
                <a:spcPct val="140000"/>
              </a:lnSpc>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Domain-validated (DV) issuance proves control </a:t>
            </a:r>
          </a:p>
          <a:p>
            <a:pPr marL="1247775" lvl="2" indent="-333375">
              <a:lnSpc>
                <a:spcPct val="140000"/>
              </a:lnSpc>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 by answering a DNS (or HTTP) challenge.</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So whoever controls your DNS can get a real, browser-trusted cert: </a:t>
            </a:r>
            <a:r>
              <a:rPr lang="en-US" sz="3200" b="1" dirty="0">
                <a:solidFill>
                  <a:srgbClr val="343A40"/>
                </a:solidFill>
                <a:latin typeface="Arial" pitchFamily="34" charset="0"/>
                <a:ea typeface="Arial" pitchFamily="34" charset="-122"/>
                <a:cs typeface="Arial" pitchFamily="34" charset="-120"/>
              </a:rPr>
              <a:t>malicious</a:t>
            </a:r>
            <a:r>
              <a:rPr lang="en-US" sz="3200" dirty="0">
                <a:solidFill>
                  <a:srgbClr val="343A40"/>
                </a:solidFill>
                <a:latin typeface="Arial" pitchFamily="34" charset="0"/>
                <a:ea typeface="Arial" pitchFamily="34" charset="-122"/>
                <a:cs typeface="Arial" pitchFamily="34" charset="-120"/>
              </a:rPr>
              <a:t> but </a:t>
            </a:r>
            <a:r>
              <a:rPr lang="en-US" sz="3200" b="1" dirty="0">
                <a:solidFill>
                  <a:srgbClr val="343A40"/>
                </a:solidFill>
                <a:latin typeface="Arial" pitchFamily="34" charset="0"/>
                <a:ea typeface="Arial" pitchFamily="34" charset="-122"/>
                <a:cs typeface="Arial" pitchFamily="34" charset="-120"/>
              </a:rPr>
              <a:t>valid</a:t>
            </a:r>
            <a:r>
              <a:rPr lang="en-US" sz="3200" dirty="0">
                <a:solidFill>
                  <a:srgbClr val="343A40"/>
                </a:solidFill>
                <a:latin typeface="Arial" pitchFamily="34" charset="0"/>
                <a:ea typeface="Arial" pitchFamily="34" charset="-122"/>
                <a:cs typeface="Arial" pitchFamily="34" charset="-120"/>
              </a:rPr>
              <a:t>.</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CT logs make issuance auditable — but only afterward.</a:t>
            </a:r>
            <a:endParaRPr lang="en-US" sz="3200" dirty="0"/>
          </a:p>
        </p:txBody>
      </p:sp>
      <p:sp>
        <p:nvSpPr>
          <p:cNvPr id="13" name="Text 10"/>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pic>
        <p:nvPicPr>
          <p:cNvPr id="15" name="Picture 14" descr="a24_dv_trust_chain.png"/>
          <p:cNvPicPr>
            <a:picLocks noChangeAspect="1"/>
          </p:cNvPicPr>
          <p:nvPr/>
        </p:nvPicPr>
        <p:blipFill>
          <a:blip r:embed="rId3"/>
          <a:stretch>
            <a:fillRect/>
          </a:stretch>
        </p:blipFill>
        <p:spPr>
          <a:xfrm>
            <a:off x="1530219" y="5243804"/>
            <a:ext cx="15348649" cy="42343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WHEN IT BREAKS · SILENT DECAY</a:t>
            </a:r>
            <a:endParaRPr lang="en-US" sz="1950" dirty="0"/>
          </a:p>
        </p:txBody>
      </p:sp>
      <p:sp>
        <p:nvSpPr>
          <p:cNvPr id="4" name="Text 2"/>
          <p:cNvSpPr/>
          <p:nvPr/>
        </p:nvSpPr>
        <p:spPr>
          <a:xfrm>
            <a:off x="1238250" y="1496568"/>
            <a:ext cx="17392650" cy="652264"/>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Failure without an attacker: Risky BIZness</a:t>
            </a:r>
            <a:endParaRPr lang="en-US" sz="4650" dirty="0"/>
          </a:p>
        </p:txBody>
      </p:sp>
      <p:sp>
        <p:nvSpPr>
          <p:cNvPr id="6" name="Text 4"/>
          <p:cNvSpPr/>
          <p:nvPr/>
        </p:nvSpPr>
        <p:spPr>
          <a:xfrm>
            <a:off x="1014314" y="3098407"/>
            <a:ext cx="16508576" cy="2257541"/>
          </a:xfrm>
          <a:prstGeom prst="rect">
            <a:avLst/>
          </a:prstGeom>
          <a:noFill/>
          <a:ln/>
        </p:spPr>
        <p:txBody>
          <a:bodyPr wrap="square" lIns="25400" tIns="25400" rIns="25400" bIns="25400" rtlCol="0" anchor="t">
            <a:spAutoFit/>
          </a:bodyPr>
          <a:lstStyle/>
          <a:p>
            <a:pPr marL="333375" indent="-333375" algn="l">
              <a:lnSpc>
                <a:spcPct val="140000"/>
              </a:lnSpc>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EPP host-object rules incentivize registrars to rename dangling </a:t>
            </a:r>
            <a:r>
              <a:rPr lang="en-US" sz="3200" dirty="0">
                <a:solidFill>
                  <a:srgbClr val="343A40"/>
                </a:solidFill>
                <a:latin typeface="Roboto Mono" pitchFamily="34" charset="0"/>
                <a:ea typeface="Arial" pitchFamily="34" charset="-122"/>
                <a:cs typeface="Arial" pitchFamily="34" charset="-120"/>
              </a:rPr>
              <a:t>NS</a:t>
            </a:r>
            <a:r>
              <a:rPr lang="en-US" sz="3200" dirty="0">
                <a:solidFill>
                  <a:srgbClr val="343A40"/>
                </a:solidFill>
                <a:latin typeface="Arial" pitchFamily="34" charset="0"/>
                <a:ea typeface="Arial" pitchFamily="34" charset="-122"/>
                <a:cs typeface="Arial" pitchFamily="34" charset="-120"/>
              </a:rPr>
              <a:t> hosts into other TLDs.</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Live domains (courthouses, healthcare, </a:t>
            </a:r>
            <a:r>
              <a:rPr lang="en-US" sz="3200" dirty="0">
                <a:solidFill>
                  <a:srgbClr val="343A40"/>
                </a:solidFill>
                <a:latin typeface="Roboto Mono" pitchFamily="34" charset="0"/>
                <a:ea typeface="Arial" pitchFamily="34" charset="-122"/>
                <a:cs typeface="Arial" pitchFamily="34" charset="-120"/>
              </a:rPr>
              <a:t>gov</a:t>
            </a:r>
            <a:r>
              <a:rPr lang="en-US" sz="3200" dirty="0">
                <a:solidFill>
                  <a:srgbClr val="343A40"/>
                </a:solidFill>
                <a:latin typeface="Arial" pitchFamily="34" charset="0"/>
                <a:ea typeface="Arial" pitchFamily="34" charset="-122"/>
                <a:cs typeface="Arial" pitchFamily="34" charset="-120"/>
              </a:rPr>
              <a:t>/</a:t>
            </a:r>
            <a:r>
              <a:rPr lang="en-US" sz="3200" dirty="0">
                <a:solidFill>
                  <a:srgbClr val="343A40"/>
                </a:solidFill>
                <a:latin typeface="Roboto Mono" pitchFamily="34" charset="0"/>
                <a:ea typeface="Arial" pitchFamily="34" charset="-122"/>
                <a:cs typeface="Arial" pitchFamily="34" charset="-120"/>
              </a:rPr>
              <a:t>edu</a:t>
            </a:r>
            <a:r>
              <a:rPr lang="en-US" sz="3200" dirty="0">
                <a:solidFill>
                  <a:srgbClr val="343A40"/>
                </a:solidFill>
                <a:latin typeface="Arial" pitchFamily="34" charset="0"/>
                <a:ea typeface="Arial" pitchFamily="34" charset="-122"/>
                <a:cs typeface="Arial" pitchFamily="34" charset="-120"/>
              </a:rPr>
              <a:t>) then point at hijackable names.</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The owner never acts; re-registering doesn't fix it. Visible in zone files.</a:t>
            </a:r>
            <a:endParaRPr lang="en-US" sz="3200" dirty="0"/>
          </a:p>
        </p:txBody>
      </p:sp>
      <p:sp>
        <p:nvSpPr>
          <p:cNvPr id="13" name="Text 10"/>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sp>
        <p:nvSpPr>
          <p:cNvPr id="5" name="TextBox 4">
            <a:extLst>
              <a:ext uri="{FF2B5EF4-FFF2-40B4-BE49-F238E27FC236}">
                <a16:creationId xmlns:a16="http://schemas.microsoft.com/office/drawing/2014/main" id="{F365E11D-FDA3-522F-1F3A-90429CEA549A}"/>
              </a:ext>
            </a:extLst>
          </p:cNvPr>
          <p:cNvSpPr txBox="1"/>
          <p:nvPr/>
        </p:nvSpPr>
        <p:spPr>
          <a:xfrm>
            <a:off x="1847461" y="6624734"/>
            <a:ext cx="15507478" cy="2062103"/>
          </a:xfrm>
          <a:prstGeom prst="rect">
            <a:avLst/>
          </a:prstGeom>
          <a:noFill/>
        </p:spPr>
        <p:txBody>
          <a:bodyPr wrap="square" rtlCol="0">
            <a:spAutoFit/>
          </a:bodyPr>
          <a:lstStyle/>
          <a:p>
            <a:r>
              <a:rPr lang="en-US" sz="3200" dirty="0"/>
              <a:t>Gautam’s slides:</a:t>
            </a:r>
          </a:p>
          <a:p>
            <a:r>
              <a:rPr lang="en-US" sz="3200" dirty="0">
                <a:hlinkClick r:id="rId3"/>
              </a:rPr>
              <a:t>https://cseweb.ucsd.edu/classes/wi23/cse291-e/slides/cse291e-lecture-09.pdf</a:t>
            </a:r>
            <a:endParaRPr lang="en-US" sz="3200" dirty="0"/>
          </a:p>
          <a:p>
            <a:endParaRPr lang="en-US" sz="3200" dirty="0"/>
          </a:p>
          <a:p>
            <a:r>
              <a:rPr lang="en-US" sz="3200" dirty="0"/>
              <a:t>Risky </a:t>
            </a:r>
            <a:r>
              <a:rPr lang="en-US" sz="3200" dirty="0" err="1"/>
              <a:t>BIZness</a:t>
            </a:r>
            <a:r>
              <a:rPr lang="en-US" sz="3200" dirty="0"/>
              <a:t> paper in Recommended Reading for this week</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WHEN IT BREAKS · MEASURE IT</a:t>
            </a:r>
            <a:endParaRPr lang="en-US" sz="1950" dirty="0"/>
          </a:p>
        </p:txBody>
      </p:sp>
      <p:sp>
        <p:nvSpPr>
          <p:cNvPr id="4" name="Text 2"/>
          <p:cNvSpPr/>
          <p:nvPr/>
        </p:nvSpPr>
        <p:spPr>
          <a:xfrm>
            <a:off x="1238250" y="1496568"/>
            <a:ext cx="17392650" cy="652264"/>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Measuring dependency at national scale</a:t>
            </a:r>
            <a:endParaRPr lang="en-US" sz="4650" dirty="0"/>
          </a:p>
        </p:txBody>
      </p:sp>
      <p:sp>
        <p:nvSpPr>
          <p:cNvPr id="6" name="Text 4"/>
          <p:cNvSpPr/>
          <p:nvPr/>
        </p:nvSpPr>
        <p:spPr>
          <a:xfrm>
            <a:off x="1309828" y="3183533"/>
            <a:ext cx="16652495" cy="2257477"/>
          </a:xfrm>
          <a:prstGeom prst="rect">
            <a:avLst/>
          </a:prstGeom>
          <a:noFill/>
          <a:ln/>
        </p:spPr>
        <p:txBody>
          <a:bodyPr wrap="square" lIns="25400" tIns="25400" rIns="25400" bIns="25400" rtlCol="0" anchor="t">
            <a:spAutoFit/>
          </a:bodyPr>
          <a:lstStyle/>
          <a:p>
            <a:pPr marL="333375" indent="-333375" algn="l">
              <a:lnSpc>
                <a:spcPct val="140000"/>
              </a:lnSpc>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Take a domain population (a country's </a:t>
            </a:r>
            <a:r>
              <a:rPr lang="en-US" sz="3200" dirty="0">
                <a:solidFill>
                  <a:srgbClr val="343A40"/>
                </a:solidFill>
                <a:latin typeface="Roboto Mono" pitchFamily="34" charset="0"/>
                <a:ea typeface="Arial" pitchFamily="34" charset="-122"/>
                <a:cs typeface="Arial" pitchFamily="34" charset="-120"/>
              </a:rPr>
              <a:t>gov</a:t>
            </a:r>
            <a:r>
              <a:rPr lang="en-US" sz="3200" dirty="0">
                <a:solidFill>
                  <a:srgbClr val="343A40"/>
                </a:solidFill>
                <a:latin typeface="Arial" pitchFamily="34" charset="0"/>
                <a:ea typeface="Arial" pitchFamily="34" charset="-122"/>
                <a:cs typeface="Arial" pitchFamily="34" charset="-120"/>
              </a:rPr>
              <a:t>), resolve NS/A/AAAA, map IPs to ASes.</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Walk AS relationships upward; tag the org and country behind each provider.</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It answers: whose infrastructure does a namespace depend on — any of it foreign?</a:t>
            </a:r>
            <a:endParaRPr lang="en-US" sz="3200" dirty="0"/>
          </a:p>
        </p:txBody>
      </p:sp>
      <p:sp>
        <p:nvSpPr>
          <p:cNvPr id="12" name="Text 9"/>
          <p:cNvSpPr/>
          <p:nvPr/>
        </p:nvSpPr>
        <p:spPr>
          <a:xfrm>
            <a:off x="3820439" y="8264210"/>
            <a:ext cx="13941571" cy="420628"/>
          </a:xfrm>
          <a:prstGeom prst="rect">
            <a:avLst/>
          </a:prstGeom>
          <a:noFill/>
          <a:ln/>
        </p:spPr>
        <p:txBody>
          <a:bodyPr wrap="square" lIns="25400" tIns="25400" rIns="25400" bIns="25400" rtlCol="0" anchor="t">
            <a:spAutoFit/>
          </a:bodyPr>
          <a:lstStyle/>
          <a:p>
            <a:r>
              <a:rPr sz="2400" dirty="0">
                <a:latin typeface="Arial"/>
              </a:rPr>
              <a:t>Domains → resolve → prefix2as → AS Rank → AS2Org. </a:t>
            </a:r>
            <a:r>
              <a:rPr lang="en-US" sz="2400" dirty="0">
                <a:latin typeface="Arial"/>
              </a:rPr>
              <a:t>(</a:t>
            </a:r>
            <a:r>
              <a:rPr sz="2400" dirty="0">
                <a:latin typeface="Arial"/>
              </a:rPr>
              <a:t>capstone method in miniature.</a:t>
            </a:r>
            <a:r>
              <a:rPr lang="en-US" sz="2400" dirty="0">
                <a:latin typeface="Arial"/>
              </a:rPr>
              <a:t>)</a:t>
            </a:r>
            <a:endParaRPr sz="2400" dirty="0">
              <a:latin typeface="Arial"/>
            </a:endParaRPr>
          </a:p>
        </p:txBody>
      </p:sp>
      <p:sp>
        <p:nvSpPr>
          <p:cNvPr id="13" name="Text 10"/>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pic>
        <p:nvPicPr>
          <p:cNvPr id="15" name="Picture 14" descr="a26_dependency_pipeline.png"/>
          <p:cNvPicPr>
            <a:picLocks noChangeAspect="1"/>
          </p:cNvPicPr>
          <p:nvPr/>
        </p:nvPicPr>
        <p:blipFill>
          <a:blip r:embed="rId3"/>
          <a:stretch>
            <a:fillRect/>
          </a:stretch>
        </p:blipFill>
        <p:spPr>
          <a:xfrm>
            <a:off x="3938287" y="5445754"/>
            <a:ext cx="11152396" cy="26765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2B5187"/>
        </a:solidFill>
        <a:effectLst/>
      </p:bgPr>
    </p:bg>
    <p:spTree>
      <p:nvGrpSpPr>
        <p:cNvPr id="1" name=""/>
        <p:cNvGrpSpPr/>
        <p:nvPr/>
      </p:nvGrpSpPr>
      <p:grpSpPr>
        <a:xfrm>
          <a:off x="0" y="0"/>
          <a:ext cx="0" cy="0"/>
          <a:chOff x="0" y="0"/>
          <a:chExt cx="0" cy="0"/>
        </a:xfrm>
      </p:grpSpPr>
      <p:sp>
        <p:nvSpPr>
          <p:cNvPr id="5" name="Text 3"/>
          <p:cNvSpPr/>
          <p:nvPr/>
        </p:nvSpPr>
        <p:spPr>
          <a:xfrm>
            <a:off x="1238250" y="2190750"/>
            <a:ext cx="8098453" cy="317500"/>
          </a:xfrm>
          <a:prstGeom prst="rect">
            <a:avLst/>
          </a:prstGeom>
          <a:noFill/>
          <a:ln/>
        </p:spPr>
        <p:txBody>
          <a:bodyPr wrap="square" lIns="25400" tIns="25400" rIns="25400" bIns="25400" rtlCol="0" anchor="t">
            <a:spAutoFit/>
          </a:bodyPr>
          <a:lstStyle/>
          <a:p>
            <a:pPr marL="0" indent="0" algn="l">
              <a:buNone/>
            </a:pPr>
            <a:r>
              <a:rPr lang="en-US" sz="1950" b="1" kern="0" spc="351" dirty="0">
                <a:solidFill>
                  <a:srgbClr val="A9C2E4"/>
                </a:solidFill>
                <a:latin typeface="Arial" pitchFamily="34" charset="0"/>
                <a:ea typeface="Arial" pitchFamily="34" charset="-122"/>
                <a:cs typeface="Arial" pitchFamily="34" charset="-120"/>
              </a:rPr>
              <a:t>PART FOUR</a:t>
            </a:r>
            <a:endParaRPr lang="en-US" sz="1950" dirty="0"/>
          </a:p>
        </p:txBody>
      </p:sp>
      <p:sp>
        <p:nvSpPr>
          <p:cNvPr id="6" name="Text 4"/>
          <p:cNvSpPr/>
          <p:nvPr/>
        </p:nvSpPr>
        <p:spPr>
          <a:xfrm>
            <a:off x="1238250" y="2565400"/>
            <a:ext cx="8098453" cy="1838325"/>
          </a:xfrm>
          <a:prstGeom prst="rect">
            <a:avLst/>
          </a:prstGeom>
          <a:noFill/>
          <a:ln/>
        </p:spPr>
        <p:txBody>
          <a:bodyPr wrap="square" lIns="25400" tIns="25400" rIns="25400" bIns="25400" rtlCol="0" anchor="t">
            <a:spAutoFit/>
          </a:bodyPr>
          <a:lstStyle/>
          <a:p>
            <a:pPr marL="0" indent="0" algn="l">
              <a:lnSpc>
                <a:spcPct val="90000"/>
              </a:lnSpc>
              <a:buNone/>
            </a:pPr>
            <a:r>
              <a:rPr lang="en-US" sz="15750" kern="0" spc="-315" dirty="0">
                <a:solidFill>
                  <a:srgbClr val="FFFFFF"/>
                </a:solidFill>
                <a:latin typeface="Arial" pitchFamily="34" charset="0"/>
                <a:ea typeface="Arial" pitchFamily="34" charset="-122"/>
                <a:cs typeface="Arial" pitchFamily="34" charset="-120"/>
              </a:rPr>
              <a:t>04</a:t>
            </a:r>
            <a:endParaRPr lang="en-US" sz="15750" dirty="0"/>
          </a:p>
        </p:txBody>
      </p:sp>
      <p:sp>
        <p:nvSpPr>
          <p:cNvPr id="7" name="Text 5"/>
          <p:cNvSpPr/>
          <p:nvPr/>
        </p:nvSpPr>
        <p:spPr>
          <a:xfrm>
            <a:off x="1238250" y="4613275"/>
            <a:ext cx="8098453" cy="1513838"/>
          </a:xfrm>
          <a:prstGeom prst="rect">
            <a:avLst/>
          </a:prstGeom>
          <a:noFill/>
          <a:ln/>
        </p:spPr>
        <p:txBody>
          <a:bodyPr wrap="square" lIns="25400" tIns="25400" rIns="25400" bIns="25400" rtlCol="0" anchor="t">
            <a:spAutoFit/>
          </a:bodyPr>
          <a:lstStyle/>
          <a:p>
            <a:pPr marL="0" indent="0" algn="l">
              <a:lnSpc>
                <a:spcPct val="105000"/>
              </a:lnSpc>
              <a:buNone/>
            </a:pPr>
            <a:r>
              <a:rPr lang="en-US" sz="4800" kern="0" spc="-48" dirty="0">
                <a:solidFill>
                  <a:srgbClr val="FFFFFF"/>
                </a:solidFill>
                <a:latin typeface="Arial" pitchFamily="34" charset="0"/>
                <a:ea typeface="Arial" pitchFamily="34" charset="-122"/>
                <a:cs typeface="Arial" pitchFamily="34" charset="-120"/>
              </a:rPr>
              <a:t>Your module this week: nids-dns-ecosystem</a:t>
            </a:r>
            <a:endParaRPr lang="en-US" sz="4800" dirty="0"/>
          </a:p>
        </p:txBody>
      </p:sp>
      <p:sp>
        <p:nvSpPr>
          <p:cNvPr id="8" name="Text 6"/>
          <p:cNvSpPr/>
          <p:nvPr/>
        </p:nvSpPr>
        <p:spPr>
          <a:xfrm>
            <a:off x="1238250" y="6222617"/>
            <a:ext cx="8098453" cy="475258"/>
          </a:xfrm>
          <a:prstGeom prst="rect">
            <a:avLst/>
          </a:prstGeom>
          <a:noFill/>
          <a:ln/>
        </p:spPr>
        <p:txBody>
          <a:bodyPr wrap="square" lIns="25400" tIns="25400" rIns="25400" bIns="25400" rtlCol="0" anchor="t">
            <a:spAutoFit/>
          </a:bodyPr>
          <a:lstStyle/>
          <a:p>
            <a:pPr marL="0" indent="0" algn="l">
              <a:lnSpc>
                <a:spcPct val="135000"/>
              </a:lnSpc>
              <a:buNone/>
            </a:pPr>
            <a:r>
              <a:rPr lang="en-US" sz="2550" dirty="0">
                <a:solidFill>
                  <a:srgbClr val="A9C2E4"/>
                </a:solidFill>
                <a:latin typeface="Arial" pitchFamily="34" charset="0"/>
                <a:ea typeface="Arial" pitchFamily="34" charset="-122"/>
                <a:cs typeface="Arial" pitchFamily="34" charset="-120"/>
              </a:rPr>
              <a:t>Three tasks, one arc: who hosts it, how resilient, how secured.</a:t>
            </a:r>
            <a:endParaRPr lang="en-US" sz="25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DATASETS · THE DNS, MEASURED</a:t>
            </a:r>
            <a:endParaRPr lang="en-US" sz="1950" dirty="0"/>
          </a:p>
        </p:txBody>
      </p:sp>
      <p:sp>
        <p:nvSpPr>
          <p:cNvPr id="4" name="Text 2"/>
          <p:cNvSpPr/>
          <p:nvPr/>
        </p:nvSpPr>
        <p:spPr>
          <a:xfrm>
            <a:off x="1238250" y="1496568"/>
            <a:ext cx="17392650" cy="652264"/>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Two views of the same namespace</a:t>
            </a:r>
            <a:endParaRPr lang="en-US" sz="4650" dirty="0"/>
          </a:p>
        </p:txBody>
      </p:sp>
      <p:sp>
        <p:nvSpPr>
          <p:cNvPr id="5" name="Shape 3"/>
          <p:cNvSpPr/>
          <p:nvPr/>
        </p:nvSpPr>
        <p:spPr>
          <a:xfrm>
            <a:off x="1238250" y="4306392"/>
            <a:ext cx="15811500" cy="1464866"/>
          </a:xfrm>
          <a:prstGeom prst="roundRect">
            <a:avLst>
              <a:gd name="adj" fmla="val 5202"/>
            </a:avLst>
          </a:prstGeom>
          <a:solidFill>
            <a:srgbClr val="FFFFFF"/>
          </a:solidFill>
          <a:ln/>
        </p:spPr>
        <p:txBody>
          <a:bodyPr/>
          <a:lstStyle/>
          <a:p>
            <a:endParaRPr/>
          </a:p>
        </p:txBody>
      </p:sp>
      <p:sp>
        <p:nvSpPr>
          <p:cNvPr id="6" name="Shape 4"/>
          <p:cNvSpPr/>
          <p:nvPr/>
        </p:nvSpPr>
        <p:spPr>
          <a:xfrm>
            <a:off x="1238250" y="5764907"/>
            <a:ext cx="15811500" cy="9525"/>
          </a:xfrm>
          <a:prstGeom prst="rect">
            <a:avLst/>
          </a:prstGeom>
          <a:solidFill>
            <a:srgbClr val="DEE2E6"/>
          </a:solidFill>
          <a:ln/>
        </p:spPr>
        <p:txBody>
          <a:bodyPr/>
          <a:lstStyle/>
          <a:p>
            <a:endParaRPr/>
          </a:p>
        </p:txBody>
      </p:sp>
      <p:sp>
        <p:nvSpPr>
          <p:cNvPr id="7" name="Shape 5"/>
          <p:cNvSpPr/>
          <p:nvPr/>
        </p:nvSpPr>
        <p:spPr>
          <a:xfrm>
            <a:off x="1238250" y="4306392"/>
            <a:ext cx="15811500" cy="9525"/>
          </a:xfrm>
          <a:prstGeom prst="rect">
            <a:avLst/>
          </a:prstGeom>
          <a:solidFill>
            <a:srgbClr val="DEE2E6"/>
          </a:solidFill>
          <a:ln/>
        </p:spPr>
        <p:txBody>
          <a:bodyPr/>
          <a:lstStyle/>
          <a:p>
            <a:endParaRPr/>
          </a:p>
        </p:txBody>
      </p:sp>
      <p:sp>
        <p:nvSpPr>
          <p:cNvPr id="8" name="Shape 6"/>
          <p:cNvSpPr/>
          <p:nvPr/>
        </p:nvSpPr>
        <p:spPr>
          <a:xfrm>
            <a:off x="1238250" y="4306392"/>
            <a:ext cx="44450" cy="1464866"/>
          </a:xfrm>
          <a:prstGeom prst="rect">
            <a:avLst/>
          </a:prstGeom>
          <a:solidFill>
            <a:srgbClr val="2B5187"/>
          </a:solidFill>
          <a:ln/>
        </p:spPr>
        <p:txBody>
          <a:bodyPr/>
          <a:lstStyle/>
          <a:p>
            <a:endParaRPr/>
          </a:p>
        </p:txBody>
      </p:sp>
      <p:sp>
        <p:nvSpPr>
          <p:cNvPr id="9" name="Shape 7"/>
          <p:cNvSpPr/>
          <p:nvPr/>
        </p:nvSpPr>
        <p:spPr>
          <a:xfrm>
            <a:off x="17043400" y="4306392"/>
            <a:ext cx="9525" cy="1464866"/>
          </a:xfrm>
          <a:prstGeom prst="rect">
            <a:avLst/>
          </a:prstGeom>
          <a:solidFill>
            <a:srgbClr val="DEE2E6"/>
          </a:solidFill>
          <a:ln/>
        </p:spPr>
        <p:txBody>
          <a:bodyPr/>
          <a:lstStyle/>
          <a:p>
            <a:endParaRPr/>
          </a:p>
        </p:txBody>
      </p:sp>
      <p:sp>
        <p:nvSpPr>
          <p:cNvPr id="10" name="Text 8"/>
          <p:cNvSpPr/>
          <p:nvPr/>
        </p:nvSpPr>
        <p:spPr>
          <a:xfrm>
            <a:off x="1663700" y="4526863"/>
            <a:ext cx="10515600" cy="566928"/>
          </a:xfrm>
          <a:prstGeom prst="rect">
            <a:avLst/>
          </a:prstGeom>
          <a:noFill/>
          <a:ln/>
        </p:spPr>
        <p:txBody>
          <a:bodyPr wrap="square" lIns="25400" tIns="25400" rIns="25400" bIns="25400" rtlCol="0" anchor="t">
            <a:spAutoFit/>
          </a:bodyPr>
          <a:lstStyle/>
          <a:p>
            <a:pPr marL="0" indent="0" algn="l">
              <a:buNone/>
            </a:pPr>
            <a:r>
              <a:rPr lang="en-US" sz="3000" b="1" dirty="0">
                <a:solidFill>
                  <a:srgbClr val="212529"/>
                </a:solidFill>
                <a:latin typeface="Arial" pitchFamily="34" charset="0"/>
                <a:ea typeface="Arial" pitchFamily="34" charset="-122"/>
                <a:cs typeface="Arial" pitchFamily="34" charset="-120"/>
              </a:rPr>
              <a:t>OpenINTEL forward DNS</a:t>
            </a:r>
            <a:endParaRPr lang="en-US" sz="2400" dirty="0"/>
          </a:p>
        </p:txBody>
      </p:sp>
      <p:sp>
        <p:nvSpPr>
          <p:cNvPr id="11" name="Text 9"/>
          <p:cNvSpPr/>
          <p:nvPr/>
        </p:nvSpPr>
        <p:spPr>
          <a:xfrm>
            <a:off x="1663700" y="5130367"/>
            <a:ext cx="10515600" cy="530352"/>
          </a:xfrm>
          <a:prstGeom prst="rect">
            <a:avLst/>
          </a:prstGeom>
          <a:noFill/>
          <a:ln/>
        </p:spPr>
        <p:txBody>
          <a:bodyPr wrap="square" lIns="25400" tIns="25400" rIns="25400" bIns="25400" rtlCol="0" anchor="t">
            <a:spAutoFit/>
          </a:bodyPr>
          <a:lstStyle/>
          <a:p>
            <a:pPr marL="0" indent="0" algn="l">
              <a:lnSpc>
                <a:spcPct val="135000"/>
              </a:lnSpc>
              <a:buNone/>
            </a:pPr>
            <a:r>
              <a:rPr lang="en-US" sz="2600" dirty="0">
                <a:solidFill>
                  <a:srgbClr val="343A40"/>
                </a:solidFill>
                <a:latin typeface="Arial" pitchFamily="34" charset="0"/>
                <a:ea typeface="Arial" pitchFamily="34" charset="-122"/>
                <a:cs typeface="Arial" pitchFamily="34" charset="-120"/>
              </a:rPr>
              <a:t>Daily active-DNS snapshots per TLD — the answers side.</a:t>
            </a:r>
            <a:endParaRPr lang="en-US" sz="2100" dirty="0"/>
          </a:p>
        </p:txBody>
      </p:sp>
      <p:sp>
        <p:nvSpPr>
          <p:cNvPr id="12" name="Text 10"/>
          <p:cNvSpPr/>
          <p:nvPr/>
        </p:nvSpPr>
        <p:spPr>
          <a:xfrm>
            <a:off x="12456161" y="4711799"/>
            <a:ext cx="4206240" cy="311150"/>
          </a:xfrm>
          <a:prstGeom prst="rect">
            <a:avLst/>
          </a:prstGeom>
          <a:noFill/>
          <a:ln/>
        </p:spPr>
        <p:txBody>
          <a:bodyPr wrap="square" lIns="25400" tIns="25400" rIns="25400" bIns="25400" rtlCol="0" anchor="t">
            <a:spAutoFit/>
          </a:bodyPr>
          <a:lstStyle/>
          <a:p>
            <a:pPr marL="0" indent="0" algn="r">
              <a:buNone/>
            </a:pPr>
            <a:r>
              <a:rPr lang="en-US" sz="1800" kern="0" spc="108" dirty="0">
                <a:solidFill>
                  <a:srgbClr val="6C757D"/>
                </a:solidFill>
                <a:latin typeface="Arial" pitchFamily="34" charset="0"/>
                <a:ea typeface="Arial" pitchFamily="34" charset="-122"/>
                <a:cs typeface="Arial" pitchFamily="34" charset="-120"/>
              </a:rPr>
              <a:t>PATH</a:t>
            </a:r>
            <a:endParaRPr lang="en-US" sz="1800" dirty="0"/>
          </a:p>
        </p:txBody>
      </p:sp>
      <p:sp>
        <p:nvSpPr>
          <p:cNvPr id="13" name="Text 11"/>
          <p:cNvSpPr/>
          <p:nvPr/>
        </p:nvSpPr>
        <p:spPr>
          <a:xfrm>
            <a:off x="12456161" y="5061049"/>
            <a:ext cx="4206240" cy="411480"/>
          </a:xfrm>
          <a:prstGeom prst="rect">
            <a:avLst/>
          </a:prstGeom>
          <a:noFill/>
          <a:ln/>
        </p:spPr>
        <p:txBody>
          <a:bodyPr wrap="square" lIns="25400" tIns="25400" rIns="25400" bIns="25400" rtlCol="0" anchor="t">
            <a:spAutoFit/>
          </a:bodyPr>
          <a:lstStyle/>
          <a:p>
            <a:pPr marL="0" indent="0" algn="r">
              <a:buNone/>
            </a:pPr>
            <a:r>
              <a:rPr lang="en-US" sz="2200" dirty="0">
                <a:solidFill>
                  <a:srgbClr val="2B5187"/>
                </a:solidFill>
                <a:latin typeface="Roboto Mono" pitchFamily="34" charset="0"/>
                <a:ea typeface="Arial" pitchFamily="34" charset="-122"/>
                <a:cs typeface="Arial" pitchFamily="34" charset="-120"/>
              </a:rPr>
              <a:t>s3a://openintel-public/…</a:t>
            </a:r>
            <a:endParaRPr lang="en-US" sz="1800" dirty="0"/>
          </a:p>
        </p:txBody>
      </p:sp>
      <p:sp>
        <p:nvSpPr>
          <p:cNvPr id="14" name="Shape 12"/>
          <p:cNvSpPr/>
          <p:nvPr/>
        </p:nvSpPr>
        <p:spPr>
          <a:xfrm>
            <a:off x="1238250" y="6057007"/>
            <a:ext cx="15811500" cy="1464866"/>
          </a:xfrm>
          <a:prstGeom prst="roundRect">
            <a:avLst>
              <a:gd name="adj" fmla="val 5202"/>
            </a:avLst>
          </a:prstGeom>
          <a:solidFill>
            <a:srgbClr val="FFFFFF"/>
          </a:solidFill>
          <a:ln/>
        </p:spPr>
        <p:txBody>
          <a:bodyPr/>
          <a:lstStyle/>
          <a:p>
            <a:endParaRPr/>
          </a:p>
        </p:txBody>
      </p:sp>
      <p:sp>
        <p:nvSpPr>
          <p:cNvPr id="15" name="Shape 13"/>
          <p:cNvSpPr/>
          <p:nvPr/>
        </p:nvSpPr>
        <p:spPr>
          <a:xfrm>
            <a:off x="1238250" y="7515523"/>
            <a:ext cx="15811500" cy="9525"/>
          </a:xfrm>
          <a:prstGeom prst="rect">
            <a:avLst/>
          </a:prstGeom>
          <a:solidFill>
            <a:srgbClr val="DEE2E6"/>
          </a:solidFill>
          <a:ln/>
        </p:spPr>
        <p:txBody>
          <a:bodyPr/>
          <a:lstStyle/>
          <a:p>
            <a:endParaRPr/>
          </a:p>
        </p:txBody>
      </p:sp>
      <p:sp>
        <p:nvSpPr>
          <p:cNvPr id="16" name="Shape 14"/>
          <p:cNvSpPr/>
          <p:nvPr/>
        </p:nvSpPr>
        <p:spPr>
          <a:xfrm>
            <a:off x="1238250" y="6057007"/>
            <a:ext cx="15811500" cy="9525"/>
          </a:xfrm>
          <a:prstGeom prst="rect">
            <a:avLst/>
          </a:prstGeom>
          <a:solidFill>
            <a:srgbClr val="DEE2E6"/>
          </a:solidFill>
          <a:ln/>
        </p:spPr>
        <p:txBody>
          <a:bodyPr/>
          <a:lstStyle/>
          <a:p>
            <a:endParaRPr/>
          </a:p>
        </p:txBody>
      </p:sp>
      <p:sp>
        <p:nvSpPr>
          <p:cNvPr id="17" name="Shape 15"/>
          <p:cNvSpPr/>
          <p:nvPr/>
        </p:nvSpPr>
        <p:spPr>
          <a:xfrm>
            <a:off x="1238250" y="6057007"/>
            <a:ext cx="44450" cy="1464866"/>
          </a:xfrm>
          <a:prstGeom prst="rect">
            <a:avLst/>
          </a:prstGeom>
          <a:solidFill>
            <a:srgbClr val="2B5187"/>
          </a:solidFill>
          <a:ln/>
        </p:spPr>
        <p:txBody>
          <a:bodyPr/>
          <a:lstStyle/>
          <a:p>
            <a:endParaRPr/>
          </a:p>
        </p:txBody>
      </p:sp>
      <p:sp>
        <p:nvSpPr>
          <p:cNvPr id="18" name="Shape 16"/>
          <p:cNvSpPr/>
          <p:nvPr/>
        </p:nvSpPr>
        <p:spPr>
          <a:xfrm>
            <a:off x="17043400" y="6057007"/>
            <a:ext cx="9525" cy="1464866"/>
          </a:xfrm>
          <a:prstGeom prst="rect">
            <a:avLst/>
          </a:prstGeom>
          <a:solidFill>
            <a:srgbClr val="DEE2E6"/>
          </a:solidFill>
          <a:ln/>
        </p:spPr>
        <p:txBody>
          <a:bodyPr/>
          <a:lstStyle/>
          <a:p>
            <a:endParaRPr/>
          </a:p>
        </p:txBody>
      </p:sp>
      <p:sp>
        <p:nvSpPr>
          <p:cNvPr id="19" name="Text 17"/>
          <p:cNvSpPr/>
          <p:nvPr/>
        </p:nvSpPr>
        <p:spPr>
          <a:xfrm>
            <a:off x="1663700" y="6277479"/>
            <a:ext cx="10515600" cy="566928"/>
          </a:xfrm>
          <a:prstGeom prst="rect">
            <a:avLst/>
          </a:prstGeom>
          <a:noFill/>
          <a:ln/>
        </p:spPr>
        <p:txBody>
          <a:bodyPr wrap="square" lIns="25400" tIns="25400" rIns="25400" bIns="25400" rtlCol="0" anchor="t">
            <a:spAutoFit/>
          </a:bodyPr>
          <a:lstStyle/>
          <a:p>
            <a:pPr marL="0" indent="0" algn="l">
              <a:buNone/>
            </a:pPr>
            <a:r>
              <a:rPr lang="en-US" sz="3000" b="1" dirty="0">
                <a:solidFill>
                  <a:srgbClr val="212529"/>
                </a:solidFill>
                <a:latin typeface="Arial" pitchFamily="34" charset="0"/>
                <a:ea typeface="Arial" pitchFamily="34" charset="-122"/>
                <a:cs typeface="Arial" pitchFamily="34" charset="-120"/>
              </a:rPr>
              <a:t>CZDS TLD zone files</a:t>
            </a:r>
            <a:endParaRPr lang="en-US" sz="2400" dirty="0"/>
          </a:p>
        </p:txBody>
      </p:sp>
      <p:sp>
        <p:nvSpPr>
          <p:cNvPr id="20" name="Text 18"/>
          <p:cNvSpPr/>
          <p:nvPr/>
        </p:nvSpPr>
        <p:spPr>
          <a:xfrm>
            <a:off x="1663700" y="6880983"/>
            <a:ext cx="10515600" cy="530352"/>
          </a:xfrm>
          <a:prstGeom prst="rect">
            <a:avLst/>
          </a:prstGeom>
          <a:noFill/>
          <a:ln/>
        </p:spPr>
        <p:txBody>
          <a:bodyPr wrap="square" lIns="25400" tIns="25400" rIns="25400" bIns="25400" rtlCol="0" anchor="t">
            <a:spAutoFit/>
          </a:bodyPr>
          <a:lstStyle/>
          <a:p>
            <a:pPr marL="0" indent="0" algn="l">
              <a:lnSpc>
                <a:spcPct val="135000"/>
              </a:lnSpc>
              <a:buNone/>
            </a:pPr>
            <a:r>
              <a:rPr lang="en-US" sz="2600" dirty="0">
                <a:solidFill>
                  <a:srgbClr val="343A40"/>
                </a:solidFill>
                <a:latin typeface="Arial" pitchFamily="34" charset="0"/>
                <a:ea typeface="Arial" pitchFamily="34" charset="-122"/>
                <a:cs typeface="Arial" pitchFamily="34" charset="-120"/>
              </a:rPr>
              <a:t>ICANN zone data — the registration side (NS delegations).</a:t>
            </a:r>
            <a:endParaRPr lang="en-US" sz="2100" dirty="0"/>
          </a:p>
        </p:txBody>
      </p:sp>
      <p:sp>
        <p:nvSpPr>
          <p:cNvPr id="21" name="Text 19"/>
          <p:cNvSpPr/>
          <p:nvPr/>
        </p:nvSpPr>
        <p:spPr>
          <a:xfrm>
            <a:off x="12456160" y="6462415"/>
            <a:ext cx="4206240" cy="311150"/>
          </a:xfrm>
          <a:prstGeom prst="rect">
            <a:avLst/>
          </a:prstGeom>
          <a:noFill/>
          <a:ln/>
        </p:spPr>
        <p:txBody>
          <a:bodyPr wrap="square" lIns="25400" tIns="25400" rIns="25400" bIns="25400" rtlCol="0" anchor="t">
            <a:spAutoFit/>
          </a:bodyPr>
          <a:lstStyle/>
          <a:p>
            <a:pPr marL="0" indent="0" algn="r">
              <a:buNone/>
            </a:pPr>
            <a:r>
              <a:rPr lang="en-US" sz="1800" kern="0" spc="108" dirty="0">
                <a:solidFill>
                  <a:srgbClr val="6C757D"/>
                </a:solidFill>
                <a:latin typeface="Arial" pitchFamily="34" charset="0"/>
                <a:ea typeface="Arial" pitchFamily="34" charset="-122"/>
                <a:cs typeface="Arial" pitchFamily="34" charset="-120"/>
              </a:rPr>
              <a:t>SOURCE</a:t>
            </a:r>
            <a:endParaRPr lang="en-US" sz="1800" dirty="0"/>
          </a:p>
        </p:txBody>
      </p:sp>
      <p:sp>
        <p:nvSpPr>
          <p:cNvPr id="22" name="Text 20"/>
          <p:cNvSpPr/>
          <p:nvPr/>
        </p:nvSpPr>
        <p:spPr>
          <a:xfrm>
            <a:off x="12456160" y="6811665"/>
            <a:ext cx="4206240" cy="411480"/>
          </a:xfrm>
          <a:prstGeom prst="rect">
            <a:avLst/>
          </a:prstGeom>
          <a:noFill/>
          <a:ln/>
        </p:spPr>
        <p:txBody>
          <a:bodyPr wrap="square" lIns="25400" tIns="25400" rIns="25400" bIns="25400" rtlCol="0" anchor="t">
            <a:spAutoFit/>
          </a:bodyPr>
          <a:lstStyle/>
          <a:p>
            <a:pPr marL="0" indent="0" algn="r">
              <a:buNone/>
            </a:pPr>
            <a:r>
              <a:rPr lang="en-US" sz="2200" dirty="0">
                <a:solidFill>
                  <a:srgbClr val="2B5187"/>
                </a:solidFill>
                <a:latin typeface="Roboto Mono" pitchFamily="34" charset="0"/>
                <a:ea typeface="Arial" pitchFamily="34" charset="-122"/>
                <a:cs typeface="Arial" pitchFamily="34" charset="-120"/>
              </a:rPr>
              <a:t>czds.icann.org</a:t>
            </a:r>
            <a:endParaRPr lang="en-US" sz="1800" dirty="0"/>
          </a:p>
        </p:txBody>
      </p:sp>
      <p:sp>
        <p:nvSpPr>
          <p:cNvPr id="23" name="Text 21"/>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DATASETS · SUPPORTING</a:t>
            </a:r>
            <a:endParaRPr lang="en-US" sz="1950" dirty="0"/>
          </a:p>
        </p:txBody>
      </p:sp>
      <p:sp>
        <p:nvSpPr>
          <p:cNvPr id="4" name="Text 2"/>
          <p:cNvSpPr/>
          <p:nvPr/>
        </p:nvSpPr>
        <p:spPr>
          <a:xfrm>
            <a:off x="1238250" y="1496568"/>
            <a:ext cx="17392650" cy="652264"/>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Anycast detection and the Python helpers</a:t>
            </a:r>
            <a:endParaRPr lang="en-US" sz="4650" dirty="0"/>
          </a:p>
        </p:txBody>
      </p:sp>
      <p:sp>
        <p:nvSpPr>
          <p:cNvPr id="5" name="Shape 3"/>
          <p:cNvSpPr/>
          <p:nvPr/>
        </p:nvSpPr>
        <p:spPr>
          <a:xfrm>
            <a:off x="1238250" y="4306392"/>
            <a:ext cx="15811500" cy="1464866"/>
          </a:xfrm>
          <a:prstGeom prst="roundRect">
            <a:avLst>
              <a:gd name="adj" fmla="val 5202"/>
            </a:avLst>
          </a:prstGeom>
          <a:solidFill>
            <a:srgbClr val="FFFFFF"/>
          </a:solidFill>
          <a:ln/>
        </p:spPr>
        <p:txBody>
          <a:bodyPr/>
          <a:lstStyle/>
          <a:p>
            <a:endParaRPr/>
          </a:p>
        </p:txBody>
      </p:sp>
      <p:sp>
        <p:nvSpPr>
          <p:cNvPr id="6" name="Shape 4"/>
          <p:cNvSpPr/>
          <p:nvPr/>
        </p:nvSpPr>
        <p:spPr>
          <a:xfrm>
            <a:off x="1238250" y="5764907"/>
            <a:ext cx="15811500" cy="9525"/>
          </a:xfrm>
          <a:prstGeom prst="rect">
            <a:avLst/>
          </a:prstGeom>
          <a:solidFill>
            <a:srgbClr val="DEE2E6"/>
          </a:solidFill>
          <a:ln/>
        </p:spPr>
        <p:txBody>
          <a:bodyPr/>
          <a:lstStyle/>
          <a:p>
            <a:endParaRPr/>
          </a:p>
        </p:txBody>
      </p:sp>
      <p:sp>
        <p:nvSpPr>
          <p:cNvPr id="7" name="Shape 5"/>
          <p:cNvSpPr/>
          <p:nvPr/>
        </p:nvSpPr>
        <p:spPr>
          <a:xfrm>
            <a:off x="1238250" y="4306392"/>
            <a:ext cx="15811500" cy="9525"/>
          </a:xfrm>
          <a:prstGeom prst="rect">
            <a:avLst/>
          </a:prstGeom>
          <a:solidFill>
            <a:srgbClr val="DEE2E6"/>
          </a:solidFill>
          <a:ln/>
        </p:spPr>
        <p:txBody>
          <a:bodyPr/>
          <a:lstStyle/>
          <a:p>
            <a:endParaRPr/>
          </a:p>
        </p:txBody>
      </p:sp>
      <p:sp>
        <p:nvSpPr>
          <p:cNvPr id="8" name="Shape 6"/>
          <p:cNvSpPr/>
          <p:nvPr/>
        </p:nvSpPr>
        <p:spPr>
          <a:xfrm>
            <a:off x="1238250" y="4306392"/>
            <a:ext cx="44450" cy="1464866"/>
          </a:xfrm>
          <a:prstGeom prst="rect">
            <a:avLst/>
          </a:prstGeom>
          <a:solidFill>
            <a:srgbClr val="2B5187"/>
          </a:solidFill>
          <a:ln/>
        </p:spPr>
        <p:txBody>
          <a:bodyPr/>
          <a:lstStyle/>
          <a:p>
            <a:endParaRPr/>
          </a:p>
        </p:txBody>
      </p:sp>
      <p:sp>
        <p:nvSpPr>
          <p:cNvPr id="9" name="Shape 7"/>
          <p:cNvSpPr/>
          <p:nvPr/>
        </p:nvSpPr>
        <p:spPr>
          <a:xfrm>
            <a:off x="17043400" y="4306392"/>
            <a:ext cx="9525" cy="1464866"/>
          </a:xfrm>
          <a:prstGeom prst="rect">
            <a:avLst/>
          </a:prstGeom>
          <a:solidFill>
            <a:srgbClr val="DEE2E6"/>
          </a:solidFill>
          <a:ln/>
        </p:spPr>
        <p:txBody>
          <a:bodyPr/>
          <a:lstStyle/>
          <a:p>
            <a:endParaRPr/>
          </a:p>
        </p:txBody>
      </p:sp>
      <p:sp>
        <p:nvSpPr>
          <p:cNvPr id="10" name="Text 8"/>
          <p:cNvSpPr/>
          <p:nvPr/>
        </p:nvSpPr>
        <p:spPr>
          <a:xfrm>
            <a:off x="1663700" y="4526863"/>
            <a:ext cx="10515600" cy="566928"/>
          </a:xfrm>
          <a:prstGeom prst="rect">
            <a:avLst/>
          </a:prstGeom>
          <a:noFill/>
          <a:ln/>
        </p:spPr>
        <p:txBody>
          <a:bodyPr wrap="square" lIns="25400" tIns="25400" rIns="25400" bIns="25400" rtlCol="0" anchor="t">
            <a:spAutoFit/>
          </a:bodyPr>
          <a:lstStyle/>
          <a:p>
            <a:pPr marL="0" indent="0" algn="l">
              <a:buNone/>
            </a:pPr>
            <a:r>
              <a:rPr lang="en-US" sz="3000" b="1" dirty="0">
                <a:solidFill>
                  <a:srgbClr val="212529"/>
                </a:solidFill>
                <a:latin typeface="Arial" pitchFamily="34" charset="0"/>
                <a:ea typeface="Arial" pitchFamily="34" charset="-122"/>
                <a:cs typeface="Arial" pitchFamily="34" charset="-120"/>
              </a:rPr>
              <a:t>LACeS anycast census</a:t>
            </a:r>
            <a:endParaRPr lang="en-US" sz="2400" dirty="0"/>
          </a:p>
        </p:txBody>
      </p:sp>
      <p:sp>
        <p:nvSpPr>
          <p:cNvPr id="11" name="Text 9"/>
          <p:cNvSpPr/>
          <p:nvPr/>
        </p:nvSpPr>
        <p:spPr>
          <a:xfrm>
            <a:off x="1663700" y="5130367"/>
            <a:ext cx="10515600" cy="530352"/>
          </a:xfrm>
          <a:prstGeom prst="rect">
            <a:avLst/>
          </a:prstGeom>
          <a:noFill/>
          <a:ln/>
        </p:spPr>
        <p:txBody>
          <a:bodyPr wrap="square" lIns="25400" tIns="25400" rIns="25400" bIns="25400" rtlCol="0" anchor="t">
            <a:spAutoFit/>
          </a:bodyPr>
          <a:lstStyle/>
          <a:p>
            <a:pPr marL="0" indent="0" algn="l">
              <a:lnSpc>
                <a:spcPct val="135000"/>
              </a:lnSpc>
              <a:buNone/>
            </a:pPr>
            <a:r>
              <a:rPr lang="en-US" sz="2600" dirty="0">
                <a:solidFill>
                  <a:srgbClr val="343A40"/>
                </a:solidFill>
                <a:latin typeface="Arial" pitchFamily="34" charset="0"/>
                <a:ea typeface="Arial" pitchFamily="34" charset="-122"/>
                <a:cs typeface="Arial" pitchFamily="34" charset="-120"/>
              </a:rPr>
              <a:t>Daily census of anycast /24s — how you detect anycast.</a:t>
            </a:r>
            <a:endParaRPr lang="en-US" sz="2100" dirty="0"/>
          </a:p>
        </p:txBody>
      </p:sp>
      <p:sp>
        <p:nvSpPr>
          <p:cNvPr id="12" name="Text 10"/>
          <p:cNvSpPr/>
          <p:nvPr/>
        </p:nvSpPr>
        <p:spPr>
          <a:xfrm>
            <a:off x="12456161" y="4711799"/>
            <a:ext cx="4206240" cy="311150"/>
          </a:xfrm>
          <a:prstGeom prst="rect">
            <a:avLst/>
          </a:prstGeom>
          <a:noFill/>
          <a:ln/>
        </p:spPr>
        <p:txBody>
          <a:bodyPr wrap="square" lIns="25400" tIns="25400" rIns="25400" bIns="25400" rtlCol="0" anchor="t">
            <a:spAutoFit/>
          </a:bodyPr>
          <a:lstStyle/>
          <a:p>
            <a:pPr marL="0" indent="0" algn="r">
              <a:buNone/>
            </a:pPr>
            <a:r>
              <a:rPr lang="en-US" sz="1800" kern="0" spc="108" dirty="0">
                <a:solidFill>
                  <a:srgbClr val="6C757D"/>
                </a:solidFill>
                <a:latin typeface="Arial" pitchFamily="34" charset="0"/>
                <a:ea typeface="Arial" pitchFamily="34" charset="-122"/>
                <a:cs typeface="Arial" pitchFamily="34" charset="-120"/>
              </a:rPr>
              <a:t>SITE</a:t>
            </a:r>
            <a:endParaRPr lang="en-US" sz="1800" dirty="0"/>
          </a:p>
        </p:txBody>
      </p:sp>
      <p:sp>
        <p:nvSpPr>
          <p:cNvPr id="13" name="Text 11"/>
          <p:cNvSpPr/>
          <p:nvPr/>
        </p:nvSpPr>
        <p:spPr>
          <a:xfrm>
            <a:off x="12456161" y="5061049"/>
            <a:ext cx="4206240" cy="411480"/>
          </a:xfrm>
          <a:prstGeom prst="rect">
            <a:avLst/>
          </a:prstGeom>
          <a:noFill/>
          <a:ln/>
        </p:spPr>
        <p:txBody>
          <a:bodyPr wrap="square" lIns="25400" tIns="25400" rIns="25400" bIns="25400" rtlCol="0" anchor="t">
            <a:spAutoFit/>
          </a:bodyPr>
          <a:lstStyle/>
          <a:p>
            <a:pPr marL="0" indent="0" algn="r">
              <a:buNone/>
            </a:pPr>
            <a:r>
              <a:rPr lang="en-US" sz="2200" dirty="0">
                <a:solidFill>
                  <a:srgbClr val="2B5187"/>
                </a:solidFill>
                <a:latin typeface="Roboto Mono" pitchFamily="34" charset="0"/>
                <a:ea typeface="Arial" pitchFamily="34" charset="-122"/>
                <a:cs typeface="Arial" pitchFamily="34" charset="-120"/>
              </a:rPr>
              <a:t>manycast.net</a:t>
            </a:r>
            <a:endParaRPr lang="en-US" sz="1800" dirty="0"/>
          </a:p>
        </p:txBody>
      </p:sp>
      <p:sp>
        <p:nvSpPr>
          <p:cNvPr id="14" name="Shape 12"/>
          <p:cNvSpPr/>
          <p:nvPr/>
        </p:nvSpPr>
        <p:spPr>
          <a:xfrm>
            <a:off x="1238250" y="6057007"/>
            <a:ext cx="15811500" cy="1464866"/>
          </a:xfrm>
          <a:prstGeom prst="roundRect">
            <a:avLst>
              <a:gd name="adj" fmla="val 5202"/>
            </a:avLst>
          </a:prstGeom>
          <a:solidFill>
            <a:srgbClr val="FFFFFF"/>
          </a:solidFill>
          <a:ln/>
        </p:spPr>
        <p:txBody>
          <a:bodyPr/>
          <a:lstStyle/>
          <a:p>
            <a:endParaRPr/>
          </a:p>
        </p:txBody>
      </p:sp>
      <p:sp>
        <p:nvSpPr>
          <p:cNvPr id="15" name="Shape 13"/>
          <p:cNvSpPr/>
          <p:nvPr/>
        </p:nvSpPr>
        <p:spPr>
          <a:xfrm>
            <a:off x="1238250" y="7515523"/>
            <a:ext cx="15811500" cy="9525"/>
          </a:xfrm>
          <a:prstGeom prst="rect">
            <a:avLst/>
          </a:prstGeom>
          <a:solidFill>
            <a:srgbClr val="DEE2E6"/>
          </a:solidFill>
          <a:ln/>
        </p:spPr>
        <p:txBody>
          <a:bodyPr/>
          <a:lstStyle/>
          <a:p>
            <a:endParaRPr/>
          </a:p>
        </p:txBody>
      </p:sp>
      <p:sp>
        <p:nvSpPr>
          <p:cNvPr id="16" name="Shape 14"/>
          <p:cNvSpPr/>
          <p:nvPr/>
        </p:nvSpPr>
        <p:spPr>
          <a:xfrm>
            <a:off x="1238250" y="6057007"/>
            <a:ext cx="15811500" cy="9525"/>
          </a:xfrm>
          <a:prstGeom prst="rect">
            <a:avLst/>
          </a:prstGeom>
          <a:solidFill>
            <a:srgbClr val="DEE2E6"/>
          </a:solidFill>
          <a:ln/>
        </p:spPr>
        <p:txBody>
          <a:bodyPr/>
          <a:lstStyle/>
          <a:p>
            <a:endParaRPr/>
          </a:p>
        </p:txBody>
      </p:sp>
      <p:sp>
        <p:nvSpPr>
          <p:cNvPr id="17" name="Shape 15"/>
          <p:cNvSpPr/>
          <p:nvPr/>
        </p:nvSpPr>
        <p:spPr>
          <a:xfrm>
            <a:off x="1238250" y="6057007"/>
            <a:ext cx="44450" cy="1464866"/>
          </a:xfrm>
          <a:prstGeom prst="rect">
            <a:avLst/>
          </a:prstGeom>
          <a:solidFill>
            <a:srgbClr val="2B5187"/>
          </a:solidFill>
          <a:ln/>
        </p:spPr>
        <p:txBody>
          <a:bodyPr/>
          <a:lstStyle/>
          <a:p>
            <a:endParaRPr/>
          </a:p>
        </p:txBody>
      </p:sp>
      <p:sp>
        <p:nvSpPr>
          <p:cNvPr id="18" name="Shape 16"/>
          <p:cNvSpPr/>
          <p:nvPr/>
        </p:nvSpPr>
        <p:spPr>
          <a:xfrm>
            <a:off x="17043400" y="6057007"/>
            <a:ext cx="9525" cy="1464866"/>
          </a:xfrm>
          <a:prstGeom prst="rect">
            <a:avLst/>
          </a:prstGeom>
          <a:solidFill>
            <a:srgbClr val="DEE2E6"/>
          </a:solidFill>
          <a:ln/>
        </p:spPr>
        <p:txBody>
          <a:bodyPr/>
          <a:lstStyle/>
          <a:p>
            <a:endParaRPr/>
          </a:p>
        </p:txBody>
      </p:sp>
      <p:sp>
        <p:nvSpPr>
          <p:cNvPr id="19" name="Text 17"/>
          <p:cNvSpPr/>
          <p:nvPr/>
        </p:nvSpPr>
        <p:spPr>
          <a:xfrm>
            <a:off x="1663700" y="6277479"/>
            <a:ext cx="10515600" cy="566928"/>
          </a:xfrm>
          <a:prstGeom prst="rect">
            <a:avLst/>
          </a:prstGeom>
          <a:noFill/>
          <a:ln/>
        </p:spPr>
        <p:txBody>
          <a:bodyPr wrap="square" lIns="25400" tIns="25400" rIns="25400" bIns="25400" rtlCol="0" anchor="t">
            <a:spAutoFit/>
          </a:bodyPr>
          <a:lstStyle/>
          <a:p>
            <a:pPr marL="0" indent="0" algn="l">
              <a:buNone/>
            </a:pPr>
            <a:r>
              <a:rPr lang="en-US" sz="3000" b="1" dirty="0">
                <a:solidFill>
                  <a:srgbClr val="212529"/>
                </a:solidFill>
                <a:latin typeface="Arial" pitchFamily="34" charset="0"/>
                <a:ea typeface="Arial" pitchFamily="34" charset="-122"/>
                <a:cs typeface="Arial" pitchFamily="34" charset="-120"/>
              </a:rPr>
              <a:t>dnspython / tldextract</a:t>
            </a:r>
            <a:endParaRPr lang="en-US" sz="2400" dirty="0"/>
          </a:p>
        </p:txBody>
      </p:sp>
      <p:sp>
        <p:nvSpPr>
          <p:cNvPr id="20" name="Text 18"/>
          <p:cNvSpPr/>
          <p:nvPr/>
        </p:nvSpPr>
        <p:spPr>
          <a:xfrm>
            <a:off x="1663700" y="6880983"/>
            <a:ext cx="10515600" cy="530352"/>
          </a:xfrm>
          <a:prstGeom prst="rect">
            <a:avLst/>
          </a:prstGeom>
          <a:noFill/>
          <a:ln/>
        </p:spPr>
        <p:txBody>
          <a:bodyPr wrap="square" lIns="25400" tIns="25400" rIns="25400" bIns="25400" rtlCol="0" anchor="t">
            <a:spAutoFit/>
          </a:bodyPr>
          <a:lstStyle/>
          <a:p>
            <a:pPr marL="0" indent="0" algn="l">
              <a:lnSpc>
                <a:spcPct val="135000"/>
              </a:lnSpc>
              <a:buNone/>
            </a:pPr>
            <a:r>
              <a:rPr lang="en-US" sz="2600" dirty="0">
                <a:solidFill>
                  <a:srgbClr val="343A40"/>
                </a:solidFill>
                <a:latin typeface="Arial" pitchFamily="34" charset="0"/>
                <a:ea typeface="Arial" pitchFamily="34" charset="-122"/>
                <a:cs typeface="Arial" pitchFamily="34" charset="-120"/>
              </a:rPr>
              <a:t>NS-hostname → IP resolution; registrable-domain extraction.</a:t>
            </a:r>
            <a:endParaRPr lang="en-US" sz="2100" dirty="0"/>
          </a:p>
        </p:txBody>
      </p:sp>
      <p:sp>
        <p:nvSpPr>
          <p:cNvPr id="21" name="Text 19"/>
          <p:cNvSpPr/>
          <p:nvPr/>
        </p:nvSpPr>
        <p:spPr>
          <a:xfrm>
            <a:off x="12456160" y="6462415"/>
            <a:ext cx="4206240" cy="311150"/>
          </a:xfrm>
          <a:prstGeom prst="rect">
            <a:avLst/>
          </a:prstGeom>
          <a:noFill/>
          <a:ln/>
        </p:spPr>
        <p:txBody>
          <a:bodyPr wrap="square" lIns="25400" tIns="25400" rIns="25400" bIns="25400" rtlCol="0" anchor="t">
            <a:spAutoFit/>
          </a:bodyPr>
          <a:lstStyle/>
          <a:p>
            <a:pPr marL="0" indent="0" algn="r">
              <a:buNone/>
            </a:pPr>
            <a:r>
              <a:rPr lang="en-US" sz="1800" kern="0" spc="108" dirty="0">
                <a:solidFill>
                  <a:srgbClr val="6C757D"/>
                </a:solidFill>
                <a:latin typeface="Arial" pitchFamily="34" charset="0"/>
                <a:ea typeface="Arial" pitchFamily="34" charset="-122"/>
                <a:cs typeface="Arial" pitchFamily="34" charset="-120"/>
              </a:rPr>
              <a:t>INSTALL</a:t>
            </a:r>
            <a:endParaRPr lang="en-US" sz="1800" dirty="0"/>
          </a:p>
        </p:txBody>
      </p:sp>
      <p:sp>
        <p:nvSpPr>
          <p:cNvPr id="22" name="Text 20"/>
          <p:cNvSpPr/>
          <p:nvPr/>
        </p:nvSpPr>
        <p:spPr>
          <a:xfrm>
            <a:off x="12456160" y="6811665"/>
            <a:ext cx="4206240" cy="411480"/>
          </a:xfrm>
          <a:prstGeom prst="rect">
            <a:avLst/>
          </a:prstGeom>
          <a:noFill/>
          <a:ln/>
        </p:spPr>
        <p:txBody>
          <a:bodyPr wrap="square" lIns="25400" tIns="25400" rIns="25400" bIns="25400" rtlCol="0" anchor="t">
            <a:spAutoFit/>
          </a:bodyPr>
          <a:lstStyle/>
          <a:p>
            <a:pPr marL="0" indent="0" algn="r">
              <a:buNone/>
            </a:pPr>
            <a:r>
              <a:rPr lang="en-US" sz="2200" dirty="0">
                <a:solidFill>
                  <a:srgbClr val="2B5187"/>
                </a:solidFill>
                <a:latin typeface="Roboto Mono" pitchFamily="34" charset="0"/>
                <a:ea typeface="Arial" pitchFamily="34" charset="-122"/>
                <a:cs typeface="Arial" pitchFamily="34" charset="-120"/>
              </a:rPr>
              <a:t>pip install dnspython</a:t>
            </a:r>
            <a:endParaRPr lang="en-US" sz="1800" dirty="0"/>
          </a:p>
        </p:txBody>
      </p:sp>
      <p:sp>
        <p:nvSpPr>
          <p:cNvPr id="23" name="Text 21"/>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YOUR MODULE · THE ARC</a:t>
            </a:r>
            <a:endParaRPr lang="en-US" sz="1950" dirty="0"/>
          </a:p>
        </p:txBody>
      </p:sp>
      <p:sp>
        <p:nvSpPr>
          <p:cNvPr id="4" name="Text 2"/>
          <p:cNvSpPr/>
          <p:nvPr/>
        </p:nvSpPr>
        <p:spPr>
          <a:xfrm>
            <a:off x="1238250" y="1496568"/>
            <a:ext cx="17392650" cy="762260"/>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Three tasks</a:t>
            </a:r>
            <a:endParaRPr lang="en-US" sz="4650" dirty="0"/>
          </a:p>
        </p:txBody>
      </p:sp>
      <p:sp>
        <p:nvSpPr>
          <p:cNvPr id="6" name="Text 4"/>
          <p:cNvSpPr/>
          <p:nvPr/>
        </p:nvSpPr>
        <p:spPr>
          <a:xfrm>
            <a:off x="1200671" y="3070288"/>
            <a:ext cx="15922408" cy="2257477"/>
          </a:xfrm>
          <a:prstGeom prst="rect">
            <a:avLst/>
          </a:prstGeom>
          <a:noFill/>
          <a:ln/>
        </p:spPr>
        <p:txBody>
          <a:bodyPr wrap="square" lIns="25400" tIns="25400" rIns="25400" bIns="25400" rtlCol="0" anchor="t">
            <a:spAutoFit/>
          </a:bodyPr>
          <a:lstStyle/>
          <a:p>
            <a:pPr marL="333375" indent="-333375" algn="l">
              <a:lnSpc>
                <a:spcPct val="140000"/>
              </a:lnSpc>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T1 — who hosts it: provider market share, HHI, CCDF, the 2019–2024 trend.</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T2 — how resilient: NS counts, provider diversity, SOA timing, anycast.</a:t>
            </a:r>
            <a:endParaRPr lang="en-US" sz="3200" dirty="0"/>
          </a:p>
          <a:p>
            <a:pPr marL="333375" indent="-333375" algn="l">
              <a:lnSpc>
                <a:spcPct val="140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T3 — how secured: DNSSEC deployment, algorithms, CAA, SPF, adoption curves.</a:t>
            </a:r>
            <a:endParaRPr lang="en-US" sz="3200" dirty="0"/>
          </a:p>
        </p:txBody>
      </p:sp>
      <p:sp>
        <p:nvSpPr>
          <p:cNvPr id="13" name="Text 10"/>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pic>
        <p:nvPicPr>
          <p:cNvPr id="15" name="Picture 14" descr="a30_three_task_pipeline.png"/>
          <p:cNvPicPr>
            <a:picLocks noChangeAspect="1"/>
          </p:cNvPicPr>
          <p:nvPr/>
        </p:nvPicPr>
        <p:blipFill>
          <a:blip r:embed="rId3"/>
          <a:stretch>
            <a:fillRect/>
          </a:stretch>
        </p:blipFill>
        <p:spPr>
          <a:xfrm>
            <a:off x="2583754" y="5686817"/>
            <a:ext cx="12269970" cy="3263997"/>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hape 12"/>
          <p:cNvSpPr/>
          <p:nvPr/>
        </p:nvSpPr>
        <p:spPr>
          <a:xfrm>
            <a:off x="12573000" y="2246114"/>
            <a:ext cx="4476750" cy="7278886"/>
          </a:xfrm>
          <a:prstGeom prst="roundRect">
            <a:avLst>
              <a:gd name="adj" fmla="val 2128"/>
            </a:avLst>
          </a:prstGeom>
          <a:solidFill>
            <a:srgbClr val="F8F9FA"/>
          </a:solidFill>
          <a:ln/>
        </p:spPr>
        <p:txBody>
          <a:bodyPr/>
          <a:lstStyle/>
          <a:p>
            <a:endParaRPr/>
          </a:p>
        </p:txBody>
      </p:sp>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ASSIGNMENT 5 · DUE BEGINNING OF WEEK 6</a:t>
            </a:r>
            <a:endParaRPr lang="en-US" sz="1950" dirty="0"/>
          </a:p>
        </p:txBody>
      </p:sp>
      <p:sp>
        <p:nvSpPr>
          <p:cNvPr id="4" name="Text 2"/>
          <p:cNvSpPr/>
          <p:nvPr/>
        </p:nvSpPr>
        <p:spPr>
          <a:xfrm>
            <a:off x="1238250" y="1496568"/>
            <a:ext cx="17392650" cy="652264"/>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nids-dns-ecosystem</a:t>
            </a:r>
            <a:endParaRPr lang="en-US" sz="4650" dirty="0"/>
          </a:p>
        </p:txBody>
      </p:sp>
      <p:sp>
        <p:nvSpPr>
          <p:cNvPr id="5" name="Text 3"/>
          <p:cNvSpPr/>
          <p:nvPr/>
        </p:nvSpPr>
        <p:spPr>
          <a:xfrm>
            <a:off x="1238250" y="2246114"/>
            <a:ext cx="11086148" cy="1188720"/>
          </a:xfrm>
          <a:prstGeom prst="rect">
            <a:avLst/>
          </a:prstGeom>
          <a:noFill/>
          <a:ln/>
        </p:spPr>
        <p:txBody>
          <a:bodyPr wrap="square" lIns="25400" tIns="25400" rIns="25400" bIns="25400" rtlCol="0" anchor="t">
            <a:spAutoFit/>
          </a:bodyPr>
          <a:lstStyle/>
          <a:p>
            <a:pPr marL="0" indent="0" algn="l">
              <a:lnSpc>
                <a:spcPct val="140000"/>
              </a:lnSpc>
              <a:buNone/>
            </a:pPr>
            <a:r>
              <a:rPr lang="en-US" sz="3000" dirty="0">
                <a:solidFill>
                  <a:srgbClr val="343A40"/>
                </a:solidFill>
                <a:latin typeface="Arial" pitchFamily="34" charset="0"/>
                <a:ea typeface="Arial" pitchFamily="34" charset="-122"/>
                <a:cs typeface="Arial" pitchFamily="34" charset="-120"/>
              </a:rPr>
              <a:t>Complete Tasks 1–3 in the module notebook on NRP: replace every # YOUR CODE HERE and answer Q1–Q18.</a:t>
            </a:r>
            <a:endParaRPr lang="en-US" sz="2100" dirty="0"/>
          </a:p>
        </p:txBody>
      </p:sp>
      <p:sp>
        <p:nvSpPr>
          <p:cNvPr id="7" name="Text 5"/>
          <p:cNvSpPr/>
          <p:nvPr/>
        </p:nvSpPr>
        <p:spPr>
          <a:xfrm>
            <a:off x="874994" y="4764346"/>
            <a:ext cx="12014287" cy="3621954"/>
          </a:xfrm>
          <a:prstGeom prst="rect">
            <a:avLst/>
          </a:prstGeom>
          <a:noFill/>
          <a:ln/>
        </p:spPr>
        <p:txBody>
          <a:bodyPr wrap="square" lIns="25400" tIns="25400" rIns="25400" bIns="25400" rtlCol="0" anchor="t">
            <a:spAutoFit/>
          </a:bodyPr>
          <a:lstStyle/>
          <a:p>
            <a:pPr marL="314325" indent="-314325" algn="l">
              <a:lnSpc>
                <a:spcPct val="135000"/>
              </a:lnSpc>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Prototype each task on .gov (small, fast) before scaling.</a:t>
            </a:r>
            <a:endParaRPr lang="en-US" sz="3200" dirty="0"/>
          </a:p>
          <a:p>
            <a:pPr marL="314325" indent="-314325" algn="l">
              <a:lnSpc>
                <a:spcPct val="135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Run the full analysis on .se, the statistically meaningful TLD.</a:t>
            </a:r>
            <a:endParaRPr lang="en-US" sz="3200" dirty="0"/>
          </a:p>
          <a:p>
            <a:pPr marL="314325" indent="-314325" algn="l">
              <a:lnSpc>
                <a:spcPct val="135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Answer all 18 questions inline in the notebook.</a:t>
            </a:r>
            <a:endParaRPr lang="en-US" sz="3200" dirty="0"/>
          </a:p>
          <a:p>
            <a:pPr marL="314325" indent="-314325" algn="l">
              <a:lnSpc>
                <a:spcPct val="135000"/>
              </a:lnSpc>
              <a:spcBef>
                <a:spcPts val="800"/>
              </a:spcBef>
              <a:buClr>
                <a:srgbClr val="2B5187"/>
              </a:buClr>
              <a:buFont typeface="Arial"/>
              <a:buChar char="▪"/>
            </a:pPr>
            <a:r>
              <a:rPr lang="en-US" sz="3200" dirty="0">
                <a:solidFill>
                  <a:srgbClr val="343A40"/>
                </a:solidFill>
                <a:latin typeface="Arial" pitchFamily="34" charset="0"/>
                <a:ea typeface="Arial" pitchFamily="34" charset="-122"/>
                <a:cs typeface="Arial" pitchFamily="34" charset="-120"/>
              </a:rPr>
              <a:t>Remember to commit and push the completed notebook to your repo!</a:t>
            </a:r>
            <a:endParaRPr lang="en-US" sz="3200" dirty="0"/>
          </a:p>
        </p:txBody>
      </p:sp>
      <p:sp>
        <p:nvSpPr>
          <p:cNvPr id="15" name="Text 13"/>
          <p:cNvSpPr/>
          <p:nvPr/>
        </p:nvSpPr>
        <p:spPr>
          <a:xfrm>
            <a:off x="12934950" y="2608064"/>
            <a:ext cx="4128135" cy="304800"/>
          </a:xfrm>
          <a:prstGeom prst="rect">
            <a:avLst/>
          </a:prstGeom>
          <a:noFill/>
          <a:ln/>
        </p:spPr>
        <p:txBody>
          <a:bodyPr wrap="square" lIns="25400" tIns="25400" rIns="25400" bIns="25400" rtlCol="0" anchor="t">
            <a:spAutoFit/>
          </a:bodyPr>
          <a:lstStyle/>
          <a:p>
            <a:pPr marL="0" indent="0" algn="l">
              <a:buNone/>
            </a:pPr>
            <a:r>
              <a:rPr lang="en-US" sz="1800" b="1" kern="0" spc="180" dirty="0">
                <a:solidFill>
                  <a:srgbClr val="2B5187"/>
                </a:solidFill>
                <a:latin typeface="Arial" pitchFamily="34" charset="0"/>
                <a:ea typeface="Arial" pitchFamily="34" charset="-122"/>
                <a:cs typeface="Arial" pitchFamily="34" charset="-120"/>
              </a:rPr>
              <a:t>MODULE MILESTONE</a:t>
            </a:r>
            <a:endParaRPr lang="en-US" sz="1800" dirty="0"/>
          </a:p>
        </p:txBody>
      </p:sp>
      <p:sp>
        <p:nvSpPr>
          <p:cNvPr id="16" name="Text 14"/>
          <p:cNvSpPr/>
          <p:nvPr/>
        </p:nvSpPr>
        <p:spPr>
          <a:xfrm>
            <a:off x="12934950" y="3008114"/>
            <a:ext cx="3865436" cy="1463040"/>
          </a:xfrm>
          <a:prstGeom prst="rect">
            <a:avLst/>
          </a:prstGeom>
          <a:noFill/>
          <a:ln/>
        </p:spPr>
        <p:txBody>
          <a:bodyPr wrap="square" lIns="25400" tIns="25400" rIns="25400" bIns="25400" rtlCol="0" anchor="t">
            <a:spAutoFit/>
          </a:bodyPr>
          <a:lstStyle/>
          <a:p>
            <a:pPr marL="0" indent="0" algn="l">
              <a:lnSpc>
                <a:spcPct val="140000"/>
              </a:lnSpc>
              <a:buNone/>
            </a:pPr>
            <a:r>
              <a:rPr lang="en-US" sz="2200" dirty="0">
                <a:solidFill>
                  <a:srgbClr val="343A40"/>
                </a:solidFill>
                <a:latin typeface="Arial" pitchFamily="34" charset="0"/>
                <a:ea typeface="Arial" pitchFamily="34" charset="-122"/>
                <a:cs typeface="Arial" pitchFamily="34" charset="-120"/>
              </a:rPr>
              <a:t>STRUCTURE: Intro → Datasets → Tasks → Notebook. Reuse for your module.</a:t>
            </a:r>
            <a:endParaRPr lang="en-US" sz="1800" dirty="0"/>
          </a:p>
        </p:txBody>
      </p:sp>
      <p:sp>
        <p:nvSpPr>
          <p:cNvPr id="17" name="Shape 15"/>
          <p:cNvSpPr/>
          <p:nvPr/>
        </p:nvSpPr>
        <p:spPr>
          <a:xfrm>
            <a:off x="12934950" y="4617458"/>
            <a:ext cx="3752850" cy="9525"/>
          </a:xfrm>
          <a:prstGeom prst="rect">
            <a:avLst/>
          </a:prstGeom>
          <a:solidFill>
            <a:srgbClr val="DEE2E6"/>
          </a:solidFill>
          <a:ln/>
        </p:spPr>
        <p:txBody>
          <a:bodyPr/>
          <a:lstStyle/>
          <a:p>
            <a:endParaRPr/>
          </a:p>
        </p:txBody>
      </p:sp>
      <p:sp>
        <p:nvSpPr>
          <p:cNvPr id="18" name="Text 16"/>
          <p:cNvSpPr/>
          <p:nvPr/>
        </p:nvSpPr>
        <p:spPr>
          <a:xfrm>
            <a:off x="12934950" y="4773287"/>
            <a:ext cx="4128135" cy="304800"/>
          </a:xfrm>
          <a:prstGeom prst="rect">
            <a:avLst/>
          </a:prstGeom>
          <a:noFill/>
          <a:ln/>
        </p:spPr>
        <p:txBody>
          <a:bodyPr wrap="square" lIns="25400" tIns="25400" rIns="25400" bIns="25400" rtlCol="0" anchor="t">
            <a:spAutoFit/>
          </a:bodyPr>
          <a:lstStyle/>
          <a:p>
            <a:pPr marL="0" indent="0" algn="l">
              <a:buNone/>
            </a:pPr>
            <a:r>
              <a:rPr lang="en-US" sz="1800" b="1" kern="0" spc="180" dirty="0">
                <a:solidFill>
                  <a:srgbClr val="6C757D"/>
                </a:solidFill>
                <a:latin typeface="Arial" pitchFamily="34" charset="0"/>
                <a:ea typeface="Arial" pitchFamily="34" charset="-122"/>
                <a:cs typeface="Arial" pitchFamily="34" charset="-120"/>
              </a:rPr>
              <a:t>REPOSITORY</a:t>
            </a:r>
            <a:endParaRPr lang="en-US" sz="1800" dirty="0"/>
          </a:p>
        </p:txBody>
      </p:sp>
      <p:sp>
        <p:nvSpPr>
          <p:cNvPr id="19" name="Text 17"/>
          <p:cNvSpPr/>
          <p:nvPr/>
        </p:nvSpPr>
        <p:spPr>
          <a:xfrm>
            <a:off x="12934950" y="5132951"/>
            <a:ext cx="3865436" cy="822960"/>
          </a:xfrm>
          <a:prstGeom prst="rect">
            <a:avLst/>
          </a:prstGeom>
          <a:noFill/>
          <a:ln/>
        </p:spPr>
        <p:txBody>
          <a:bodyPr wrap="square" lIns="25400" tIns="25400" rIns="25400" bIns="25400" rtlCol="0" anchor="t">
            <a:spAutoFit/>
          </a:bodyPr>
          <a:lstStyle/>
          <a:p>
            <a:pPr marL="0" indent="0" algn="l">
              <a:lnSpc>
                <a:spcPct val="140000"/>
              </a:lnSpc>
              <a:buNone/>
            </a:pPr>
            <a:r>
              <a:rPr lang="en-US" sz="2200" dirty="0">
                <a:solidFill>
                  <a:srgbClr val="212529"/>
                </a:solidFill>
                <a:latin typeface="Roboto Mono" pitchFamily="34" charset="0"/>
                <a:ea typeface="Arial" pitchFamily="34" charset="-122"/>
                <a:cs typeface="Arial" pitchFamily="34" charset="-120"/>
              </a:rPr>
              <a:t>github.com/CAIDA/nids-dns-ecosystem</a:t>
            </a:r>
            <a:endParaRPr lang="en-US" sz="1800" dirty="0"/>
          </a:p>
        </p:txBody>
      </p:sp>
      <p:sp>
        <p:nvSpPr>
          <p:cNvPr id="20" name="Text 18"/>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031589" y="876300"/>
            <a:ext cx="4419977" cy="311150"/>
          </a:xfrm>
          <a:prstGeom prst="rect">
            <a:avLst/>
          </a:prstGeom>
          <a:noFill/>
          <a:ln/>
        </p:spPr>
        <p:txBody>
          <a:bodyPr wrap="square" lIns="25400" tIns="25400" rIns="25400" bIns="25400" rtlCol="0" anchor="t">
            <a:spAutoFit/>
          </a:bodyPr>
          <a:lstStyle/>
          <a:p>
            <a:pPr marL="0" indent="0" algn="l">
              <a:buNone/>
            </a:pPr>
            <a:r>
              <a:rPr lang="en-US" sz="1800" kern="0" spc="108" dirty="0">
                <a:solidFill>
                  <a:srgbClr val="212529"/>
                </a:solidFill>
                <a:latin typeface="Arial" pitchFamily="34" charset="0"/>
                <a:ea typeface="Arial" pitchFamily="34" charset="-122"/>
                <a:cs typeface="Arial" pitchFamily="34" charset="-120"/>
              </a:rPr>
              <a:t>WEEK 5 · BUILDING BLOCK 5 / 10</a:t>
            </a:r>
            <a:endParaRPr lang="en-US" sz="1800" dirty="0"/>
          </a:p>
        </p:txBody>
      </p:sp>
      <p:sp>
        <p:nvSpPr>
          <p:cNvPr id="3" name="Text 1"/>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BEFORE NEXT WEEK</a:t>
            </a:r>
            <a:endParaRPr lang="en-US" sz="1950" dirty="0"/>
          </a:p>
        </p:txBody>
      </p:sp>
      <p:sp>
        <p:nvSpPr>
          <p:cNvPr id="4" name="Text 2"/>
          <p:cNvSpPr/>
          <p:nvPr/>
        </p:nvSpPr>
        <p:spPr>
          <a:xfrm>
            <a:off x="1238250" y="1496568"/>
            <a:ext cx="17392650" cy="652264"/>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Before next week</a:t>
            </a:r>
            <a:endParaRPr lang="en-US" sz="4650" dirty="0"/>
          </a:p>
        </p:txBody>
      </p:sp>
      <p:sp>
        <p:nvSpPr>
          <p:cNvPr id="6" name="Text 4"/>
          <p:cNvSpPr/>
          <p:nvPr/>
        </p:nvSpPr>
        <p:spPr>
          <a:xfrm>
            <a:off x="1238250" y="2246114"/>
            <a:ext cx="11243310" cy="4143891"/>
          </a:xfrm>
          <a:prstGeom prst="rect">
            <a:avLst/>
          </a:prstGeom>
          <a:noFill/>
          <a:ln/>
        </p:spPr>
        <p:txBody>
          <a:bodyPr wrap="square" lIns="25400" tIns="25400" rIns="25400" bIns="25400" rtlCol="0" anchor="t">
            <a:spAutoFit/>
          </a:bodyPr>
          <a:lstStyle/>
          <a:p>
            <a:pPr marL="314325" indent="-314325" algn="l">
              <a:lnSpc>
                <a:spcPct val="135000"/>
              </a:lnSpc>
              <a:buClr>
                <a:srgbClr val="2B5187"/>
              </a:buClr>
              <a:buFont typeface="Arial"/>
              <a:buChar char="▪"/>
            </a:pPr>
            <a:r>
              <a:rPr lang="en-US" sz="3000" dirty="0">
                <a:solidFill>
                  <a:srgbClr val="343A40"/>
                </a:solidFill>
                <a:latin typeface="Arial" pitchFamily="34" charset="0"/>
                <a:ea typeface="Arial" pitchFamily="34" charset="-122"/>
                <a:cs typeface="Arial" pitchFamily="34" charset="-120"/>
              </a:rPr>
              <a:t>Attend Thursday's infrastructure hour — OpenINTEL deep-dive + PySpark hands-on (Deck B), Thu Jul 16 · 12:00 PT.</a:t>
            </a:r>
            <a:endParaRPr lang="en-US" sz="1950" dirty="0"/>
          </a:p>
          <a:p>
            <a:pPr marL="314325" indent="-314325" algn="l">
              <a:lnSpc>
                <a:spcPct val="135000"/>
              </a:lnSpc>
              <a:spcBef>
                <a:spcPts val="800"/>
              </a:spcBef>
              <a:buClr>
                <a:srgbClr val="2B5187"/>
              </a:buClr>
              <a:buFont typeface="Arial"/>
              <a:buChar char="▪"/>
            </a:pPr>
            <a:r>
              <a:rPr lang="en-US" sz="3000" dirty="0">
                <a:solidFill>
                  <a:srgbClr val="343A40"/>
                </a:solidFill>
                <a:latin typeface="Arial" pitchFamily="34" charset="0"/>
                <a:ea typeface="Arial" pitchFamily="34" charset="-122"/>
                <a:cs typeface="Arial" pitchFamily="34" charset="-120"/>
              </a:rPr>
              <a:t>Finish notebook Tasks 1–3 and all of Q1–Q18.</a:t>
            </a:r>
            <a:endParaRPr lang="en-US" sz="1950" dirty="0"/>
          </a:p>
          <a:p>
            <a:pPr marL="314325" indent="-314325" algn="l">
              <a:lnSpc>
                <a:spcPct val="135000"/>
              </a:lnSpc>
              <a:spcBef>
                <a:spcPts val="800"/>
              </a:spcBef>
              <a:buClr>
                <a:srgbClr val="2B5187"/>
              </a:buClr>
              <a:buFont typeface="Arial"/>
              <a:buChar char="▪"/>
            </a:pPr>
            <a:r>
              <a:rPr lang="en-US" sz="3000" dirty="0">
                <a:solidFill>
                  <a:srgbClr val="343A40"/>
                </a:solidFill>
                <a:latin typeface="Arial" pitchFamily="34" charset="0"/>
                <a:ea typeface="Arial" pitchFamily="34" charset="-122"/>
                <a:cs typeface="Arial" pitchFamily="34" charset="-120"/>
              </a:rPr>
              <a:t>Prototype on .gov before the weekend; run .se before Week 6.</a:t>
            </a:r>
            <a:endParaRPr lang="en-US" sz="1950" dirty="0"/>
          </a:p>
          <a:p>
            <a:pPr marL="314325" indent="-314325" algn="l">
              <a:lnSpc>
                <a:spcPct val="135000"/>
              </a:lnSpc>
              <a:spcBef>
                <a:spcPts val="800"/>
              </a:spcBef>
              <a:buClr>
                <a:srgbClr val="2B5187"/>
              </a:buClr>
              <a:buFont typeface="Arial"/>
              <a:buChar char="▪"/>
            </a:pPr>
            <a:r>
              <a:rPr lang="en-US" sz="3000" b="1" dirty="0">
                <a:solidFill>
                  <a:srgbClr val="343A40"/>
                </a:solidFill>
                <a:latin typeface="Arial" pitchFamily="34" charset="0"/>
                <a:ea typeface="Arial" pitchFamily="34" charset="-122"/>
                <a:cs typeface="Arial" pitchFamily="34" charset="-120"/>
              </a:rPr>
              <a:t>Push the completed notebook to GitHub</a:t>
            </a:r>
            <a:r>
              <a:rPr lang="en-US" sz="3000" dirty="0">
                <a:solidFill>
                  <a:srgbClr val="343A40"/>
                </a:solidFill>
                <a:latin typeface="Arial" pitchFamily="34" charset="0"/>
                <a:ea typeface="Arial" pitchFamily="34" charset="-122"/>
                <a:cs typeface="Arial" pitchFamily="34" charset="-120"/>
              </a:rPr>
              <a:t>.</a:t>
            </a:r>
            <a:endParaRPr lang="en-US" sz="1950" dirty="0"/>
          </a:p>
          <a:p>
            <a:pPr marL="314325" indent="-314325" algn="l">
              <a:lnSpc>
                <a:spcPct val="135000"/>
              </a:lnSpc>
              <a:spcBef>
                <a:spcPts val="800"/>
              </a:spcBef>
              <a:buClr>
                <a:srgbClr val="2B5187"/>
              </a:buClr>
              <a:buFont typeface="Arial"/>
              <a:buChar char="▪"/>
            </a:pPr>
            <a:r>
              <a:rPr lang="en-US" sz="3000" dirty="0">
                <a:solidFill>
                  <a:srgbClr val="343A40"/>
                </a:solidFill>
                <a:latin typeface="Arial" pitchFamily="34" charset="0"/>
                <a:ea typeface="Arial" pitchFamily="34" charset="-122"/>
                <a:cs typeface="Arial" pitchFamily="34" charset="-120"/>
              </a:rPr>
              <a:t>Recommended reading — see sidebar; one paper is enough.</a:t>
            </a:r>
            <a:endParaRPr lang="en-US" sz="1950" dirty="0"/>
          </a:p>
        </p:txBody>
      </p:sp>
      <p:sp>
        <p:nvSpPr>
          <p:cNvPr id="15" name="Shape 13"/>
          <p:cNvSpPr/>
          <p:nvPr/>
        </p:nvSpPr>
        <p:spPr>
          <a:xfrm>
            <a:off x="12573000" y="2246114"/>
            <a:ext cx="4476750" cy="2936747"/>
          </a:xfrm>
          <a:prstGeom prst="roundRect">
            <a:avLst>
              <a:gd name="adj" fmla="val 4744"/>
            </a:avLst>
          </a:prstGeom>
          <a:solidFill>
            <a:srgbClr val="F8F9FA"/>
          </a:solidFill>
          <a:ln/>
        </p:spPr>
        <p:txBody>
          <a:bodyPr wrap="square" lIns="323850" tIns="323850" rIns="323850" bIns="323850">
            <a:spAutoFit/>
          </a:bodyPr>
          <a:lstStyle/>
          <a:p>
            <a:pPr marL="0" indent="0" algn="l">
              <a:buNone/>
            </a:pPr>
            <a:r>
              <a:rPr lang="en-US" sz="2200" b="1" kern="0" spc="180" dirty="0">
                <a:solidFill>
                  <a:srgbClr val="2B5187"/>
                </a:solidFill>
                <a:latin typeface="Arial" pitchFamily="34" charset="0"/>
                <a:ea typeface="Arial" pitchFamily="34" charset="-122"/>
                <a:cs typeface="Arial" pitchFamily="34" charset="-120"/>
              </a:rPr>
              <a:t>OPTIONAL BACKGROUND</a:t>
            </a:r>
            <a:endParaRPr lang="en-US" sz="1800" dirty="0"/>
          </a:p>
          <a:p>
            <a:pPr marL="0" indent="0" algn="l">
              <a:lnSpc>
                <a:spcPct val="140000"/>
              </a:lnSpc>
              <a:spcBef>
                <a:spcPts val="600"/>
              </a:spcBef>
              <a:buNone/>
            </a:pPr>
            <a:r>
              <a:rPr lang="en-US" sz="2200" dirty="0">
                <a:solidFill>
                  <a:srgbClr val="343A40"/>
                </a:solidFill>
                <a:latin typeface="Arial" pitchFamily="34" charset="0"/>
                <a:ea typeface="Arial" pitchFamily="34" charset="-122"/>
                <a:cs typeface="Arial" pitchFamily="34" charset="-120"/>
              </a:rPr>
              <a:t>RECOMMENDED: the OpenINTEL paper (van Rijswijk-Deij, JSAC 2016) — the week's dataset.</a:t>
            </a:r>
            <a:endParaRPr lang="en-US" sz="1800" dirty="0"/>
          </a:p>
        </p:txBody>
      </p:sp>
      <p:sp>
        <p:nvSpPr>
          <p:cNvPr id="18" name="Shape 16"/>
          <p:cNvSpPr/>
          <p:nvPr/>
        </p:nvSpPr>
        <p:spPr>
          <a:xfrm>
            <a:off x="12573000" y="5309354"/>
            <a:ext cx="4476750" cy="1097280"/>
          </a:xfrm>
          <a:prstGeom prst="roundRect">
            <a:avLst>
              <a:gd name="adj" fmla="val 7692"/>
            </a:avLst>
          </a:prstGeom>
          <a:ln w="6350">
            <a:solidFill>
              <a:srgbClr val="DEE2E6"/>
            </a:solidFill>
            <a:prstDash val="solid"/>
          </a:ln>
        </p:spPr>
        <p:txBody>
          <a:bodyPr/>
          <a:lstStyle/>
          <a:p>
            <a:endParaRPr/>
          </a:p>
        </p:txBody>
      </p:sp>
      <p:sp>
        <p:nvSpPr>
          <p:cNvPr id="19" name="Text 17"/>
          <p:cNvSpPr/>
          <p:nvPr/>
        </p:nvSpPr>
        <p:spPr>
          <a:xfrm>
            <a:off x="12903201" y="5473946"/>
            <a:ext cx="4197985" cy="384048"/>
          </a:xfrm>
          <a:prstGeom prst="rect">
            <a:avLst/>
          </a:prstGeom>
          <a:noFill/>
          <a:ln/>
        </p:spPr>
        <p:txBody>
          <a:bodyPr wrap="square" lIns="25400" tIns="25400" rIns="25400" bIns="25400" rtlCol="0" anchor="t">
            <a:spAutoFit/>
          </a:bodyPr>
          <a:lstStyle/>
          <a:p>
            <a:pPr marL="0" indent="0" algn="l">
              <a:buNone/>
            </a:pPr>
            <a:r>
              <a:rPr lang="en-US" sz="2000" b="1" dirty="0">
                <a:solidFill>
                  <a:srgbClr val="212529"/>
                </a:solidFill>
                <a:latin typeface="Arial" pitchFamily="34" charset="0"/>
                <a:ea typeface="Arial" pitchFamily="34" charset="-122"/>
                <a:cs typeface="Arial" pitchFamily="34" charset="-120"/>
              </a:rPr>
              <a:t>Questions </a:t>
            </a:r>
            <a:r>
              <a:rPr lang="en-US" sz="2000" dirty="0">
                <a:solidFill>
                  <a:srgbClr val="212529"/>
                </a:solidFill>
                <a:latin typeface="Arial" pitchFamily="34" charset="0"/>
                <a:ea typeface="Arial" pitchFamily="34" charset="-122"/>
                <a:cs typeface="Arial" pitchFamily="34" charset="-120"/>
              </a:rPr>
              <a:t>Mattermost (fastest)</a:t>
            </a:r>
            <a:endParaRPr lang="en-US" sz="1800" dirty="0"/>
          </a:p>
        </p:txBody>
      </p:sp>
      <p:sp>
        <p:nvSpPr>
          <p:cNvPr id="20" name="Text 18"/>
          <p:cNvSpPr/>
          <p:nvPr/>
        </p:nvSpPr>
        <p:spPr>
          <a:xfrm>
            <a:off x="12903201" y="5894570"/>
            <a:ext cx="4197985" cy="384048"/>
          </a:xfrm>
          <a:prstGeom prst="rect">
            <a:avLst/>
          </a:prstGeom>
          <a:noFill/>
          <a:ln/>
        </p:spPr>
        <p:txBody>
          <a:bodyPr wrap="square" lIns="25400" tIns="25400" rIns="25400" bIns="25400" rtlCol="0" anchor="t">
            <a:spAutoFit/>
          </a:bodyPr>
          <a:lstStyle/>
          <a:p>
            <a:pPr marL="0" indent="0" algn="l">
              <a:buNone/>
            </a:pPr>
            <a:r>
              <a:rPr lang="en-US" sz="2000" u="sng" dirty="0">
                <a:solidFill>
                  <a:srgbClr val="0000EE"/>
                </a:solidFill>
                <a:latin typeface="Arial" pitchFamily="34" charset="0"/>
                <a:ea typeface="Arial" pitchFamily="34" charset="-122"/>
                <a:cs typeface="Arial" pitchFamily="34" charset="-120"/>
                <a:hlinkClick r:id="rId3"/>
              </a:rPr>
              <a:t>training-program-info@caida.org</a:t>
            </a:r>
            <a:endParaRPr lang="en-US" sz="1800" dirty="0"/>
          </a:p>
        </p:txBody>
      </p:sp>
      <p:sp>
        <p:nvSpPr>
          <p:cNvPr id="21" name="Text 19"/>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212529"/>
        </a:solidFill>
        <a:effectLst/>
      </p:bgPr>
    </p:bg>
    <p:spTree>
      <p:nvGrpSpPr>
        <p:cNvPr id="1" name=""/>
        <p:cNvGrpSpPr/>
        <p:nvPr/>
      </p:nvGrpSpPr>
      <p:grpSpPr>
        <a:xfrm>
          <a:off x="0" y="0"/>
          <a:ext cx="0" cy="0"/>
          <a:chOff x="0" y="0"/>
          <a:chExt cx="0" cy="0"/>
        </a:xfrm>
      </p:grpSpPr>
      <p:sp>
        <p:nvSpPr>
          <p:cNvPr id="2" name="Text 0"/>
          <p:cNvSpPr/>
          <p:nvPr/>
        </p:nvSpPr>
        <p:spPr>
          <a:xfrm>
            <a:off x="1238250" y="2190750"/>
            <a:ext cx="10267950" cy="317500"/>
          </a:xfrm>
          <a:prstGeom prst="rect">
            <a:avLst/>
          </a:prstGeom>
          <a:noFill/>
          <a:ln/>
        </p:spPr>
        <p:txBody>
          <a:bodyPr wrap="square" lIns="25400" tIns="25400" rIns="25400" bIns="25400" rtlCol="0" anchor="t">
            <a:spAutoFit/>
          </a:bodyPr>
          <a:lstStyle/>
          <a:p>
            <a:pPr marL="0" indent="0" algn="l">
              <a:buNone/>
            </a:pPr>
            <a:r>
              <a:rPr lang="en-US" sz="1950" b="1" kern="0" spc="351" dirty="0">
                <a:solidFill>
                  <a:srgbClr val="6C757D"/>
                </a:solidFill>
                <a:latin typeface="Arial" pitchFamily="34" charset="0"/>
                <a:ea typeface="Arial" pitchFamily="34" charset="-122"/>
                <a:cs typeface="Arial" pitchFamily="34" charset="-120"/>
              </a:rPr>
              <a:t>APPENDIX · FOR SELF-STUDY</a:t>
            </a:r>
            <a:endParaRPr lang="en-US" sz="1950" dirty="0"/>
          </a:p>
        </p:txBody>
      </p:sp>
      <p:sp>
        <p:nvSpPr>
          <p:cNvPr id="3" name="Text 1"/>
          <p:cNvSpPr/>
          <p:nvPr/>
        </p:nvSpPr>
        <p:spPr>
          <a:xfrm>
            <a:off x="1238250" y="2565400"/>
            <a:ext cx="10267950" cy="1838325"/>
          </a:xfrm>
          <a:prstGeom prst="rect">
            <a:avLst/>
          </a:prstGeom>
          <a:noFill/>
          <a:ln/>
        </p:spPr>
        <p:txBody>
          <a:bodyPr wrap="square" lIns="25400" tIns="25400" rIns="25400" bIns="25400" rtlCol="0" anchor="t">
            <a:spAutoFit/>
          </a:bodyPr>
          <a:lstStyle/>
          <a:p>
            <a:pPr marL="0" indent="0" algn="l">
              <a:lnSpc>
                <a:spcPct val="90000"/>
              </a:lnSpc>
              <a:buNone/>
            </a:pPr>
            <a:r>
              <a:rPr lang="en-US" sz="15750" kern="0" spc="-315" dirty="0">
                <a:solidFill>
                  <a:srgbClr val="A9C2E4"/>
                </a:solidFill>
                <a:latin typeface="Arial" pitchFamily="34" charset="0"/>
                <a:ea typeface="Arial" pitchFamily="34" charset="-122"/>
                <a:cs typeface="Arial" pitchFamily="34" charset="-120"/>
              </a:rPr>
              <a:t>A</a:t>
            </a:r>
            <a:endParaRPr lang="en-US" sz="15750" dirty="0"/>
          </a:p>
        </p:txBody>
      </p:sp>
      <p:sp>
        <p:nvSpPr>
          <p:cNvPr id="4" name="Text 2"/>
          <p:cNvSpPr/>
          <p:nvPr/>
        </p:nvSpPr>
        <p:spPr>
          <a:xfrm>
            <a:off x="1238250" y="4613275"/>
            <a:ext cx="9614535" cy="1318220"/>
          </a:xfrm>
          <a:prstGeom prst="rect">
            <a:avLst/>
          </a:prstGeom>
          <a:noFill/>
          <a:ln/>
        </p:spPr>
        <p:txBody>
          <a:bodyPr wrap="square" lIns="25400" tIns="25400" rIns="25400" bIns="25400" rtlCol="0" anchor="t">
            <a:spAutoFit/>
          </a:bodyPr>
          <a:lstStyle/>
          <a:p>
            <a:pPr marL="0" indent="0" algn="l">
              <a:lnSpc>
                <a:spcPct val="105000"/>
              </a:lnSpc>
              <a:buNone/>
            </a:pPr>
            <a:r>
              <a:rPr lang="en-US" sz="4800" kern="0" spc="-48" dirty="0">
                <a:solidFill>
                  <a:srgbClr val="FFFFFF"/>
                </a:solidFill>
                <a:latin typeface="Arial" pitchFamily="34" charset="0"/>
                <a:ea typeface="Arial" pitchFamily="34" charset="-122"/>
                <a:cs typeface="Arial" pitchFamily="34" charset="-120"/>
              </a:rPr>
              <a:t>Appendix — self-study</a:t>
            </a:r>
            <a:endParaRPr lang="en-US" sz="4800" dirty="0"/>
          </a:p>
        </p:txBody>
      </p:sp>
      <p:sp>
        <p:nvSpPr>
          <p:cNvPr id="5" name="Text 3"/>
          <p:cNvSpPr/>
          <p:nvPr/>
        </p:nvSpPr>
        <p:spPr>
          <a:xfrm>
            <a:off x="1238250" y="6121996"/>
            <a:ext cx="9614535" cy="654988"/>
          </a:xfrm>
          <a:prstGeom prst="rect">
            <a:avLst/>
          </a:prstGeom>
          <a:noFill/>
          <a:ln/>
        </p:spPr>
        <p:txBody>
          <a:bodyPr wrap="square" lIns="25400" tIns="25400" rIns="25400" bIns="25400" rtlCol="0" anchor="t">
            <a:spAutoFit/>
          </a:bodyPr>
          <a:lstStyle/>
          <a:p>
            <a:pPr marL="0" indent="0" algn="l">
              <a:lnSpc>
                <a:spcPct val="135000"/>
              </a:lnSpc>
              <a:buNone/>
            </a:pPr>
            <a:r>
              <a:rPr lang="en-US" sz="3200" dirty="0">
                <a:solidFill>
                  <a:srgbClr val="6C757D"/>
                </a:solidFill>
                <a:latin typeface="Arial" pitchFamily="34" charset="0"/>
                <a:ea typeface="Arial" pitchFamily="34" charset="-122"/>
                <a:cs typeface="Arial" pitchFamily="34" charset="-120"/>
              </a:rPr>
              <a:t>Not covered live. The deck stands on its own.</a:t>
            </a:r>
            <a:endParaRPr lang="en-US" sz="3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APPENDIX</a:t>
            </a:r>
            <a:endParaRPr lang="en-US" sz="1950" dirty="0"/>
          </a:p>
        </p:txBody>
      </p:sp>
      <p:sp>
        <p:nvSpPr>
          <p:cNvPr id="3" name="Text 1"/>
          <p:cNvSpPr/>
          <p:nvPr/>
        </p:nvSpPr>
        <p:spPr>
          <a:xfrm>
            <a:off x="1238250" y="1496568"/>
            <a:ext cx="17392650" cy="652264"/>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A1 · DNSSEC algorithm numbers</a:t>
            </a:r>
            <a:endParaRPr lang="en-US" sz="4650" dirty="0"/>
          </a:p>
        </p:txBody>
      </p:sp>
      <p:sp>
        <p:nvSpPr>
          <p:cNvPr id="4" name="Text 2"/>
          <p:cNvSpPr/>
          <p:nvPr/>
        </p:nvSpPr>
        <p:spPr>
          <a:xfrm>
            <a:off x="1476245" y="3494763"/>
            <a:ext cx="13216786" cy="5181355"/>
          </a:xfrm>
          <a:prstGeom prst="rect">
            <a:avLst/>
          </a:prstGeom>
          <a:noFill/>
          <a:ln/>
        </p:spPr>
        <p:txBody>
          <a:bodyPr wrap="square" lIns="25400" tIns="25400" rIns="25400" bIns="25400" rtlCol="0" anchor="t">
            <a:spAutoFit/>
          </a:bodyPr>
          <a:lstStyle/>
          <a:p>
            <a:pPr marL="0" indent="0" algn="l">
              <a:lnSpc>
                <a:spcPct val="145000"/>
              </a:lnSpc>
              <a:buNone/>
            </a:pPr>
            <a:r>
              <a:rPr lang="en-US" sz="3200" dirty="0">
                <a:solidFill>
                  <a:srgbClr val="343A40"/>
                </a:solidFill>
                <a:latin typeface="Arial" pitchFamily="34" charset="0"/>
                <a:ea typeface="Arial" pitchFamily="34" charset="-122"/>
                <a:cs typeface="Arial" pitchFamily="34" charset="-120"/>
              </a:rPr>
              <a:t>Deprecated / legacy: RSA/SHA-1 (</a:t>
            </a:r>
            <a:r>
              <a:rPr lang="en-US" sz="3200" dirty="0">
                <a:solidFill>
                  <a:srgbClr val="343A40"/>
                </a:solidFill>
                <a:latin typeface="Roboto Mono" pitchFamily="34" charset="0"/>
                <a:ea typeface="Arial" pitchFamily="34" charset="-122"/>
                <a:cs typeface="Arial" pitchFamily="34" charset="-120"/>
              </a:rPr>
              <a:t>5</a:t>
            </a:r>
            <a:r>
              <a:rPr lang="en-US" sz="3200" dirty="0">
                <a:solidFill>
                  <a:srgbClr val="343A40"/>
                </a:solidFill>
                <a:latin typeface="Arial" pitchFamily="34" charset="0"/>
                <a:ea typeface="Arial" pitchFamily="34" charset="-122"/>
                <a:cs typeface="Arial" pitchFamily="34" charset="-120"/>
              </a:rPr>
              <a:t>), RSA/SHA-1-NSEC3 (</a:t>
            </a:r>
            <a:r>
              <a:rPr lang="en-US" sz="3200" dirty="0">
                <a:solidFill>
                  <a:srgbClr val="343A40"/>
                </a:solidFill>
                <a:latin typeface="Roboto Mono" pitchFamily="34" charset="0"/>
                <a:ea typeface="Arial" pitchFamily="34" charset="-122"/>
                <a:cs typeface="Arial" pitchFamily="34" charset="-120"/>
              </a:rPr>
              <a:t>7</a:t>
            </a:r>
            <a:r>
              <a:rPr lang="en-US" sz="3200" dirty="0">
                <a:solidFill>
                  <a:srgbClr val="343A40"/>
                </a:solidFill>
                <a:latin typeface="Arial" pitchFamily="34" charset="0"/>
                <a:ea typeface="Arial" pitchFamily="34" charset="-122"/>
                <a:cs typeface="Arial" pitchFamily="34" charset="-120"/>
              </a:rPr>
              <a:t>), RSA/MD5 retired. SHA-1 is no longer considered secure.</a:t>
            </a:r>
            <a:endParaRPr lang="en-US" sz="3200" dirty="0"/>
          </a:p>
          <a:p>
            <a:pPr marL="0" indent="0" algn="l">
              <a:lnSpc>
                <a:spcPct val="145000"/>
              </a:lnSpc>
              <a:spcBef>
                <a:spcPts val="800"/>
              </a:spcBef>
              <a:buNone/>
            </a:pPr>
            <a:r>
              <a:rPr lang="en-US" sz="3200" dirty="0">
                <a:solidFill>
                  <a:srgbClr val="343A40"/>
                </a:solidFill>
                <a:latin typeface="Arial" pitchFamily="34" charset="0"/>
                <a:ea typeface="Arial" pitchFamily="34" charset="-122"/>
                <a:cs typeface="Arial" pitchFamily="34" charset="-120"/>
              </a:rPr>
              <a:t>Current mainstream: RSA/SHA-256 (</a:t>
            </a:r>
            <a:r>
              <a:rPr lang="en-US" sz="3200" dirty="0">
                <a:solidFill>
                  <a:srgbClr val="343A40"/>
                </a:solidFill>
                <a:latin typeface="Roboto Mono" pitchFamily="34" charset="0"/>
                <a:ea typeface="Arial" pitchFamily="34" charset="-122"/>
                <a:cs typeface="Arial" pitchFamily="34" charset="-120"/>
              </a:rPr>
              <a:t>8</a:t>
            </a:r>
            <a:r>
              <a:rPr lang="en-US" sz="3200" dirty="0">
                <a:solidFill>
                  <a:srgbClr val="343A40"/>
                </a:solidFill>
                <a:latin typeface="Arial" pitchFamily="34" charset="0"/>
                <a:ea typeface="Arial" pitchFamily="34" charset="-122"/>
                <a:cs typeface="Arial" pitchFamily="34" charset="-120"/>
              </a:rPr>
              <a:t>), RSA/SHA-512 (</a:t>
            </a:r>
            <a:r>
              <a:rPr lang="en-US" sz="3200" dirty="0">
                <a:solidFill>
                  <a:srgbClr val="343A40"/>
                </a:solidFill>
                <a:latin typeface="Roboto Mono" pitchFamily="34" charset="0"/>
                <a:ea typeface="Arial" pitchFamily="34" charset="-122"/>
                <a:cs typeface="Arial" pitchFamily="34" charset="-120"/>
              </a:rPr>
              <a:t>10</a:t>
            </a:r>
            <a:r>
              <a:rPr lang="en-US" sz="3200" dirty="0">
                <a:solidFill>
                  <a:srgbClr val="343A40"/>
                </a:solidFill>
                <a:latin typeface="Arial" pitchFamily="34" charset="0"/>
                <a:ea typeface="Arial" pitchFamily="34" charset="-122"/>
                <a:cs typeface="Arial" pitchFamily="34" charset="-120"/>
              </a:rPr>
              <a:t>), ECDSA P-256/SHA-256 (</a:t>
            </a:r>
            <a:r>
              <a:rPr lang="en-US" sz="3200" dirty="0">
                <a:solidFill>
                  <a:srgbClr val="343A40"/>
                </a:solidFill>
                <a:latin typeface="Roboto Mono" pitchFamily="34" charset="0"/>
                <a:ea typeface="Arial" pitchFamily="34" charset="-122"/>
                <a:cs typeface="Arial" pitchFamily="34" charset="-120"/>
              </a:rPr>
              <a:t>13</a:t>
            </a:r>
            <a:r>
              <a:rPr lang="en-US" sz="3200" dirty="0">
                <a:solidFill>
                  <a:srgbClr val="343A40"/>
                </a:solidFill>
                <a:latin typeface="Arial" pitchFamily="34" charset="0"/>
                <a:ea typeface="Arial" pitchFamily="34" charset="-122"/>
                <a:cs typeface="Arial" pitchFamily="34" charset="-120"/>
              </a:rPr>
              <a:t>), ECDSA P-384 (</a:t>
            </a:r>
            <a:r>
              <a:rPr lang="en-US" sz="3200" dirty="0">
                <a:solidFill>
                  <a:srgbClr val="343A40"/>
                </a:solidFill>
                <a:latin typeface="Roboto Mono" pitchFamily="34" charset="0"/>
                <a:ea typeface="Arial" pitchFamily="34" charset="-122"/>
                <a:cs typeface="Arial" pitchFamily="34" charset="-120"/>
              </a:rPr>
              <a:t>14</a:t>
            </a:r>
            <a:r>
              <a:rPr lang="en-US" sz="3200" dirty="0">
                <a:solidFill>
                  <a:srgbClr val="343A40"/>
                </a:solidFill>
                <a:latin typeface="Arial" pitchFamily="34" charset="0"/>
                <a:ea typeface="Arial" pitchFamily="34" charset="-122"/>
                <a:cs typeface="Arial" pitchFamily="34" charset="-120"/>
              </a:rPr>
              <a:t>).</a:t>
            </a:r>
            <a:endParaRPr lang="en-US" sz="3200" dirty="0"/>
          </a:p>
          <a:p>
            <a:pPr marL="0" indent="0" algn="l">
              <a:lnSpc>
                <a:spcPct val="145000"/>
              </a:lnSpc>
              <a:spcBef>
                <a:spcPts val="800"/>
              </a:spcBef>
              <a:buNone/>
            </a:pPr>
            <a:r>
              <a:rPr lang="en-US" sz="3200" dirty="0">
                <a:solidFill>
                  <a:srgbClr val="343A40"/>
                </a:solidFill>
                <a:latin typeface="Arial" pitchFamily="34" charset="0"/>
                <a:ea typeface="Arial" pitchFamily="34" charset="-122"/>
                <a:cs typeface="Arial" pitchFamily="34" charset="-120"/>
              </a:rPr>
              <a:t>Growing: Ed25519 (</a:t>
            </a:r>
            <a:r>
              <a:rPr lang="en-US" sz="3200" dirty="0">
                <a:solidFill>
                  <a:srgbClr val="343A40"/>
                </a:solidFill>
                <a:latin typeface="Roboto Mono" pitchFamily="34" charset="0"/>
                <a:ea typeface="Arial" pitchFamily="34" charset="-122"/>
                <a:cs typeface="Arial" pitchFamily="34" charset="-120"/>
              </a:rPr>
              <a:t>15</a:t>
            </a:r>
            <a:r>
              <a:rPr lang="en-US" sz="3200" dirty="0">
                <a:solidFill>
                  <a:srgbClr val="343A40"/>
                </a:solidFill>
                <a:latin typeface="Arial" pitchFamily="34" charset="0"/>
                <a:ea typeface="Arial" pitchFamily="34" charset="-122"/>
                <a:cs typeface="Arial" pitchFamily="34" charset="-120"/>
              </a:rPr>
              <a:t>), Ed448 (</a:t>
            </a:r>
            <a:r>
              <a:rPr lang="en-US" sz="3200" dirty="0">
                <a:solidFill>
                  <a:srgbClr val="343A40"/>
                </a:solidFill>
                <a:latin typeface="Roboto Mono" pitchFamily="34" charset="0"/>
                <a:ea typeface="Arial" pitchFamily="34" charset="-122"/>
                <a:cs typeface="Arial" pitchFamily="34" charset="-120"/>
              </a:rPr>
              <a:t>16</a:t>
            </a:r>
            <a:r>
              <a:rPr lang="en-US" sz="3200" dirty="0">
                <a:solidFill>
                  <a:srgbClr val="343A40"/>
                </a:solidFill>
                <a:latin typeface="Arial" pitchFamily="34" charset="0"/>
                <a:ea typeface="Arial" pitchFamily="34" charset="-122"/>
                <a:cs typeface="Arial" pitchFamily="34" charset="-120"/>
              </a:rPr>
              <a:t>). The DS record references the KSK because the KSK is the zone's trust anchor — the parent vouches for it, and it signs the ZSK set.</a:t>
            </a:r>
            <a:endParaRPr lang="en-US" sz="3200" dirty="0"/>
          </a:p>
        </p:txBody>
      </p:sp>
      <p:sp>
        <p:nvSpPr>
          <p:cNvPr id="9" name="Text 7"/>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APPENDIX</a:t>
            </a:r>
            <a:endParaRPr lang="en-US" sz="1950" dirty="0"/>
          </a:p>
        </p:txBody>
      </p:sp>
      <p:sp>
        <p:nvSpPr>
          <p:cNvPr id="3" name="Text 1"/>
          <p:cNvSpPr/>
          <p:nvPr/>
        </p:nvSpPr>
        <p:spPr>
          <a:xfrm>
            <a:off x="1238250" y="1496568"/>
            <a:ext cx="17392650" cy="652264"/>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A2 · Interception, censorship, and encrypted DNS</a:t>
            </a:r>
            <a:endParaRPr lang="en-US" sz="4650" dirty="0"/>
          </a:p>
        </p:txBody>
      </p:sp>
      <p:sp>
        <p:nvSpPr>
          <p:cNvPr id="4" name="Text 2"/>
          <p:cNvSpPr/>
          <p:nvPr/>
        </p:nvSpPr>
        <p:spPr>
          <a:xfrm>
            <a:off x="1175619" y="4346592"/>
            <a:ext cx="15759570" cy="3039230"/>
          </a:xfrm>
          <a:prstGeom prst="rect">
            <a:avLst/>
          </a:prstGeom>
          <a:noFill/>
          <a:ln/>
        </p:spPr>
        <p:txBody>
          <a:bodyPr wrap="square" lIns="25400" tIns="25400" rIns="25400" bIns="25400" rtlCol="0" anchor="t">
            <a:spAutoFit/>
          </a:bodyPr>
          <a:lstStyle/>
          <a:p>
            <a:pPr marL="0" indent="0" algn="l">
              <a:lnSpc>
                <a:spcPct val="145000"/>
              </a:lnSpc>
              <a:buNone/>
            </a:pPr>
            <a:r>
              <a:rPr lang="en-US" sz="3200" b="1" dirty="0">
                <a:solidFill>
                  <a:srgbClr val="343A40"/>
                </a:solidFill>
                <a:latin typeface="Arial" pitchFamily="34" charset="0"/>
                <a:ea typeface="Arial" pitchFamily="34" charset="-122"/>
                <a:cs typeface="Arial" pitchFamily="34" charset="-120"/>
              </a:rPr>
              <a:t>Where queries are exposed</a:t>
            </a:r>
            <a:r>
              <a:rPr lang="en-US" sz="3200" dirty="0">
                <a:solidFill>
                  <a:srgbClr val="343A40"/>
                </a:solidFill>
                <a:latin typeface="Arial" pitchFamily="34" charset="0"/>
                <a:ea typeface="Arial" pitchFamily="34" charset="-122"/>
                <a:cs typeface="Arial" pitchFamily="34" charset="-120"/>
              </a:rPr>
              <a:t>: on the LAN, at the ISP resolver, and anywhere on-path.</a:t>
            </a:r>
            <a:endParaRPr lang="en-US" sz="3200" dirty="0"/>
          </a:p>
          <a:p>
            <a:pPr marL="0" indent="0" algn="l">
              <a:lnSpc>
                <a:spcPct val="145000"/>
              </a:lnSpc>
              <a:spcBef>
                <a:spcPts val="800"/>
              </a:spcBef>
              <a:buNone/>
            </a:pPr>
            <a:r>
              <a:rPr lang="en-US" sz="3200" b="1" dirty="0">
                <a:solidFill>
                  <a:srgbClr val="343A40"/>
                </a:solidFill>
                <a:latin typeface="Arial" pitchFamily="34" charset="0"/>
                <a:ea typeface="Arial" pitchFamily="34" charset="-122"/>
                <a:cs typeface="Arial" pitchFamily="34" charset="-120"/>
              </a:rPr>
              <a:t>Why</a:t>
            </a:r>
            <a:r>
              <a:rPr lang="en-US" sz="3200" dirty="0">
                <a:solidFill>
                  <a:srgbClr val="343A40"/>
                </a:solidFill>
                <a:latin typeface="Arial" pitchFamily="34" charset="0"/>
                <a:ea typeface="Arial" pitchFamily="34" charset="-122"/>
                <a:cs typeface="Arial" pitchFamily="34" charset="-120"/>
              </a:rPr>
              <a:t>: national censorship, network filtering, and NXDOMAIN-hijacking for ad injection.</a:t>
            </a:r>
            <a:endParaRPr lang="en-US" sz="3200" dirty="0"/>
          </a:p>
          <a:p>
            <a:pPr marL="0" indent="0" algn="l">
              <a:lnSpc>
                <a:spcPct val="145000"/>
              </a:lnSpc>
              <a:spcBef>
                <a:spcPts val="800"/>
              </a:spcBef>
              <a:buNone/>
            </a:pPr>
            <a:r>
              <a:rPr lang="en-US" sz="3200" dirty="0">
                <a:solidFill>
                  <a:srgbClr val="343A40"/>
                </a:solidFill>
                <a:latin typeface="Arial" pitchFamily="34" charset="0"/>
                <a:ea typeface="Arial" pitchFamily="34" charset="-122"/>
                <a:cs typeface="Arial" pitchFamily="34" charset="-120"/>
              </a:rPr>
              <a:t>QNAME minimization limits exposure; DoT/DoH encrypt the query — but </a:t>
            </a:r>
            <a:r>
              <a:rPr lang="en-US" sz="3200" dirty="0">
                <a:solidFill>
                  <a:srgbClr val="343A40"/>
                </a:solidFill>
                <a:latin typeface="Roboto Mono" pitchFamily="34" charset="0"/>
                <a:ea typeface="Arial" pitchFamily="34" charset="-122"/>
                <a:cs typeface="Arial" pitchFamily="34" charset="-120"/>
              </a:rPr>
              <a:t>ECS</a:t>
            </a:r>
            <a:r>
              <a:rPr lang="en-US" sz="3200" dirty="0">
                <a:solidFill>
                  <a:srgbClr val="343A40"/>
                </a:solidFill>
                <a:latin typeface="Arial" pitchFamily="34" charset="0"/>
                <a:ea typeface="Arial" pitchFamily="34" charset="-122"/>
                <a:cs typeface="Arial" pitchFamily="34" charset="-120"/>
              </a:rPr>
              <a:t> still leaks the client subnet.</a:t>
            </a:r>
            <a:endParaRPr lang="en-US" sz="3200" dirty="0"/>
          </a:p>
        </p:txBody>
      </p:sp>
      <p:sp>
        <p:nvSpPr>
          <p:cNvPr id="9" name="Text 7"/>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APPENDIX</a:t>
            </a:r>
            <a:endParaRPr lang="en-US" sz="1950" dirty="0"/>
          </a:p>
        </p:txBody>
      </p:sp>
      <p:sp>
        <p:nvSpPr>
          <p:cNvPr id="3" name="Text 1"/>
          <p:cNvSpPr/>
          <p:nvPr/>
        </p:nvSpPr>
        <p:spPr>
          <a:xfrm>
            <a:off x="1238250" y="1496568"/>
            <a:ext cx="17392650" cy="652264"/>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A3 · How LACeS detects anycast</a:t>
            </a:r>
            <a:endParaRPr lang="en-US" sz="4650" dirty="0"/>
          </a:p>
        </p:txBody>
      </p:sp>
      <p:sp>
        <p:nvSpPr>
          <p:cNvPr id="4" name="Text 2"/>
          <p:cNvSpPr/>
          <p:nvPr/>
        </p:nvSpPr>
        <p:spPr>
          <a:xfrm>
            <a:off x="1390389" y="3645075"/>
            <a:ext cx="15645007" cy="3855864"/>
          </a:xfrm>
          <a:prstGeom prst="rect">
            <a:avLst/>
          </a:prstGeom>
          <a:noFill/>
          <a:ln/>
        </p:spPr>
        <p:txBody>
          <a:bodyPr wrap="square" lIns="25400" tIns="25400" rIns="25400" bIns="25400" rtlCol="0" anchor="t">
            <a:spAutoFit/>
          </a:bodyPr>
          <a:lstStyle/>
          <a:p>
            <a:pPr marL="0" indent="0" algn="l">
              <a:lnSpc>
                <a:spcPct val="145000"/>
              </a:lnSpc>
              <a:buNone/>
            </a:pPr>
            <a:r>
              <a:rPr lang="en-US" sz="3200" dirty="0">
                <a:solidFill>
                  <a:srgbClr val="343A40"/>
                </a:solidFill>
                <a:latin typeface="Arial" pitchFamily="34" charset="0"/>
                <a:ea typeface="Arial" pitchFamily="34" charset="-122"/>
                <a:cs typeface="Arial" pitchFamily="34" charset="-120"/>
              </a:rPr>
              <a:t>AB (iGreedy-style): send ICMP from many vantage points; </a:t>
            </a:r>
          </a:p>
          <a:p>
            <a:pPr marL="0" indent="0" algn="l">
              <a:lnSpc>
                <a:spcPct val="145000"/>
              </a:lnSpc>
              <a:buNone/>
            </a:pPr>
            <a:r>
              <a:rPr lang="en-US" sz="3200" dirty="0">
                <a:solidFill>
                  <a:srgbClr val="343A40"/>
                </a:solidFill>
                <a:latin typeface="Arial" pitchFamily="34" charset="0"/>
                <a:ea typeface="Arial" pitchFamily="34" charset="-122"/>
                <a:cs typeface="Arial" pitchFamily="34" charset="-120"/>
              </a:rPr>
              <a:t>	latencies impossible (v. speed of light) for one location mean anycast (</a:t>
            </a:r>
            <a:r>
              <a:rPr lang="en-US" sz="3200" dirty="0">
                <a:solidFill>
                  <a:srgbClr val="343A40"/>
                </a:solidFill>
                <a:latin typeface="Roboto Mono" pitchFamily="34" charset="0"/>
                <a:ea typeface="Arial" pitchFamily="34" charset="-122"/>
                <a:cs typeface="Arial" pitchFamily="34" charset="-120"/>
              </a:rPr>
              <a:t>AB&gt;3</a:t>
            </a:r>
            <a:r>
              <a:rPr lang="en-US" sz="3200" dirty="0">
                <a:solidFill>
                  <a:srgbClr val="343A40"/>
                </a:solidFill>
                <a:latin typeface="Arial" pitchFamily="34" charset="0"/>
                <a:ea typeface="Arial" pitchFamily="34" charset="-122"/>
                <a:cs typeface="Arial" pitchFamily="34" charset="-120"/>
              </a:rPr>
              <a:t>).</a:t>
            </a:r>
            <a:endParaRPr lang="en-US" sz="3200" dirty="0"/>
          </a:p>
          <a:p>
            <a:pPr marL="0" indent="0" algn="l">
              <a:lnSpc>
                <a:spcPct val="145000"/>
              </a:lnSpc>
              <a:spcBef>
                <a:spcPts val="800"/>
              </a:spcBef>
              <a:buNone/>
            </a:pPr>
            <a:r>
              <a:rPr lang="en-US" sz="3200" dirty="0">
                <a:solidFill>
                  <a:srgbClr val="343A40"/>
                </a:solidFill>
                <a:latin typeface="Arial" pitchFamily="34" charset="0"/>
                <a:ea typeface="Arial" pitchFamily="34" charset="-122"/>
                <a:cs typeface="Arial" pitchFamily="34" charset="-120"/>
              </a:rPr>
              <a:t>GCD: use speed-of-light latency geometry to place instances</a:t>
            </a:r>
          </a:p>
          <a:p>
            <a:pPr marL="0" indent="0" algn="l">
              <a:lnSpc>
                <a:spcPct val="145000"/>
              </a:lnSpc>
              <a:spcBef>
                <a:spcPts val="800"/>
              </a:spcBef>
              <a:buNone/>
            </a:pPr>
            <a:r>
              <a:rPr lang="en-US" sz="3200" dirty="0">
                <a:solidFill>
                  <a:srgbClr val="343A40"/>
                </a:solidFill>
                <a:latin typeface="Arial" pitchFamily="34" charset="0"/>
                <a:ea typeface="Arial" pitchFamily="34" charset="-122"/>
                <a:cs typeface="Arial" pitchFamily="34" charset="-120"/>
              </a:rPr>
              <a:t>	a second independent signal (</a:t>
            </a:r>
            <a:r>
              <a:rPr lang="en-US" sz="3200" dirty="0">
                <a:solidFill>
                  <a:srgbClr val="343A40"/>
                </a:solidFill>
                <a:latin typeface="Roboto Mono" pitchFamily="34" charset="0"/>
                <a:ea typeface="Arial" pitchFamily="34" charset="-122"/>
                <a:cs typeface="Arial" pitchFamily="34" charset="-120"/>
              </a:rPr>
              <a:t>GCD&gt;1</a:t>
            </a:r>
            <a:r>
              <a:rPr lang="en-US" sz="3200" dirty="0">
                <a:solidFill>
                  <a:srgbClr val="343A40"/>
                </a:solidFill>
                <a:latin typeface="Arial" pitchFamily="34" charset="0"/>
                <a:ea typeface="Arial" pitchFamily="34" charset="-122"/>
                <a:cs typeface="Arial" pitchFamily="34" charset="-120"/>
              </a:rPr>
              <a:t>).</a:t>
            </a:r>
            <a:endParaRPr lang="en-US" sz="3200" dirty="0"/>
          </a:p>
          <a:p>
            <a:pPr marL="0" indent="0" algn="l">
              <a:lnSpc>
                <a:spcPct val="145000"/>
              </a:lnSpc>
              <a:spcBef>
                <a:spcPts val="800"/>
              </a:spcBef>
              <a:buNone/>
            </a:pPr>
            <a:r>
              <a:rPr lang="en-US" sz="3200" dirty="0">
                <a:solidFill>
                  <a:srgbClr val="343A40"/>
                </a:solidFill>
                <a:latin typeface="Arial" pitchFamily="34" charset="0"/>
                <a:ea typeface="Arial" pitchFamily="34" charset="-122"/>
                <a:cs typeface="Arial" pitchFamily="34" charset="-120"/>
              </a:rPr>
              <a:t>Filter </a:t>
            </a:r>
            <a:r>
              <a:rPr lang="en-US" sz="3200" dirty="0">
                <a:solidFill>
                  <a:srgbClr val="343A40"/>
                </a:solidFill>
                <a:latin typeface="Roboto Mono" pitchFamily="34" charset="0"/>
                <a:ea typeface="Arial" pitchFamily="34" charset="-122"/>
                <a:cs typeface="Arial" pitchFamily="34" charset="-120"/>
              </a:rPr>
              <a:t>(AB&gt;3)|(GCD&gt;1)</a:t>
            </a:r>
            <a:r>
              <a:rPr lang="en-US" sz="3200" dirty="0">
                <a:solidFill>
                  <a:srgbClr val="343A40"/>
                </a:solidFill>
                <a:latin typeface="Arial" pitchFamily="34" charset="0"/>
                <a:ea typeface="Arial" pitchFamily="34" charset="-122"/>
                <a:cs typeface="Arial" pitchFamily="34" charset="-120"/>
              </a:rPr>
              <a:t> trades precision for recall; granularity is the /24.</a:t>
            </a:r>
            <a:endParaRPr lang="en-US" sz="3200" dirty="0"/>
          </a:p>
        </p:txBody>
      </p:sp>
      <p:sp>
        <p:nvSpPr>
          <p:cNvPr id="9" name="Text 7"/>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238250" y="838200"/>
            <a:ext cx="10652760" cy="603504"/>
          </a:xfrm>
          <a:prstGeom prst="rect">
            <a:avLst/>
          </a:prstGeom>
          <a:noFill/>
          <a:ln/>
        </p:spPr>
        <p:txBody>
          <a:bodyPr wrap="square" lIns="25400" tIns="25400" rIns="25400" bIns="25400" rtlCol="0" anchor="t">
            <a:noAutofit/>
          </a:bodyPr>
          <a:lstStyle/>
          <a:p>
            <a:pPr marL="0" indent="0" algn="l">
              <a:buNone/>
            </a:pPr>
            <a:r>
              <a:rPr lang="en-US" sz="1950" b="1" kern="0" spc="273" dirty="0">
                <a:solidFill>
                  <a:srgbClr val="A9C2E4"/>
                </a:solidFill>
                <a:latin typeface="Arial" pitchFamily="34" charset="0"/>
                <a:ea typeface="Arial" pitchFamily="34" charset="-122"/>
                <a:cs typeface="Arial" pitchFamily="34" charset="-120"/>
              </a:rPr>
              <a:t>APPENDIX · GLOSSARY</a:t>
            </a:r>
            <a:endParaRPr lang="en-US" sz="1950" dirty="0"/>
          </a:p>
        </p:txBody>
      </p:sp>
      <p:sp>
        <p:nvSpPr>
          <p:cNvPr id="3" name="Text 1"/>
          <p:cNvSpPr/>
          <p:nvPr/>
        </p:nvSpPr>
        <p:spPr>
          <a:xfrm>
            <a:off x="1238250" y="1496568"/>
            <a:ext cx="17392650" cy="652264"/>
          </a:xfrm>
          <a:prstGeom prst="rect">
            <a:avLst/>
          </a:prstGeom>
          <a:noFill/>
          <a:ln/>
        </p:spPr>
        <p:txBody>
          <a:bodyPr wrap="square" lIns="25400" tIns="25400" rIns="25400" bIns="25400" rtlCol="0" anchor="t">
            <a:spAutoFit/>
          </a:bodyPr>
          <a:lstStyle/>
          <a:p>
            <a:pPr marL="0" indent="0" algn="l">
              <a:lnSpc>
                <a:spcPct val="104000"/>
              </a:lnSpc>
              <a:buNone/>
            </a:pPr>
            <a:r>
              <a:rPr lang="en-US" sz="4650" kern="0" spc="-46" dirty="0">
                <a:solidFill>
                  <a:srgbClr val="2B5187"/>
                </a:solidFill>
                <a:latin typeface="Arial" pitchFamily="34" charset="0"/>
                <a:ea typeface="Arial" pitchFamily="34" charset="-122"/>
                <a:cs typeface="Arial" pitchFamily="34" charset="-120"/>
              </a:rPr>
              <a:t>Advanced terms and acronyms</a:t>
            </a:r>
            <a:endParaRPr lang="en-US" sz="4650" dirty="0"/>
          </a:p>
        </p:txBody>
      </p:sp>
      <p:sp>
        <p:nvSpPr>
          <p:cNvPr id="4" name="Text 2"/>
          <p:cNvSpPr/>
          <p:nvPr/>
        </p:nvSpPr>
        <p:spPr>
          <a:xfrm>
            <a:off x="1238250" y="2313424"/>
            <a:ext cx="17392650" cy="420624"/>
          </a:xfrm>
          <a:prstGeom prst="rect">
            <a:avLst/>
          </a:prstGeom>
          <a:noFill/>
          <a:ln/>
        </p:spPr>
        <p:txBody>
          <a:bodyPr wrap="square" lIns="25400" tIns="25400" rIns="25400" bIns="25400" rtlCol="0" anchor="t">
            <a:spAutoFit/>
          </a:bodyPr>
          <a:lstStyle/>
          <a:p>
            <a:pPr marL="0" indent="0" algn="l">
              <a:buNone/>
            </a:pPr>
            <a:r>
              <a:rPr lang="en-US" sz="2400" dirty="0">
                <a:solidFill>
                  <a:srgbClr val="6C757D"/>
                </a:solidFill>
                <a:latin typeface="Arial" pitchFamily="34" charset="0"/>
                <a:ea typeface="Arial" pitchFamily="34" charset="-122"/>
                <a:cs typeface="Arial" pitchFamily="34" charset="-120"/>
              </a:rPr>
              <a:t>Advanced, program- or platform-specific terms only — alphabetical.</a:t>
            </a:r>
            <a:endParaRPr lang="en-US" sz="1950" dirty="0"/>
          </a:p>
        </p:txBody>
      </p:sp>
      <p:sp>
        <p:nvSpPr>
          <p:cNvPr id="17" name="Text 15"/>
          <p:cNvSpPr/>
          <p:nvPr/>
        </p:nvSpPr>
        <p:spPr>
          <a:xfrm>
            <a:off x="1238250" y="9594850"/>
            <a:ext cx="4947126" cy="311150"/>
          </a:xfrm>
          <a:prstGeom prst="rect">
            <a:avLst/>
          </a:prstGeom>
          <a:noFill/>
          <a:ln/>
        </p:spPr>
        <p:txBody>
          <a:bodyPr wrap="square" lIns="25400" tIns="25400" rIns="25400" bIns="25400" rtlCol="0" anchor="t">
            <a:spAutoFit/>
          </a:bodyPr>
          <a:lstStyle/>
          <a:p>
            <a:pPr marL="0" indent="0" algn="l">
              <a:buNone/>
            </a:pPr>
            <a:r>
              <a:rPr lang="en-US" sz="1800" dirty="0">
                <a:solidFill>
                  <a:srgbClr val="6C757D"/>
                </a:solidFill>
                <a:latin typeface="Arial" pitchFamily="34" charset="0"/>
                <a:ea typeface="Arial" pitchFamily="34" charset="-122"/>
                <a:cs typeface="Arial" pitchFamily="34" charset="-120"/>
              </a:rPr>
              <a:t>ESCALATE Training Program · Summer 2026</a:t>
            </a:r>
            <a:endParaRPr lang="en-US" sz="1800" dirty="0"/>
          </a:p>
        </p:txBody>
      </p:sp>
      <p:sp>
        <p:nvSpPr>
          <p:cNvPr id="18" name="Glossary list"/>
          <p:cNvSpPr txBox="1"/>
          <p:nvPr/>
        </p:nvSpPr>
        <p:spPr>
          <a:xfrm>
            <a:off x="1238250" y="2898640"/>
            <a:ext cx="15819120" cy="6080760"/>
          </a:xfrm>
          <a:prstGeom prst="rect">
            <a:avLst/>
          </a:prstGeom>
          <a:noFill/>
        </p:spPr>
        <p:txBody>
          <a:bodyPr wrap="square" numCol="2" spcCol="502920" anchor="t">
            <a:noAutofit/>
          </a:bodyPr>
          <a:lstStyle/>
          <a:p>
            <a:pPr>
              <a:spcAft>
                <a:spcPts val="700"/>
              </a:spcAft>
            </a:pPr>
            <a:r>
              <a:rPr sz="2400" b="1">
                <a:solidFill>
                  <a:srgbClr val="2B5187"/>
                </a:solidFill>
                <a:latin typeface="Arial"/>
              </a:rPr>
              <a:t>CAA  </a:t>
            </a:r>
            <a:r>
              <a:rPr sz="2000">
                <a:solidFill>
                  <a:srgbClr val="343A40"/>
                </a:solidFill>
                <a:latin typeface="Arial"/>
              </a:rPr>
              <a:t>DNS record naming which certificate authorities may issue for a domain.</a:t>
            </a:r>
          </a:p>
          <a:p>
            <a:pPr>
              <a:spcAft>
                <a:spcPts val="700"/>
              </a:spcAft>
            </a:pPr>
            <a:r>
              <a:rPr sz="2400" b="1">
                <a:solidFill>
                  <a:srgbClr val="2B5187"/>
                </a:solidFill>
                <a:latin typeface="Arial"/>
              </a:rPr>
              <a:t>CCDF  </a:t>
            </a:r>
            <a:r>
              <a:rPr sz="2000">
                <a:solidFill>
                  <a:srgbClr val="343A40"/>
                </a:solidFill>
                <a:latin typeface="Arial"/>
              </a:rPr>
              <a:t>Complementary CDF — the tail view used for skewed provider/count distributions.</a:t>
            </a:r>
          </a:p>
          <a:p>
            <a:pPr>
              <a:spcAft>
                <a:spcPts val="700"/>
              </a:spcAft>
            </a:pPr>
            <a:r>
              <a:rPr sz="2400" b="1">
                <a:solidFill>
                  <a:srgbClr val="2B5187"/>
                </a:solidFill>
                <a:latin typeface="Arial"/>
              </a:rPr>
              <a:t>CZDS  </a:t>
            </a:r>
            <a:r>
              <a:rPr sz="2000">
                <a:solidFill>
                  <a:srgbClr val="343A40"/>
                </a:solidFill>
                <a:latin typeface="Arial"/>
              </a:rPr>
              <a:t>ICANN Centralized Zone Data Service — access to TLD zone files.</a:t>
            </a:r>
          </a:p>
          <a:p>
            <a:pPr>
              <a:spcAft>
                <a:spcPts val="700"/>
              </a:spcAft>
            </a:pPr>
            <a:r>
              <a:rPr sz="2400" b="1">
                <a:solidFill>
                  <a:srgbClr val="2B5187"/>
                </a:solidFill>
                <a:latin typeface="Arial"/>
              </a:rPr>
              <a:t>DNSKEY  </a:t>
            </a:r>
            <a:r>
              <a:rPr sz="2000">
                <a:solidFill>
                  <a:srgbClr val="343A40"/>
                </a:solidFill>
                <a:latin typeface="Arial"/>
              </a:rPr>
              <a:t>The public key a zone publishes for DNSSEC validation.</a:t>
            </a:r>
          </a:p>
          <a:p>
            <a:pPr>
              <a:spcAft>
                <a:spcPts val="700"/>
              </a:spcAft>
            </a:pPr>
            <a:r>
              <a:rPr sz="2400" b="1">
                <a:solidFill>
                  <a:srgbClr val="2B5187"/>
                </a:solidFill>
                <a:latin typeface="Arial"/>
              </a:rPr>
              <a:t>DS record  </a:t>
            </a:r>
            <a:r>
              <a:rPr sz="2000">
                <a:solidFill>
                  <a:srgbClr val="343A40"/>
                </a:solidFill>
                <a:latin typeface="Arial"/>
              </a:rPr>
              <a:t>Delegation Signer — the parent's hash of the child KSK, the chain-of-trust link.</a:t>
            </a:r>
          </a:p>
          <a:p>
            <a:pPr>
              <a:spcAft>
                <a:spcPts val="700"/>
              </a:spcAft>
            </a:pPr>
            <a:r>
              <a:rPr sz="2400" b="1">
                <a:solidFill>
                  <a:srgbClr val="2B5187"/>
                </a:solidFill>
                <a:latin typeface="Arial"/>
              </a:rPr>
              <a:t>EPP  </a:t>
            </a:r>
            <a:r>
              <a:rPr sz="2000">
                <a:solidFill>
                  <a:srgbClr val="343A40"/>
                </a:solidFill>
                <a:latin typeface="Arial"/>
              </a:rPr>
              <a:t>Extensible Provisioning Protocol — how registrars manage domains at a registry.</a:t>
            </a:r>
          </a:p>
          <a:p>
            <a:pPr>
              <a:spcAft>
                <a:spcPts val="700"/>
              </a:spcAft>
            </a:pPr>
            <a:r>
              <a:rPr sz="2400" b="1">
                <a:solidFill>
                  <a:srgbClr val="2B5187"/>
                </a:solidFill>
                <a:latin typeface="Arial"/>
              </a:rPr>
              <a:t>HHI  </a:t>
            </a:r>
            <a:r>
              <a:rPr sz="2000">
                <a:solidFill>
                  <a:srgbClr val="343A40"/>
                </a:solidFill>
                <a:latin typeface="Arial"/>
              </a:rPr>
              <a:t>Herfindahl–Hirschman Index — sum of squared market shares; a concentration metric.</a:t>
            </a:r>
          </a:p>
          <a:p>
            <a:pPr>
              <a:spcAft>
                <a:spcPts val="700"/>
              </a:spcAft>
            </a:pPr>
            <a:r>
              <a:rPr sz="2400" b="1">
                <a:solidFill>
                  <a:srgbClr val="2B5187"/>
                </a:solidFill>
                <a:latin typeface="Arial"/>
              </a:rPr>
              <a:t>KSK / ZSK  </a:t>
            </a:r>
            <a:r>
              <a:rPr sz="2000">
                <a:solidFill>
                  <a:srgbClr val="343A40"/>
                </a:solidFill>
                <a:latin typeface="Arial"/>
              </a:rPr>
              <a:t>Key-signing key (anchored by the DS) vs zone-signing key (signs records).</a:t>
            </a:r>
          </a:p>
          <a:p>
            <a:pPr>
              <a:spcAft>
                <a:spcPts val="700"/>
              </a:spcAft>
            </a:pPr>
            <a:r>
              <a:rPr sz="2400" b="1">
                <a:solidFill>
                  <a:srgbClr val="2B5187"/>
                </a:solidFill>
                <a:latin typeface="Arial"/>
              </a:rPr>
              <a:t>LACeS  </a:t>
            </a:r>
            <a:r>
              <a:rPr sz="2000">
                <a:solidFill>
                  <a:srgbClr val="343A40"/>
                </a:solidFill>
                <a:latin typeface="Arial"/>
              </a:rPr>
              <a:t>Daily census of anycast /24s (manycast.net) used for anycast detection.</a:t>
            </a:r>
          </a:p>
          <a:p>
            <a:pPr>
              <a:spcAft>
                <a:spcPts val="700"/>
              </a:spcAft>
            </a:pPr>
            <a:r>
              <a:rPr sz="2400" b="1">
                <a:solidFill>
                  <a:srgbClr val="2B5187"/>
                </a:solidFill>
                <a:latin typeface="Arial"/>
              </a:rPr>
              <a:t>lame delegation  </a:t>
            </a:r>
            <a:r>
              <a:rPr sz="2000">
                <a:solidFill>
                  <a:srgbClr val="343A40"/>
                </a:solidFill>
                <a:latin typeface="Arial"/>
              </a:rPr>
              <a:t>An NS listed at the parent that does not answer authoritatively for the zone.</a:t>
            </a:r>
          </a:p>
          <a:p>
            <a:pPr>
              <a:spcAft>
                <a:spcPts val="700"/>
              </a:spcAft>
            </a:pPr>
            <a:r>
              <a:rPr sz="2400" b="1">
                <a:solidFill>
                  <a:srgbClr val="2B5187"/>
                </a:solidFill>
                <a:latin typeface="Arial"/>
              </a:rPr>
              <a:t>OpenINTEL  </a:t>
            </a:r>
            <a:r>
              <a:rPr sz="2000">
                <a:solidFill>
                  <a:srgbClr val="343A40"/>
                </a:solidFill>
                <a:latin typeface="Arial"/>
              </a:rPr>
              <a:t>Daily large-scale active DNS measurement; the week's primary dataset.</a:t>
            </a:r>
          </a:p>
          <a:p>
            <a:pPr>
              <a:spcAft>
                <a:spcPts val="700"/>
              </a:spcAft>
            </a:pPr>
            <a:r>
              <a:rPr sz="2400" b="1">
                <a:solidFill>
                  <a:srgbClr val="2B5187"/>
                </a:solidFill>
                <a:latin typeface="Arial"/>
              </a:rPr>
              <a:t>orphaned key  </a:t>
            </a:r>
            <a:r>
              <a:rPr sz="2000">
                <a:solidFill>
                  <a:srgbClr val="343A40"/>
                </a:solidFill>
                <a:latin typeface="Arial"/>
              </a:rPr>
              <a:t>A DNSKEY with no matching DS at the parent — published but untrusted.</a:t>
            </a:r>
          </a:p>
          <a:p>
            <a:pPr>
              <a:spcAft>
                <a:spcPts val="700"/>
              </a:spcAft>
            </a:pPr>
            <a:r>
              <a:rPr sz="2400" b="1">
                <a:solidFill>
                  <a:srgbClr val="2B5187"/>
                </a:solidFill>
                <a:latin typeface="Arial"/>
              </a:rPr>
              <a:t>public suffix  </a:t>
            </a:r>
            <a:r>
              <a:rPr sz="2000">
                <a:solidFill>
                  <a:srgbClr val="343A40"/>
                </a:solidFill>
                <a:latin typeface="Arial"/>
              </a:rPr>
              <a:t>A label under which registrations happen (com, co.uk); the tldextract boundary.</a:t>
            </a:r>
          </a:p>
          <a:p>
            <a:pPr>
              <a:spcAft>
                <a:spcPts val="700"/>
              </a:spcAft>
            </a:pPr>
            <a:r>
              <a:rPr sz="2400" b="1">
                <a:solidFill>
                  <a:srgbClr val="2B5187"/>
                </a:solidFill>
                <a:latin typeface="Arial"/>
              </a:rPr>
              <a:t>registrable domain  </a:t>
            </a:r>
            <a:r>
              <a:rPr sz="2000">
                <a:solidFill>
                  <a:srgbClr val="343A40"/>
                </a:solidFill>
                <a:latin typeface="Arial"/>
              </a:rPr>
              <a:t>The public suffix plus one label — the unit of provider attribution.</a:t>
            </a:r>
          </a:p>
          <a:p>
            <a:pPr>
              <a:spcAft>
                <a:spcPts val="700"/>
              </a:spcAft>
            </a:pPr>
            <a:r>
              <a:rPr sz="2400" b="1">
                <a:solidFill>
                  <a:srgbClr val="2B5187"/>
                </a:solidFill>
                <a:latin typeface="Arial"/>
              </a:rPr>
              <a:t>SOA expire / minimum  </a:t>
            </a:r>
            <a:r>
              <a:rPr sz="2000">
                <a:solidFill>
                  <a:srgbClr val="343A40"/>
                </a:solidFill>
                <a:latin typeface="Arial"/>
              </a:rPr>
              <a:t>Zone-timing knobs controlling secondary lifetime and negative-cache TTL.</a:t>
            </a:r>
          </a:p>
          <a:p>
            <a:pPr>
              <a:spcAft>
                <a:spcPts val="700"/>
              </a:spcAft>
            </a:pPr>
            <a:r>
              <a:rPr sz="2400" b="1">
                <a:solidFill>
                  <a:srgbClr val="2B5187"/>
                </a:solidFill>
                <a:latin typeface="Arial"/>
              </a:rPr>
              <a:t>SPF qualifier  </a:t>
            </a:r>
            <a:r>
              <a:rPr sz="2000">
                <a:solidFill>
                  <a:srgbClr val="343A40"/>
                </a:solidFill>
                <a:latin typeface="Arial"/>
              </a:rPr>
              <a:t>The trailing token (-all/~all/?all/+all) that sets the mail-authorization policy.</a:t>
            </a:r>
          </a:p>
          <a:p>
            <a:pPr>
              <a:spcAft>
                <a:spcPts val="700"/>
              </a:spcAft>
            </a:pPr>
            <a:r>
              <a:rPr sz="2400" b="1">
                <a:solidFill>
                  <a:srgbClr val="2B5187"/>
                </a:solidFill>
                <a:latin typeface="Arial"/>
              </a:rPr>
              <a:t>zone file  </a:t>
            </a:r>
            <a:r>
              <a:rPr sz="2000">
                <a:solidFill>
                  <a:srgbClr val="343A40"/>
                </a:solidFill>
                <a:latin typeface="Arial"/>
              </a:rPr>
              <a:t>The registry's authoritative list of a TLD's delegations; the measurement seed.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2355</TotalTime>
  <Words>5403</Words>
  <Application>Microsoft Macintosh PowerPoint</Application>
  <PresentationFormat>Custom</PresentationFormat>
  <Paragraphs>368</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Roboto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kc claffy</cp:lastModifiedBy>
  <cp:revision>3</cp:revision>
  <dcterms:created xsi:type="dcterms:W3CDTF">2026-06-21T00:44:42Z</dcterms:created>
  <dcterms:modified xsi:type="dcterms:W3CDTF">2026-07-14T21:57:29Z</dcterms:modified>
</cp:coreProperties>
</file>